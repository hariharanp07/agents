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embeddedFontLst>
    <p:embeddedFont>
      <p:font typeface="Roboto Slab"/>
      <p:regular r:id="rId25"/>
      <p:bold r:id="rId26"/>
    </p:embeddedFont>
    <p:embeddedFont>
      <p:font typeface="Montserrat SemiBold"/>
      <p:regular r:id="rId27"/>
      <p:bold r:id="rId28"/>
      <p:italic r:id="rId29"/>
      <p:boldItalic r:id="rId30"/>
    </p:embeddedFont>
    <p:embeddedFont>
      <p:font typeface="Montserrat"/>
      <p:regular r:id="rId31"/>
      <p:bold r:id="rId32"/>
      <p:italic r:id="rId33"/>
      <p:boldItalic r:id="rId34"/>
    </p:embeddedFon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MontserratSemiBold-bold.fntdata"/><Relationship Id="rId27" Type="http://schemas.openxmlformats.org/officeDocument/2006/relationships/font" Target="fonts/MontserratSemiBold-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Semi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regular.fntdata"/><Relationship Id="rId30" Type="http://schemas.openxmlformats.org/officeDocument/2006/relationships/font" Target="fonts/MontserratSemiBold-boldItalic.fntdata"/><Relationship Id="rId11" Type="http://schemas.openxmlformats.org/officeDocument/2006/relationships/slide" Target="slides/slide7.xml"/><Relationship Id="rId33" Type="http://schemas.openxmlformats.org/officeDocument/2006/relationships/font" Target="fonts/Montserrat-italic.fntdata"/><Relationship Id="rId10" Type="http://schemas.openxmlformats.org/officeDocument/2006/relationships/slide" Target="slides/slide6.xml"/><Relationship Id="rId32" Type="http://schemas.openxmlformats.org/officeDocument/2006/relationships/font" Target="fonts/Montserrat-bold.fntdata"/><Relationship Id="rId13" Type="http://schemas.openxmlformats.org/officeDocument/2006/relationships/slide" Target="slides/slide9.xml"/><Relationship Id="rId35" Type="http://schemas.openxmlformats.org/officeDocument/2006/relationships/font" Target="fonts/RobotoMono-regular.fntdata"/><Relationship Id="rId12" Type="http://schemas.openxmlformats.org/officeDocument/2006/relationships/slide" Target="slides/slide8.xml"/><Relationship Id="rId34" Type="http://schemas.openxmlformats.org/officeDocument/2006/relationships/font" Target="fonts/Montserrat-boldItalic.fntdata"/><Relationship Id="rId15" Type="http://schemas.openxmlformats.org/officeDocument/2006/relationships/slide" Target="slides/slide11.xml"/><Relationship Id="rId37" Type="http://schemas.openxmlformats.org/officeDocument/2006/relationships/font" Target="fonts/RobotoMono-italic.fntdata"/><Relationship Id="rId14" Type="http://schemas.openxmlformats.org/officeDocument/2006/relationships/slide" Target="slides/slide10.xml"/><Relationship Id="rId36" Type="http://schemas.openxmlformats.org/officeDocument/2006/relationships/font" Target="fonts/RobotoMono-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RobotoMono-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dfcf15e6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edfcf15e6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edfcf15e6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w6d1_spectrum: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w6d1_spectrum: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w6d1_spectrum: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w6d1_casdk: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w6d1_casdk: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w6d1_casdk: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w6d1_param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4" name="Google Shape;484;w6d1_params: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w6d1_params: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w6d1_stdiocmd: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3" name="Google Shape;503;w6d1_stdiocmd: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w6d1_stdiocmd: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w6d1outro: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6" name="Google Shape;596;w6d1outro: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w6d1outro: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 name="Shape 15"/>
        <p:cNvGrpSpPr/>
        <p:nvPr/>
      </p:nvGrpSpPr>
      <p:grpSpPr>
        <a:xfrm>
          <a:off x="0" y="0"/>
          <a:ext cx="0" cy="0"/>
          <a:chOff x="0" y="0"/>
          <a:chExt cx="0" cy="0"/>
        </a:xfrm>
      </p:grpSpPr>
      <p:sp>
        <p:nvSpPr>
          <p:cNvPr id="16" name="Google Shape;16;p3"/>
          <p:cNvSpPr/>
          <p:nvPr/>
        </p:nvSpPr>
        <p:spPr>
          <a:xfrm>
            <a:off x="4572000" y="0"/>
            <a:ext cx="2609100" cy="6858000"/>
          </a:xfrm>
          <a:prstGeom prst="rect">
            <a:avLst/>
          </a:prstGeom>
          <a:solidFill>
            <a:srgbClr val="FF7800">
              <a:alpha val="349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nvSpPr>
        <p:spPr>
          <a:xfrm>
            <a:off x="4730495" y="260604"/>
            <a:ext cx="2450700" cy="627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2400">
                <a:solidFill>
                  <a:srgbClr val="FFFFFF"/>
                </a:solidFill>
                <a:latin typeface="Montserrat"/>
                <a:ea typeface="Montserrat"/>
                <a:cs typeface="Montserrat"/>
                <a:sym typeface="Montserrat"/>
              </a:rPr>
              <a:t>AI Engineer Agentic Track</a:t>
            </a:r>
            <a:endParaRPr b="1" sz="2400">
              <a:solidFill>
                <a:srgbClr val="FFFFFF"/>
              </a:solidFill>
              <a:latin typeface="Montserrat"/>
              <a:ea typeface="Montserrat"/>
              <a:cs typeface="Montserrat"/>
              <a:sym typeface="Montserrat"/>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The Complete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Agent &amp; MCP</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Course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000">
                <a:solidFill>
                  <a:srgbClr val="FFFFFF"/>
                </a:solidFill>
                <a:latin typeface="Montserrat SemiBold"/>
                <a:ea typeface="Montserrat SemiBold"/>
                <a:cs typeface="Montserrat SemiBold"/>
                <a:sym typeface="Montserrat SemiBold"/>
              </a:rPr>
              <a:t>Week 6</a:t>
            </a:r>
            <a:endParaRPr sz="20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000">
                <a:solidFill>
                  <a:srgbClr val="FFFFFF"/>
                </a:solidFill>
                <a:latin typeface="Montserrat SemiBold"/>
                <a:ea typeface="Montserrat SemiBold"/>
                <a:cs typeface="Montserrat SemiBold"/>
                <a:sym typeface="Montserrat SemiBold"/>
              </a:rPr>
              <a:t>Day 1</a:t>
            </a:r>
            <a:endParaRPr sz="20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p>
        </p:txBody>
      </p:sp>
      <p:pic>
        <p:nvPicPr>
          <p:cNvPr id="18" name="Google Shape;18;p3" title="01_wX_1-2.png"/>
          <p:cNvPicPr preferRelativeResize="0"/>
          <p:nvPr/>
        </p:nvPicPr>
        <p:blipFill>
          <a:blip r:embed="rId3">
            <a:alphaModFix/>
          </a:blip>
          <a:stretch>
            <a:fillRect/>
          </a:stretch>
        </p:blipFill>
        <p:spPr>
          <a:xfrm>
            <a:off x="0" y="0"/>
            <a:ext cx="4572001" cy="68580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 name="Shape 23"/>
        <p:cNvGrpSpPr/>
        <p:nvPr/>
      </p:nvGrpSpPr>
      <p:grpSpPr>
        <a:xfrm>
          <a:off x="0" y="0"/>
          <a:ext cx="0" cy="0"/>
          <a:chOff x="0" y="0"/>
          <a:chExt cx="0" cy="0"/>
        </a:xfrm>
      </p:grpSpPr>
      <p:sp>
        <p:nvSpPr>
          <p:cNvPr id="24" name="Google Shape;24;p4"/>
          <p:cNvSpPr/>
          <p:nvPr/>
        </p:nvSpPr>
        <p:spPr>
          <a:xfrm>
            <a:off x="257174" y="5695950"/>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257174" y="2466975"/>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257174" y="4619625"/>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257174" y="1390650"/>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257174" y="3543300"/>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257174" y="314325"/>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361950" y="57536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1: Foundations</a:t>
            </a:r>
            <a:endParaRPr b="0" i="0" sz="1800" u="none" cap="none" strike="noStrike">
              <a:solidFill>
                <a:schemeClr val="dk1"/>
              </a:solidFill>
              <a:latin typeface="Calibri"/>
              <a:ea typeface="Calibri"/>
              <a:cs typeface="Calibri"/>
              <a:sym typeface="Calibri"/>
            </a:endParaRPr>
          </a:p>
        </p:txBody>
      </p:sp>
      <p:sp>
        <p:nvSpPr>
          <p:cNvPr id="31" name="Google Shape;31;p4"/>
          <p:cNvSpPr/>
          <p:nvPr/>
        </p:nvSpPr>
        <p:spPr>
          <a:xfrm>
            <a:off x="361950" y="252472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4: LangGraph</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361950" y="46773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2: OpenAI Agents SDK</a:t>
            </a:r>
            <a:endParaRPr b="0" i="0" sz="1800" u="none" cap="none" strike="noStrike">
              <a:solidFill>
                <a:schemeClr val="dk1"/>
              </a:solidFill>
              <a:latin typeface="Calibri"/>
              <a:ea typeface="Calibri"/>
              <a:cs typeface="Calibri"/>
              <a:sym typeface="Calibri"/>
            </a:endParaRPr>
          </a:p>
        </p:txBody>
      </p:sp>
      <p:sp>
        <p:nvSpPr>
          <p:cNvPr id="33" name="Google Shape;33;p4"/>
          <p:cNvSpPr/>
          <p:nvPr/>
        </p:nvSpPr>
        <p:spPr>
          <a:xfrm>
            <a:off x="361950" y="14483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lang="en-US" sz="975">
                <a:solidFill>
                  <a:srgbClr val="FFFFFF"/>
                </a:solidFill>
                <a:latin typeface="Roboto Slab"/>
                <a:ea typeface="Roboto Slab"/>
                <a:cs typeface="Roboto Slab"/>
                <a:sym typeface="Roboto Slab"/>
              </a:rPr>
              <a:t>Week 5: Agent Frameworks</a:t>
            </a:r>
            <a:endParaRPr i="0" sz="975" u="none" cap="none" strike="noStrike">
              <a:solidFill>
                <a:srgbClr val="FFFFFF"/>
              </a:solidFill>
              <a:latin typeface="Roboto Slab"/>
              <a:ea typeface="Roboto Slab"/>
              <a:cs typeface="Roboto Slab"/>
              <a:sym typeface="Roboto Slab"/>
            </a:endParaRPr>
          </a:p>
        </p:txBody>
      </p:sp>
      <p:sp>
        <p:nvSpPr>
          <p:cNvPr id="34" name="Google Shape;34;p4"/>
          <p:cNvSpPr/>
          <p:nvPr/>
        </p:nvSpPr>
        <p:spPr>
          <a:xfrm>
            <a:off x="361950" y="360104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3: CrewAI</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361950" y="3720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6: MCP</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447674" y="6010275"/>
            <a:ext cx="100297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47675"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Make an</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Workflow</a:t>
            </a:r>
            <a:endParaRPr b="0" i="0" sz="1800" u="none" cap="none" strike="noStrike">
              <a:solidFill>
                <a:schemeClr val="dk1"/>
              </a:solidFill>
              <a:latin typeface="Calibri"/>
              <a:ea typeface="Calibri"/>
              <a:cs typeface="Calibri"/>
              <a:sym typeface="Calibri"/>
            </a:endParaRPr>
          </a:p>
        </p:txBody>
      </p:sp>
      <p:sp>
        <p:nvSpPr>
          <p:cNvPr id="38" name="Google Shape;38;p4"/>
          <p:cNvSpPr/>
          <p:nvPr/>
        </p:nvSpPr>
        <p:spPr>
          <a:xfrm>
            <a:off x="447674" y="278130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447675"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Core</a:t>
            </a:r>
            <a:endParaRPr i="0" sz="1125" u="none" cap="none" strike="noStrike"/>
          </a:p>
        </p:txBody>
      </p:sp>
      <p:sp>
        <p:nvSpPr>
          <p:cNvPr id="40" name="Google Shape;40;p4"/>
          <p:cNvSpPr/>
          <p:nvPr/>
        </p:nvSpPr>
        <p:spPr>
          <a:xfrm>
            <a:off x="447674" y="493395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447675" y="50077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OpenAI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SDK concepts</a:t>
            </a:r>
            <a:endParaRPr b="0" i="0" sz="1800" u="none" cap="none" strike="noStrike">
              <a:solidFill>
                <a:schemeClr val="dk1"/>
              </a:solidFill>
              <a:latin typeface="Calibri"/>
              <a:ea typeface="Calibri"/>
              <a:cs typeface="Calibri"/>
              <a:sym typeface="Calibri"/>
            </a:endParaRPr>
          </a:p>
        </p:txBody>
      </p:sp>
      <p:sp>
        <p:nvSpPr>
          <p:cNvPr id="42" name="Google Shape;42;p4"/>
          <p:cNvSpPr/>
          <p:nvPr/>
        </p:nvSpPr>
        <p:spPr>
          <a:xfrm>
            <a:off x="447674" y="1704975"/>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447675"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Google ADK</a:t>
            </a:r>
            <a:br>
              <a:rPr lang="en-US" sz="1125"/>
            </a:br>
            <a:r>
              <a:rPr lang="en-US" sz="1125"/>
              <a:t>and A2A</a:t>
            </a:r>
            <a:endParaRPr i="0" sz="1125" u="none" cap="none" strike="noStrike"/>
          </a:p>
        </p:txBody>
      </p:sp>
      <p:sp>
        <p:nvSpPr>
          <p:cNvPr id="44" name="Google Shape;44;p4"/>
          <p:cNvSpPr/>
          <p:nvPr/>
        </p:nvSpPr>
        <p:spPr>
          <a:xfrm>
            <a:off x="447674" y="3857625"/>
            <a:ext cx="1002979"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4767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Crew AI</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Concepts</a:t>
            </a:r>
            <a:endParaRPr b="0" i="0" sz="1800" u="none" cap="none" strike="noStrike">
              <a:solidFill>
                <a:schemeClr val="dk1"/>
              </a:solidFill>
              <a:latin typeface="Calibri"/>
              <a:ea typeface="Calibri"/>
              <a:cs typeface="Calibri"/>
              <a:sym typeface="Calibri"/>
            </a:endParaRPr>
          </a:p>
        </p:txBody>
      </p:sp>
      <p:sp>
        <p:nvSpPr>
          <p:cNvPr id="46" name="Google Shape;46;p4"/>
          <p:cNvSpPr/>
          <p:nvPr/>
        </p:nvSpPr>
        <p:spPr>
          <a:xfrm>
            <a:off x="447674" y="628650"/>
            <a:ext cx="1002979" cy="610230"/>
          </a:xfrm>
          <a:prstGeom prst="rect">
            <a:avLst/>
          </a:prstGeom>
          <a:solidFill>
            <a:srgbClr val="FF7800">
              <a:alpha val="34902"/>
            </a:srgbClr>
          </a:solidFill>
          <a:ln cap="flat" cmpd="sng" w="25400">
            <a:solidFill>
              <a:srgbClr val="FF78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44767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Architecture</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and MCP</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1562101" y="6010275"/>
            <a:ext cx="1002976"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15621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Agents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Patterns</a:t>
            </a:r>
            <a:endParaRPr b="0" i="0" sz="1800" u="none" cap="none" strike="noStrike">
              <a:solidFill>
                <a:schemeClr val="dk1"/>
              </a:solidFill>
              <a:latin typeface="Calibri"/>
              <a:ea typeface="Calibri"/>
              <a:cs typeface="Calibri"/>
              <a:sym typeface="Calibri"/>
            </a:endParaRPr>
          </a:p>
        </p:txBody>
      </p:sp>
      <p:sp>
        <p:nvSpPr>
          <p:cNvPr id="50" name="Google Shape;50;p4"/>
          <p:cNvSpPr/>
          <p:nvPr/>
        </p:nvSpPr>
        <p:spPr>
          <a:xfrm>
            <a:off x="1562101" y="2781300"/>
            <a:ext cx="1002976"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5621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LangGraph</a:t>
            </a:r>
            <a:endParaRPr i="0" sz="1125" u="none" cap="none" strike="noStrike"/>
          </a:p>
        </p:txBody>
      </p:sp>
      <p:sp>
        <p:nvSpPr>
          <p:cNvPr id="52" name="Google Shape;52;p4"/>
          <p:cNvSpPr/>
          <p:nvPr/>
        </p:nvSpPr>
        <p:spPr>
          <a:xfrm>
            <a:off x="1562101" y="4933950"/>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15621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2: an</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SDR</a:t>
            </a:r>
            <a:endParaRPr b="0" i="0" sz="1800" u="none" cap="none" strike="noStrike">
              <a:solidFill>
                <a:schemeClr val="dk1"/>
              </a:solidFill>
              <a:latin typeface="Calibri"/>
              <a:ea typeface="Calibri"/>
              <a:cs typeface="Calibri"/>
              <a:sym typeface="Calibri"/>
            </a:endParaRPr>
          </a:p>
        </p:txBody>
      </p:sp>
      <p:sp>
        <p:nvSpPr>
          <p:cNvPr id="54" name="Google Shape;54;p4"/>
          <p:cNvSpPr/>
          <p:nvPr/>
        </p:nvSpPr>
        <p:spPr>
          <a:xfrm>
            <a:off x="1562101" y="1704975"/>
            <a:ext cx="1002976"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5621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Strands and</a:t>
            </a:r>
            <a:br>
              <a:rPr lang="en-US" sz="1125"/>
            </a:br>
            <a:r>
              <a:rPr lang="en-US" sz="1125"/>
              <a:t>Pydantic AI</a:t>
            </a:r>
            <a:endParaRPr i="0" sz="1125" u="none" cap="none" strike="noStrike"/>
          </a:p>
        </p:txBody>
      </p:sp>
      <p:sp>
        <p:nvSpPr>
          <p:cNvPr id="56" name="Google Shape;56;p4"/>
          <p:cNvSpPr/>
          <p:nvPr/>
        </p:nvSpPr>
        <p:spPr>
          <a:xfrm>
            <a:off x="1562101" y="3857625"/>
            <a:ext cx="1002976"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1562100"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Build a Crew</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58" name="Google Shape;58;p4"/>
          <p:cNvSpPr/>
          <p:nvPr/>
        </p:nvSpPr>
        <p:spPr>
          <a:xfrm>
            <a:off x="1562101" y="628650"/>
            <a:ext cx="1002976" cy="610230"/>
          </a:xfrm>
          <a:prstGeom prst="rect">
            <a:avLst/>
          </a:prstGeom>
          <a:no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15621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Building</a:t>
            </a:r>
            <a:br>
              <a:rPr lang="en-US" sz="1125">
                <a:solidFill>
                  <a:srgbClr val="FFFFFF"/>
                </a:solidFill>
              </a:rPr>
            </a:br>
            <a:r>
              <a:rPr lang="en-US" sz="1125">
                <a:solidFill>
                  <a:srgbClr val="FFFFFF"/>
                </a:solidFill>
              </a:rPr>
              <a:t>MCP Server</a:t>
            </a:r>
            <a:endParaRPr i="0" sz="1125" u="none" cap="none" strike="noStrike">
              <a:solidFill>
                <a:srgbClr val="FFFFFF"/>
              </a:solidFill>
            </a:endParaRPr>
          </a:p>
        </p:txBody>
      </p:sp>
      <p:sp>
        <p:nvSpPr>
          <p:cNvPr id="60" name="Google Shape;60;p4"/>
          <p:cNvSpPr/>
          <p:nvPr/>
        </p:nvSpPr>
        <p:spPr>
          <a:xfrm>
            <a:off x="2676524" y="6010275"/>
            <a:ext cx="100297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2676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Orchestrating</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LLMs</a:t>
            </a:r>
            <a:endParaRPr b="0" i="0" sz="1800" u="none" cap="none" strike="noStrike">
              <a:solidFill>
                <a:schemeClr val="dk1"/>
              </a:solidFill>
              <a:latin typeface="Calibri"/>
              <a:ea typeface="Calibri"/>
              <a:cs typeface="Calibri"/>
              <a:sym typeface="Calibri"/>
            </a:endParaRPr>
          </a:p>
        </p:txBody>
      </p:sp>
      <p:sp>
        <p:nvSpPr>
          <p:cNvPr id="62" name="Google Shape;62;p4"/>
          <p:cNvSpPr/>
          <p:nvPr/>
        </p:nvSpPr>
        <p:spPr>
          <a:xfrm>
            <a:off x="2676524" y="278130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676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create_agent</a:t>
            </a:r>
            <a:endParaRPr i="0" sz="1125" u="none" cap="none" strike="noStrike"/>
          </a:p>
        </p:txBody>
      </p:sp>
      <p:sp>
        <p:nvSpPr>
          <p:cNvPr id="64" name="Google Shape;64;p4"/>
          <p:cNvSpPr/>
          <p:nvPr/>
        </p:nvSpPr>
        <p:spPr>
          <a:xfrm>
            <a:off x="2676524" y="493395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2676525"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Tools vs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Guardrails</a:t>
            </a:r>
            <a:endParaRPr b="0" i="0" sz="1800" u="none" cap="none" strike="noStrike">
              <a:solidFill>
                <a:schemeClr val="dk1"/>
              </a:solidFill>
              <a:latin typeface="Calibri"/>
              <a:ea typeface="Calibri"/>
              <a:cs typeface="Calibri"/>
              <a:sym typeface="Calibri"/>
            </a:endParaRPr>
          </a:p>
        </p:txBody>
      </p:sp>
      <p:sp>
        <p:nvSpPr>
          <p:cNvPr id="66" name="Google Shape;66;p4"/>
          <p:cNvSpPr/>
          <p:nvPr/>
        </p:nvSpPr>
        <p:spPr>
          <a:xfrm>
            <a:off x="2676524" y="1704975"/>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2676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MAF and</a:t>
            </a:r>
            <a:br>
              <a:rPr lang="en-US" sz="1125"/>
            </a:br>
            <a:r>
              <a:rPr lang="en-US" sz="1125"/>
              <a:t>Agno</a:t>
            </a:r>
            <a:endParaRPr i="0" sz="1125" u="none" cap="none" strike="noStrike"/>
          </a:p>
        </p:txBody>
      </p:sp>
      <p:sp>
        <p:nvSpPr>
          <p:cNvPr id="68" name="Google Shape;68;p4"/>
          <p:cNvSpPr/>
          <p:nvPr/>
        </p:nvSpPr>
        <p:spPr>
          <a:xfrm>
            <a:off x="2676524" y="3857625"/>
            <a:ext cx="1002979"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2676525"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4: Stock</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Picker</a:t>
            </a:r>
            <a:endParaRPr b="0" i="0" sz="1800" u="none" cap="none" strike="noStrike">
              <a:solidFill>
                <a:schemeClr val="dk1"/>
              </a:solidFill>
              <a:latin typeface="Calibri"/>
              <a:ea typeface="Calibri"/>
              <a:cs typeface="Calibri"/>
              <a:sym typeface="Calibri"/>
            </a:endParaRPr>
          </a:p>
        </p:txBody>
      </p:sp>
      <p:sp>
        <p:nvSpPr>
          <p:cNvPr id="70" name="Google Shape;70;p4"/>
          <p:cNvSpPr/>
          <p:nvPr/>
        </p:nvSpPr>
        <p:spPr>
          <a:xfrm>
            <a:off x="2676524" y="628650"/>
            <a:ext cx="1002979" cy="610230"/>
          </a:xfrm>
          <a:prstGeom prst="rect">
            <a:avLst/>
          </a:prstGeom>
          <a:no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267652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Context</a:t>
            </a:r>
            <a:br>
              <a:rPr lang="en-US" sz="1125">
                <a:solidFill>
                  <a:srgbClr val="FFFFFF"/>
                </a:solidFill>
              </a:rPr>
            </a:br>
            <a:r>
              <a:rPr lang="en-US" sz="1125">
                <a:solidFill>
                  <a:srgbClr val="FFFFFF"/>
                </a:solidFill>
              </a:rPr>
              <a:t>Engineering</a:t>
            </a:r>
            <a:br>
              <a:rPr lang="en-US" sz="1125">
                <a:solidFill>
                  <a:srgbClr val="FFFFFF"/>
                </a:solidFill>
              </a:rPr>
            </a:br>
            <a:r>
              <a:rPr lang="en-US" sz="1125">
                <a:solidFill>
                  <a:srgbClr val="FFFFFF"/>
                </a:solidFill>
              </a:rPr>
              <a:t>with MCP</a:t>
            </a:r>
            <a:endParaRPr i="0" sz="1125" u="none" cap="none" strike="noStrike">
              <a:solidFill>
                <a:srgbClr val="FFFFFF"/>
              </a:solidFill>
            </a:endParaRPr>
          </a:p>
        </p:txBody>
      </p:sp>
      <p:sp>
        <p:nvSpPr>
          <p:cNvPr id="72" name="Google Shape;72;p4"/>
          <p:cNvSpPr/>
          <p:nvPr/>
        </p:nvSpPr>
        <p:spPr>
          <a:xfrm>
            <a:off x="3819524" y="6010275"/>
            <a:ext cx="100297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3819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Autonomy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Tools</a:t>
            </a:r>
            <a:endParaRPr b="0" i="0" sz="1800" u="none" cap="none" strike="noStrike">
              <a:solidFill>
                <a:schemeClr val="dk1"/>
              </a:solidFill>
              <a:latin typeface="Calibri"/>
              <a:ea typeface="Calibri"/>
              <a:cs typeface="Calibri"/>
              <a:sym typeface="Calibri"/>
            </a:endParaRPr>
          </a:p>
        </p:txBody>
      </p:sp>
      <p:sp>
        <p:nvSpPr>
          <p:cNvPr id="74" name="Google Shape;74;p4"/>
          <p:cNvSpPr/>
          <p:nvPr/>
        </p:nvSpPr>
        <p:spPr>
          <a:xfrm>
            <a:off x="3819524" y="278130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3819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Deep Agents</a:t>
            </a:r>
            <a:endParaRPr i="0" sz="1125" u="none" cap="none" strike="noStrike"/>
          </a:p>
        </p:txBody>
      </p:sp>
      <p:sp>
        <p:nvSpPr>
          <p:cNvPr id="76" name="Google Shape;76;p4"/>
          <p:cNvSpPr/>
          <p:nvPr/>
        </p:nvSpPr>
        <p:spPr>
          <a:xfrm>
            <a:off x="3819524" y="4933950"/>
            <a:ext cx="100297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3819525"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a:t>
            </a:r>
            <a:endParaRPr b="0" i="0" sz="1800" u="none" cap="none" strike="noStrike">
              <a:solidFill>
                <a:schemeClr val="dk1"/>
              </a:solidFill>
              <a:latin typeface="Calibri"/>
              <a:ea typeface="Calibri"/>
              <a:cs typeface="Calibri"/>
              <a:sym typeface="Calibri"/>
            </a:endParaRPr>
          </a:p>
        </p:txBody>
      </p:sp>
      <p:sp>
        <p:nvSpPr>
          <p:cNvPr id="78" name="Google Shape;78;p4"/>
          <p:cNvSpPr/>
          <p:nvPr/>
        </p:nvSpPr>
        <p:spPr>
          <a:xfrm>
            <a:off x="3819524" y="1704975"/>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819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Mastra</a:t>
            </a:r>
            <a:endParaRPr i="0" sz="1125" u="none" cap="none" strike="noStrike"/>
          </a:p>
        </p:txBody>
      </p:sp>
      <p:sp>
        <p:nvSpPr>
          <p:cNvPr id="80" name="Google Shape;80;p4"/>
          <p:cNvSpPr/>
          <p:nvPr/>
        </p:nvSpPr>
        <p:spPr>
          <a:xfrm>
            <a:off x="3819524" y="3857625"/>
            <a:ext cx="1002979"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381952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Developer</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82" name="Google Shape;82;p4"/>
          <p:cNvSpPr/>
          <p:nvPr/>
        </p:nvSpPr>
        <p:spPr>
          <a:xfrm>
            <a:off x="3819524" y="628650"/>
            <a:ext cx="1002979"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3819525" y="7786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endParaRPr b="0" i="0" sz="1800" u="none" cap="none" strike="noStrike">
              <a:solidFill>
                <a:schemeClr val="dk1"/>
              </a:solidFill>
              <a:latin typeface="Calibri"/>
              <a:ea typeface="Calibri"/>
              <a:cs typeface="Calibri"/>
              <a:sym typeface="Calibri"/>
            </a:endParaRPr>
          </a:p>
        </p:txBody>
      </p:sp>
      <p:sp>
        <p:nvSpPr>
          <p:cNvPr id="84" name="Google Shape;84;p4"/>
          <p:cNvSpPr/>
          <p:nvPr/>
        </p:nvSpPr>
        <p:spPr>
          <a:xfrm>
            <a:off x="4953000" y="6010275"/>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9530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1:</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Your personal</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career agent</a:t>
            </a:r>
            <a:endParaRPr b="0" i="0" sz="1800" u="none" cap="none" strike="noStrike">
              <a:solidFill>
                <a:schemeClr val="dk1"/>
              </a:solidFill>
              <a:latin typeface="Calibri"/>
              <a:ea typeface="Calibri"/>
              <a:cs typeface="Calibri"/>
              <a:sym typeface="Calibri"/>
            </a:endParaRPr>
          </a:p>
        </p:txBody>
      </p:sp>
      <p:sp>
        <p:nvSpPr>
          <p:cNvPr id="86" name="Google Shape;86;p4"/>
          <p:cNvSpPr/>
          <p:nvPr/>
        </p:nvSpPr>
        <p:spPr>
          <a:xfrm>
            <a:off x="4953000" y="2781300"/>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49530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6:</a:t>
            </a:r>
            <a:br>
              <a:rPr lang="en-US" sz="1125"/>
            </a:br>
            <a:r>
              <a:rPr lang="en-US" sz="1125"/>
              <a:t>Sidekick</a:t>
            </a:r>
            <a:endParaRPr i="0" sz="1125" u="none" cap="none" strike="noStrike"/>
          </a:p>
        </p:txBody>
      </p:sp>
      <p:sp>
        <p:nvSpPr>
          <p:cNvPr id="88" name="Google Shape;88;p4"/>
          <p:cNvSpPr/>
          <p:nvPr/>
        </p:nvSpPr>
        <p:spPr>
          <a:xfrm>
            <a:off x="4953000" y="4933950"/>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49530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 app</a:t>
            </a:r>
            <a:endParaRPr b="0" i="0" sz="1800" u="none" cap="none" strike="noStrike">
              <a:solidFill>
                <a:schemeClr val="dk1"/>
              </a:solidFill>
              <a:latin typeface="Calibri"/>
              <a:ea typeface="Calibri"/>
              <a:cs typeface="Calibri"/>
              <a:sym typeface="Calibri"/>
            </a:endParaRPr>
          </a:p>
        </p:txBody>
      </p:sp>
      <p:sp>
        <p:nvSpPr>
          <p:cNvPr id="90" name="Google Shape;90;p4"/>
          <p:cNvSpPr/>
          <p:nvPr/>
        </p:nvSpPr>
        <p:spPr>
          <a:xfrm>
            <a:off x="4953000" y="1704975"/>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9530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7:</a:t>
            </a:r>
            <a:br>
              <a:rPr lang="en-US" sz="1125"/>
            </a:br>
            <a:r>
              <a:rPr lang="en-US" sz="1125"/>
              <a:t>Agent Loop</a:t>
            </a:r>
            <a:endParaRPr i="0" sz="1125" u="none" cap="none" strike="noStrike"/>
          </a:p>
        </p:txBody>
      </p:sp>
      <p:sp>
        <p:nvSpPr>
          <p:cNvPr id="92" name="Google Shape;92;p4"/>
          <p:cNvSpPr/>
          <p:nvPr/>
        </p:nvSpPr>
        <p:spPr>
          <a:xfrm>
            <a:off x="4953000" y="3857625"/>
            <a:ext cx="1002976"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953000"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Engineering</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Team</a:t>
            </a:r>
            <a:endParaRPr b="0" i="0" sz="1800" u="none" cap="none" strike="noStrike">
              <a:solidFill>
                <a:schemeClr val="dk1"/>
              </a:solidFill>
              <a:latin typeface="Calibri"/>
              <a:ea typeface="Calibri"/>
              <a:cs typeface="Calibri"/>
              <a:sym typeface="Calibri"/>
            </a:endParaRPr>
          </a:p>
        </p:txBody>
      </p:sp>
      <p:sp>
        <p:nvSpPr>
          <p:cNvPr id="94" name="Google Shape;94;p4"/>
          <p:cNvSpPr/>
          <p:nvPr/>
        </p:nvSpPr>
        <p:spPr>
          <a:xfrm>
            <a:off x="4953000" y="628650"/>
            <a:ext cx="1002976"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9530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In Action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0" name="Shape 100"/>
        <p:cNvGrpSpPr/>
        <p:nvPr/>
      </p:nvGrpSpPr>
      <p:grpSpPr>
        <a:xfrm>
          <a:off x="0" y="0"/>
          <a:ext cx="0" cy="0"/>
          <a:chOff x="0" y="0"/>
          <a:chExt cx="0" cy="0"/>
        </a:xfrm>
      </p:grpSpPr>
      <p:sp>
        <p:nvSpPr>
          <p:cNvPr id="101" name="Google Shape;101;p5"/>
          <p:cNvSpPr/>
          <p:nvPr/>
        </p:nvSpPr>
        <p:spPr>
          <a:xfrm>
            <a:off x="571500" y="576635"/>
            <a:ext cx="9064898"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FFFFFF"/>
                </a:solidFill>
                <a:latin typeface="Roboto Slab"/>
                <a:ea typeface="Roboto Slab"/>
                <a:cs typeface="Roboto Slab"/>
                <a:sym typeface="Roboto Slab"/>
              </a:rPr>
              <a:t>BUSTED!!</a:t>
            </a:r>
            <a:endParaRPr b="0" i="0" sz="1800" u="none" cap="none" strike="noStrike">
              <a:solidFill>
                <a:schemeClr val="dk1"/>
              </a:solidFill>
              <a:latin typeface="Calibri"/>
              <a:ea typeface="Calibri"/>
              <a:cs typeface="Calibri"/>
              <a:sym typeface="Calibri"/>
            </a:endParaRPr>
          </a:p>
        </p:txBody>
      </p:sp>
      <p:sp>
        <p:nvSpPr>
          <p:cNvPr id="102" name="Google Shape;102;p5"/>
          <p:cNvSpPr/>
          <p:nvPr/>
        </p:nvSpPr>
        <p:spPr>
          <a:xfrm>
            <a:off x="571500" y="1332384"/>
            <a:ext cx="4575721"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I know you're impatient for MCP</a:t>
            </a:r>
            <a:r>
              <a:rPr lang="en-US" sz="1800">
                <a:solidFill>
                  <a:srgbClr val="FFD700"/>
                </a:solidFill>
                <a:latin typeface="Roboto Slab"/>
                <a:ea typeface="Roboto Slab"/>
                <a:cs typeface="Roboto Slab"/>
                <a:sym typeface="Roboto Slab"/>
              </a:rPr>
              <a:t>…</a:t>
            </a:r>
            <a:endParaRPr b="0" i="0" sz="1800" u="none" cap="none" strike="noStrike">
              <a:solidFill>
                <a:schemeClr val="dk1"/>
              </a:solidFill>
              <a:latin typeface="Calibri"/>
              <a:ea typeface="Calibri"/>
              <a:cs typeface="Calibri"/>
              <a:sym typeface="Calibri"/>
            </a:endParaRPr>
          </a:p>
        </p:txBody>
      </p:sp>
      <p:sp>
        <p:nvSpPr>
          <p:cNvPr id="103" name="Google Shape;103;p5"/>
          <p:cNvSpPr/>
          <p:nvPr/>
        </p:nvSpPr>
        <p:spPr>
          <a:xfrm>
            <a:off x="676275" y="5761509"/>
            <a:ext cx="6112818"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Week 1 - Native use of APIs and Tools</a:t>
            </a:r>
            <a:endParaRPr b="0" i="0" sz="1800" u="none" cap="none" strike="noStrike">
              <a:solidFill>
                <a:schemeClr val="dk1"/>
              </a:solidFill>
              <a:latin typeface="Calibri"/>
              <a:ea typeface="Calibri"/>
              <a:cs typeface="Calibri"/>
              <a:sym typeface="Calibri"/>
            </a:endParaRPr>
          </a:p>
        </p:txBody>
      </p:sp>
      <p:sp>
        <p:nvSpPr>
          <p:cNvPr id="104" name="Google Shape;104;p5"/>
          <p:cNvSpPr/>
          <p:nvPr/>
        </p:nvSpPr>
        <p:spPr>
          <a:xfrm>
            <a:off x="676275" y="6237759"/>
            <a:ext cx="512355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00BFFF"/>
                </a:solidFill>
                <a:latin typeface="Roboto Slab"/>
                <a:ea typeface="Roboto Slab"/>
                <a:cs typeface="Roboto Slab"/>
                <a:sym typeface="Roboto Slab"/>
              </a:rPr>
              <a:t>Week 2 - OpenAI Agents SDK</a:t>
            </a:r>
            <a:endParaRPr b="0" i="0" sz="1800" u="none" cap="none" strike="noStrike">
              <a:solidFill>
                <a:schemeClr val="dk1"/>
              </a:solidFill>
              <a:latin typeface="Calibri"/>
              <a:ea typeface="Calibri"/>
              <a:cs typeface="Calibri"/>
              <a:sym typeface="Calibri"/>
            </a:endParaRPr>
          </a:p>
        </p:txBody>
      </p:sp>
      <p:pic>
        <p:nvPicPr>
          <p:cNvPr id="105" name="Google Shape;105;p5"/>
          <p:cNvPicPr preferRelativeResize="0"/>
          <p:nvPr/>
        </p:nvPicPr>
        <p:blipFill>
          <a:blip r:embed="rId3">
            <a:alphaModFix/>
          </a:blip>
          <a:stretch>
            <a:fillRect/>
          </a:stretch>
        </p:blipFill>
        <p:spPr>
          <a:xfrm>
            <a:off x="571498" y="1831502"/>
            <a:ext cx="4452676" cy="3339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0" name="Shape 110"/>
        <p:cNvGrpSpPr/>
        <p:nvPr/>
      </p:nvGrpSpPr>
      <p:grpSpPr>
        <a:xfrm>
          <a:off x="0" y="0"/>
          <a:ext cx="0" cy="0"/>
          <a:chOff x="0" y="0"/>
          <a:chExt cx="0" cy="0"/>
        </a:xfrm>
      </p:grpSpPr>
      <p:sp>
        <p:nvSpPr>
          <p:cNvPr id="111" name="Google Shape;111;p6"/>
          <p:cNvSpPr/>
          <p:nvPr/>
        </p:nvSpPr>
        <p:spPr>
          <a:xfrm>
            <a:off x="2826150" y="5566500"/>
            <a:ext cx="1759200" cy="1158600"/>
          </a:xfrm>
          <a:prstGeom prst="rect">
            <a:avLst/>
          </a:prstGeom>
          <a:noFill/>
          <a:ln cap="flat" cmpd="sng" w="2857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D700"/>
              </a:solidFill>
              <a:highlight>
                <a:srgbClr val="FFD700"/>
              </a:highlight>
            </a:endParaRPr>
          </a:p>
        </p:txBody>
      </p:sp>
      <p:sp>
        <p:nvSpPr>
          <p:cNvPr id="112" name="Google Shape;112;p6"/>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An Agent is..</a:t>
            </a:r>
            <a:endParaRPr sz="3300">
              <a:solidFill>
                <a:srgbClr val="FFFFFF"/>
              </a:solidFill>
              <a:latin typeface="Roboto Slab"/>
              <a:ea typeface="Roboto Slab"/>
              <a:cs typeface="Roboto Slab"/>
              <a:sym typeface="Roboto Slab"/>
            </a:endParaRPr>
          </a:p>
        </p:txBody>
      </p:sp>
      <p:grpSp>
        <p:nvGrpSpPr>
          <p:cNvPr id="113" name="Google Shape;113;p6"/>
          <p:cNvGrpSpPr/>
          <p:nvPr/>
        </p:nvGrpSpPr>
        <p:grpSpPr>
          <a:xfrm>
            <a:off x="896112" y="1577340"/>
            <a:ext cx="5504568" cy="617100"/>
            <a:chOff x="896112" y="1577340"/>
            <a:chExt cx="5504568" cy="617100"/>
          </a:xfrm>
        </p:grpSpPr>
        <p:sp>
          <p:nvSpPr>
            <p:cNvPr id="114" name="Google Shape;114;p6"/>
            <p:cNvSpPr txBox="1"/>
            <p:nvPr/>
          </p:nvSpPr>
          <p:spPr>
            <a:xfrm>
              <a:off x="1402080" y="157734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An LLM</a:t>
              </a:r>
              <a:endParaRPr sz="1650">
                <a:solidFill>
                  <a:srgbClr val="FFFFFF"/>
                </a:solidFill>
                <a:latin typeface="Roboto Slab"/>
                <a:ea typeface="Roboto Slab"/>
                <a:cs typeface="Roboto Slab"/>
                <a:sym typeface="Roboto Slab"/>
              </a:endParaRPr>
            </a:p>
          </p:txBody>
        </p:sp>
        <p:pic>
          <p:nvPicPr>
            <p:cNvPr id="115" name="Google Shape;115;p6"/>
            <p:cNvPicPr preferRelativeResize="0"/>
            <p:nvPr/>
          </p:nvPicPr>
          <p:blipFill>
            <a:blip r:embed="rId3">
              <a:alphaModFix/>
            </a:blip>
            <a:stretch>
              <a:fillRect/>
            </a:stretch>
          </p:blipFill>
          <p:spPr>
            <a:xfrm>
              <a:off x="896112" y="1646682"/>
              <a:ext cx="341376" cy="341376"/>
            </a:xfrm>
            <a:prstGeom prst="rect">
              <a:avLst/>
            </a:prstGeom>
            <a:noFill/>
            <a:ln>
              <a:noFill/>
            </a:ln>
          </p:spPr>
        </p:pic>
      </p:grpSp>
      <p:grpSp>
        <p:nvGrpSpPr>
          <p:cNvPr id="116" name="Google Shape;116;p6"/>
          <p:cNvGrpSpPr/>
          <p:nvPr/>
        </p:nvGrpSpPr>
        <p:grpSpPr>
          <a:xfrm>
            <a:off x="896112" y="2434590"/>
            <a:ext cx="5504568" cy="617100"/>
            <a:chOff x="896112" y="2434590"/>
            <a:chExt cx="5504568" cy="617100"/>
          </a:xfrm>
        </p:grpSpPr>
        <p:sp>
          <p:nvSpPr>
            <p:cNvPr id="117" name="Google Shape;117;p6"/>
            <p:cNvSpPr txBox="1"/>
            <p:nvPr/>
          </p:nvSpPr>
          <p:spPr>
            <a:xfrm>
              <a:off x="1402080" y="243459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with Tools</a:t>
              </a:r>
              <a:endParaRPr sz="1650">
                <a:solidFill>
                  <a:srgbClr val="FFFFFF"/>
                </a:solidFill>
                <a:latin typeface="Roboto Slab"/>
                <a:ea typeface="Roboto Slab"/>
                <a:cs typeface="Roboto Slab"/>
                <a:sym typeface="Roboto Slab"/>
              </a:endParaRPr>
            </a:p>
          </p:txBody>
        </p:sp>
        <p:pic>
          <p:nvPicPr>
            <p:cNvPr id="118" name="Google Shape;118;p6"/>
            <p:cNvPicPr preferRelativeResize="0"/>
            <p:nvPr/>
          </p:nvPicPr>
          <p:blipFill>
            <a:blip r:embed="rId4">
              <a:alphaModFix/>
            </a:blip>
            <a:stretch>
              <a:fillRect/>
            </a:stretch>
          </p:blipFill>
          <p:spPr>
            <a:xfrm>
              <a:off x="896112" y="2503932"/>
              <a:ext cx="341376" cy="341376"/>
            </a:xfrm>
            <a:prstGeom prst="rect">
              <a:avLst/>
            </a:prstGeom>
            <a:noFill/>
            <a:ln>
              <a:noFill/>
            </a:ln>
          </p:spPr>
        </p:pic>
      </p:grpSp>
      <p:grpSp>
        <p:nvGrpSpPr>
          <p:cNvPr id="119" name="Google Shape;119;p6"/>
          <p:cNvGrpSpPr/>
          <p:nvPr/>
        </p:nvGrpSpPr>
        <p:grpSpPr>
          <a:xfrm>
            <a:off x="896112" y="3291840"/>
            <a:ext cx="5504568" cy="617100"/>
            <a:chOff x="896112" y="3291840"/>
            <a:chExt cx="5504568" cy="617100"/>
          </a:xfrm>
        </p:grpSpPr>
        <p:sp>
          <p:nvSpPr>
            <p:cNvPr id="120" name="Google Shape;120;p6"/>
            <p:cNvSpPr txBox="1"/>
            <p:nvPr/>
          </p:nvSpPr>
          <p:spPr>
            <a:xfrm>
              <a:off x="1402080" y="329184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In a loop</a:t>
              </a:r>
              <a:endParaRPr sz="1650">
                <a:solidFill>
                  <a:srgbClr val="FFFFFF"/>
                </a:solidFill>
                <a:latin typeface="Roboto Slab"/>
                <a:ea typeface="Roboto Slab"/>
                <a:cs typeface="Roboto Slab"/>
                <a:sym typeface="Roboto Slab"/>
              </a:endParaRPr>
            </a:p>
          </p:txBody>
        </p:sp>
        <p:pic>
          <p:nvPicPr>
            <p:cNvPr id="121" name="Google Shape;121;p6"/>
            <p:cNvPicPr preferRelativeResize="0"/>
            <p:nvPr/>
          </p:nvPicPr>
          <p:blipFill>
            <a:blip r:embed="rId5">
              <a:alphaModFix/>
            </a:blip>
            <a:stretch>
              <a:fillRect/>
            </a:stretch>
          </p:blipFill>
          <p:spPr>
            <a:xfrm>
              <a:off x="896112" y="3361182"/>
              <a:ext cx="341376" cy="341376"/>
            </a:xfrm>
            <a:prstGeom prst="rect">
              <a:avLst/>
            </a:prstGeom>
            <a:noFill/>
            <a:ln>
              <a:noFill/>
            </a:ln>
          </p:spPr>
        </p:pic>
      </p:grpSp>
      <p:grpSp>
        <p:nvGrpSpPr>
          <p:cNvPr id="122" name="Google Shape;122;p6"/>
          <p:cNvGrpSpPr/>
          <p:nvPr/>
        </p:nvGrpSpPr>
        <p:grpSpPr>
          <a:xfrm>
            <a:off x="896445" y="4149090"/>
            <a:ext cx="5504235" cy="617100"/>
            <a:chOff x="896445" y="4149090"/>
            <a:chExt cx="5504235" cy="617100"/>
          </a:xfrm>
        </p:grpSpPr>
        <p:sp>
          <p:nvSpPr>
            <p:cNvPr id="123" name="Google Shape;123;p6"/>
            <p:cNvSpPr txBox="1"/>
            <p:nvPr/>
          </p:nvSpPr>
          <p:spPr>
            <a:xfrm>
              <a:off x="1402080" y="414909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To achieve a goal</a:t>
              </a:r>
              <a:endParaRPr sz="1650">
                <a:solidFill>
                  <a:srgbClr val="FFFFFF"/>
                </a:solidFill>
                <a:latin typeface="Roboto Slab"/>
                <a:ea typeface="Roboto Slab"/>
                <a:cs typeface="Roboto Slab"/>
                <a:sym typeface="Roboto Slab"/>
              </a:endParaRPr>
            </a:p>
          </p:txBody>
        </p:sp>
        <p:pic>
          <p:nvPicPr>
            <p:cNvPr id="124" name="Google Shape;124;p6"/>
            <p:cNvPicPr preferRelativeResize="0"/>
            <p:nvPr/>
          </p:nvPicPr>
          <p:blipFill>
            <a:blip r:embed="rId6">
              <a:alphaModFix/>
            </a:blip>
            <a:stretch>
              <a:fillRect/>
            </a:stretch>
          </p:blipFill>
          <p:spPr>
            <a:xfrm>
              <a:off x="896445" y="4218432"/>
              <a:ext cx="340710" cy="341376"/>
            </a:xfrm>
            <a:prstGeom prst="rect">
              <a:avLst/>
            </a:prstGeom>
            <a:noFill/>
            <a:ln>
              <a:noFill/>
            </a:ln>
          </p:spPr>
        </p:pic>
      </p:grpSp>
      <p:sp>
        <p:nvSpPr>
          <p:cNvPr id="125" name="Google Shape;125;p6"/>
          <p:cNvSpPr txBox="1"/>
          <p:nvPr/>
        </p:nvSpPr>
        <p:spPr>
          <a:xfrm>
            <a:off x="573025" y="4895300"/>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chemeClr val="lt1"/>
                </a:solidFill>
                <a:latin typeface="Roboto Slab"/>
                <a:ea typeface="Roboto Slab"/>
                <a:cs typeface="Roboto Slab"/>
                <a:sym typeface="Roboto Slab"/>
              </a:rPr>
              <a:t>Or..</a:t>
            </a:r>
            <a:endParaRPr/>
          </a:p>
        </p:txBody>
      </p:sp>
      <p:sp>
        <p:nvSpPr>
          <p:cNvPr id="126" name="Google Shape;126;p6"/>
          <p:cNvSpPr txBox="1"/>
          <p:nvPr/>
        </p:nvSpPr>
        <p:spPr>
          <a:xfrm>
            <a:off x="1281104" y="5640425"/>
            <a:ext cx="10974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An LLM</a:t>
            </a:r>
            <a:endParaRPr sz="1650">
              <a:solidFill>
                <a:srgbClr val="FFFFFF"/>
              </a:solidFill>
              <a:latin typeface="Roboto Slab"/>
              <a:ea typeface="Roboto Slab"/>
              <a:cs typeface="Roboto Slab"/>
              <a:sym typeface="Roboto Slab"/>
            </a:endParaRPr>
          </a:p>
        </p:txBody>
      </p:sp>
      <p:pic>
        <p:nvPicPr>
          <p:cNvPr id="127" name="Google Shape;127;p6"/>
          <p:cNvPicPr preferRelativeResize="0"/>
          <p:nvPr/>
        </p:nvPicPr>
        <p:blipFill>
          <a:blip r:embed="rId3">
            <a:alphaModFix/>
          </a:blip>
          <a:stretch>
            <a:fillRect/>
          </a:stretch>
        </p:blipFill>
        <p:spPr>
          <a:xfrm>
            <a:off x="1659112" y="6177432"/>
            <a:ext cx="341376" cy="341376"/>
          </a:xfrm>
          <a:prstGeom prst="rect">
            <a:avLst/>
          </a:prstGeom>
          <a:noFill/>
          <a:ln>
            <a:noFill/>
          </a:ln>
        </p:spPr>
      </p:pic>
      <p:sp>
        <p:nvSpPr>
          <p:cNvPr id="128" name="Google Shape;128;p6"/>
          <p:cNvSpPr txBox="1"/>
          <p:nvPr/>
        </p:nvSpPr>
        <p:spPr>
          <a:xfrm>
            <a:off x="2120036" y="5640425"/>
            <a:ext cx="1097400" cy="61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650">
                <a:solidFill>
                  <a:srgbClr val="00BFFF"/>
                </a:solidFill>
                <a:latin typeface="Roboto Slab"/>
                <a:ea typeface="Roboto Slab"/>
                <a:cs typeface="Roboto Slab"/>
                <a:sym typeface="Roboto Slab"/>
              </a:rPr>
              <a:t>+</a:t>
            </a:r>
            <a:endParaRPr b="1" sz="1650">
              <a:solidFill>
                <a:srgbClr val="FFFFFF"/>
              </a:solidFill>
              <a:latin typeface="Roboto Slab"/>
              <a:ea typeface="Roboto Slab"/>
              <a:cs typeface="Roboto Slab"/>
              <a:sym typeface="Roboto Slab"/>
            </a:endParaRPr>
          </a:p>
        </p:txBody>
      </p:sp>
      <p:grpSp>
        <p:nvGrpSpPr>
          <p:cNvPr id="129" name="Google Shape;129;p6"/>
          <p:cNvGrpSpPr/>
          <p:nvPr/>
        </p:nvGrpSpPr>
        <p:grpSpPr>
          <a:xfrm>
            <a:off x="3065162" y="5640425"/>
            <a:ext cx="1648842" cy="878383"/>
            <a:chOff x="3065162" y="5640425"/>
            <a:chExt cx="1648842" cy="878383"/>
          </a:xfrm>
        </p:grpSpPr>
        <p:sp>
          <p:nvSpPr>
            <p:cNvPr id="130" name="Google Shape;130;p6"/>
            <p:cNvSpPr txBox="1"/>
            <p:nvPr/>
          </p:nvSpPr>
          <p:spPr>
            <a:xfrm>
              <a:off x="3099704" y="5640425"/>
              <a:ext cx="16143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A Harness</a:t>
              </a:r>
              <a:endParaRPr sz="1650">
                <a:solidFill>
                  <a:srgbClr val="FFFFFF"/>
                </a:solidFill>
                <a:latin typeface="Roboto Slab"/>
                <a:ea typeface="Roboto Slab"/>
                <a:cs typeface="Roboto Slab"/>
                <a:sym typeface="Roboto Slab"/>
              </a:endParaRPr>
            </a:p>
          </p:txBody>
        </p:sp>
        <p:pic>
          <p:nvPicPr>
            <p:cNvPr id="131" name="Google Shape;131;p6"/>
            <p:cNvPicPr preferRelativeResize="0"/>
            <p:nvPr/>
          </p:nvPicPr>
          <p:blipFill>
            <a:blip r:embed="rId4">
              <a:alphaModFix/>
            </a:blip>
            <a:stretch>
              <a:fillRect/>
            </a:stretch>
          </p:blipFill>
          <p:spPr>
            <a:xfrm>
              <a:off x="3065162" y="6177432"/>
              <a:ext cx="341376" cy="341376"/>
            </a:xfrm>
            <a:prstGeom prst="rect">
              <a:avLst/>
            </a:prstGeom>
            <a:noFill/>
            <a:ln>
              <a:noFill/>
            </a:ln>
          </p:spPr>
        </p:pic>
        <p:pic>
          <p:nvPicPr>
            <p:cNvPr id="132" name="Google Shape;132;p6"/>
            <p:cNvPicPr preferRelativeResize="0"/>
            <p:nvPr/>
          </p:nvPicPr>
          <p:blipFill>
            <a:blip r:embed="rId5">
              <a:alphaModFix/>
            </a:blip>
            <a:stretch>
              <a:fillRect/>
            </a:stretch>
          </p:blipFill>
          <p:spPr>
            <a:xfrm>
              <a:off x="3573037" y="6177432"/>
              <a:ext cx="341376" cy="341376"/>
            </a:xfrm>
            <a:prstGeom prst="rect">
              <a:avLst/>
            </a:prstGeom>
            <a:noFill/>
            <a:ln>
              <a:noFill/>
            </a:ln>
          </p:spPr>
        </p:pic>
        <p:pic>
          <p:nvPicPr>
            <p:cNvPr id="133" name="Google Shape;133;p6"/>
            <p:cNvPicPr preferRelativeResize="0"/>
            <p:nvPr/>
          </p:nvPicPr>
          <p:blipFill>
            <a:blip r:embed="rId6">
              <a:alphaModFix/>
            </a:blip>
            <a:stretch>
              <a:fillRect/>
            </a:stretch>
          </p:blipFill>
          <p:spPr>
            <a:xfrm>
              <a:off x="4016595" y="6177432"/>
              <a:ext cx="340710" cy="3413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 name="Shape 138"/>
        <p:cNvGrpSpPr/>
        <p:nvPr/>
      </p:nvGrpSpPr>
      <p:grpSpPr>
        <a:xfrm>
          <a:off x="0" y="0"/>
          <a:ext cx="0" cy="0"/>
          <a:chOff x="0" y="0"/>
          <a:chExt cx="0" cy="0"/>
        </a:xfrm>
      </p:grpSpPr>
      <p:sp>
        <p:nvSpPr>
          <p:cNvPr id="139" name="Google Shape;139;p7"/>
          <p:cNvSpPr/>
          <p:nvPr/>
        </p:nvSpPr>
        <p:spPr>
          <a:xfrm>
            <a:off x="571500" y="586160"/>
            <a:ext cx="9064800" cy="476700"/>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00BFFF"/>
                </a:solidFill>
                <a:latin typeface="Roboto Slab"/>
                <a:ea typeface="Roboto Slab"/>
                <a:cs typeface="Roboto Slab"/>
                <a:sym typeface="Roboto Slab"/>
              </a:rPr>
              <a:t>Remember</a:t>
            </a:r>
            <a:r>
              <a:rPr lang="en-US" sz="3300">
                <a:solidFill>
                  <a:srgbClr val="00BFFF"/>
                </a:solidFill>
                <a:latin typeface="Roboto Slab"/>
                <a:ea typeface="Roboto Slab"/>
                <a:cs typeface="Roboto Slab"/>
                <a:sym typeface="Roboto Slab"/>
              </a:rPr>
              <a:t> this slide?</a:t>
            </a:r>
            <a:endParaRPr b="0" i="0" sz="1800" u="none" cap="none" strike="noStrike">
              <a:solidFill>
                <a:srgbClr val="00BFFF"/>
              </a:solidFill>
              <a:latin typeface="Calibri"/>
              <a:ea typeface="Calibri"/>
              <a:cs typeface="Calibri"/>
              <a:sym typeface="Calibri"/>
            </a:endParaRPr>
          </a:p>
        </p:txBody>
      </p:sp>
      <p:sp>
        <p:nvSpPr>
          <p:cNvPr id="140" name="Google Shape;140;p7"/>
          <p:cNvSpPr/>
          <p:nvPr/>
        </p:nvSpPr>
        <p:spPr>
          <a:xfrm>
            <a:off x="714375" y="5017420"/>
            <a:ext cx="5306100" cy="1164300"/>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714375" y="3626770"/>
            <a:ext cx="5306100" cy="1164300"/>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714375" y="2236120"/>
            <a:ext cx="5306100" cy="1164300"/>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 name="Google Shape;143;p7"/>
          <p:cNvGrpSpPr/>
          <p:nvPr/>
        </p:nvGrpSpPr>
        <p:grpSpPr>
          <a:xfrm>
            <a:off x="1200150" y="5137808"/>
            <a:ext cx="3991500" cy="801000"/>
            <a:chOff x="1200150" y="4178038"/>
            <a:chExt cx="3991500" cy="801000"/>
          </a:xfrm>
        </p:grpSpPr>
        <p:sp>
          <p:nvSpPr>
            <p:cNvPr id="144" name="Google Shape;144;p7"/>
            <p:cNvSpPr/>
            <p:nvPr/>
          </p:nvSpPr>
          <p:spPr>
            <a:xfrm>
              <a:off x="1200150" y="4178038"/>
              <a:ext cx="3991500" cy="801000"/>
            </a:xfrm>
            <a:prstGeom prst="rect">
              <a:avLst/>
            </a:prstGeom>
            <a:solidFill>
              <a:srgbClr val="00BFFF">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2435181" y="4488439"/>
              <a:ext cx="1553700" cy="199800"/>
            </a:xfrm>
            <a:prstGeom prst="rect">
              <a:avLst/>
            </a:prstGeom>
            <a:noFill/>
            <a:ln>
              <a:noFill/>
            </a:ln>
          </p:spPr>
          <p:txBody>
            <a:bodyPr anchorCtr="0" anchor="ctr" bIns="0" lIns="0" spcFirstLastPara="1" rIns="0" wrap="square" tIns="0">
              <a:noAutofit/>
            </a:bodyPr>
            <a:lstStyle/>
            <a:p>
              <a:pPr indent="0" lvl="0" marL="0" marR="0" rtl="0" algn="ctr">
                <a:lnSpc>
                  <a:spcPct val="104933"/>
                </a:lnSpc>
                <a:spcBef>
                  <a:spcPts val="0"/>
                </a:spcBef>
                <a:spcAft>
                  <a:spcPts val="0"/>
                </a:spcAft>
                <a:buNone/>
              </a:pPr>
              <a:r>
                <a:rPr b="1" i="0" lang="en-US" sz="1700" u="none" cap="none" strike="noStrike">
                  <a:solidFill>
                    <a:srgbClr val="FFFFFF"/>
                  </a:solidFill>
                </a:rPr>
                <a:t>No framework</a:t>
              </a:r>
              <a:endParaRPr b="1" i="0" sz="2000" u="none" cap="none" strike="noStrike">
                <a:solidFill>
                  <a:srgbClr val="000000"/>
                </a:solidFill>
                <a:latin typeface="Calibri"/>
                <a:ea typeface="Calibri"/>
                <a:cs typeface="Calibri"/>
                <a:sym typeface="Calibri"/>
              </a:endParaRPr>
            </a:p>
          </p:txBody>
        </p:sp>
      </p:grpSp>
      <p:grpSp>
        <p:nvGrpSpPr>
          <p:cNvPr id="146" name="Google Shape;146;p7"/>
          <p:cNvGrpSpPr/>
          <p:nvPr/>
        </p:nvGrpSpPr>
        <p:grpSpPr>
          <a:xfrm>
            <a:off x="1200150" y="3874863"/>
            <a:ext cx="1185000" cy="798300"/>
            <a:chOff x="1200150" y="2915093"/>
            <a:chExt cx="1185000" cy="798300"/>
          </a:xfrm>
        </p:grpSpPr>
        <p:sp>
          <p:nvSpPr>
            <p:cNvPr id="147" name="Google Shape;147;p7"/>
            <p:cNvSpPr/>
            <p:nvPr/>
          </p:nvSpPr>
          <p:spPr>
            <a:xfrm>
              <a:off x="1200150" y="2915093"/>
              <a:ext cx="1185000" cy="798300"/>
            </a:xfrm>
            <a:prstGeom prst="rect">
              <a:avLst/>
            </a:prstGeom>
            <a:solidFill>
              <a:srgbClr val="FFD7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1392062" y="3203648"/>
              <a:ext cx="809700" cy="199800"/>
            </a:xfrm>
            <a:prstGeom prst="rect">
              <a:avLst/>
            </a:prstGeom>
            <a:noFill/>
            <a:ln>
              <a:noFill/>
            </a:ln>
          </p:spPr>
          <p:txBody>
            <a:bodyPr anchorCtr="0" anchor="ctr" bIns="0" lIns="0" spcFirstLastPara="1" rIns="0" wrap="square" tIns="0">
              <a:noAutofit/>
            </a:bodyPr>
            <a:lstStyle/>
            <a:p>
              <a:pPr indent="0" lvl="0" marL="0" marR="0" rtl="0" algn="ctr">
                <a:lnSpc>
                  <a:spcPct val="104963"/>
                </a:lnSpc>
                <a:spcBef>
                  <a:spcPts val="0"/>
                </a:spcBef>
                <a:spcAft>
                  <a:spcPts val="0"/>
                </a:spcAft>
                <a:buNone/>
              </a:pPr>
              <a:r>
                <a:rPr b="0" i="0" lang="en-US" sz="1550" u="none" cap="none" strike="noStrike">
                  <a:solidFill>
                    <a:srgbClr val="FFFFFF"/>
                  </a:solidFill>
                  <a:latin typeface="Arial"/>
                  <a:ea typeface="Arial"/>
                  <a:cs typeface="Arial"/>
                  <a:sym typeface="Arial"/>
                </a:rPr>
                <a:t>OpenAI Agents SDK</a:t>
              </a:r>
              <a:endParaRPr b="0" i="0" sz="2000" u="none" cap="none" strike="noStrike">
                <a:solidFill>
                  <a:srgbClr val="000000"/>
                </a:solidFill>
                <a:latin typeface="Calibri"/>
                <a:ea typeface="Calibri"/>
                <a:cs typeface="Calibri"/>
                <a:sym typeface="Calibri"/>
              </a:endParaRPr>
            </a:p>
          </p:txBody>
        </p:sp>
      </p:grpSp>
      <p:grpSp>
        <p:nvGrpSpPr>
          <p:cNvPr id="149" name="Google Shape;149;p7"/>
          <p:cNvGrpSpPr/>
          <p:nvPr/>
        </p:nvGrpSpPr>
        <p:grpSpPr>
          <a:xfrm>
            <a:off x="1200150" y="2483770"/>
            <a:ext cx="1839600" cy="801000"/>
            <a:chOff x="1200150" y="1524000"/>
            <a:chExt cx="1839600" cy="801000"/>
          </a:xfrm>
        </p:grpSpPr>
        <p:sp>
          <p:nvSpPr>
            <p:cNvPr id="150" name="Google Shape;150;p7"/>
            <p:cNvSpPr/>
            <p:nvPr/>
          </p:nvSpPr>
          <p:spPr>
            <a:xfrm>
              <a:off x="1200150" y="1524000"/>
              <a:ext cx="1839600" cy="801000"/>
            </a:xfrm>
            <a:prstGeom prst="rect">
              <a:avLst/>
            </a:prstGeom>
            <a:solidFill>
              <a:srgbClr val="FF78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1343025" y="1828682"/>
              <a:ext cx="1553700" cy="199800"/>
            </a:xfrm>
            <a:prstGeom prst="rect">
              <a:avLst/>
            </a:prstGeom>
            <a:noFill/>
            <a:ln>
              <a:noFill/>
            </a:ln>
          </p:spPr>
          <p:txBody>
            <a:bodyPr anchorCtr="0" anchor="ctr" bIns="0" lIns="0" spcFirstLastPara="1" rIns="0" wrap="square" tIns="0">
              <a:noAutofit/>
            </a:bodyPr>
            <a:lstStyle/>
            <a:p>
              <a:pPr indent="0" lvl="0" marL="0" marR="0" rtl="0" algn="ctr">
                <a:lnSpc>
                  <a:spcPct val="104933"/>
                </a:lnSpc>
                <a:spcBef>
                  <a:spcPts val="0"/>
                </a:spcBef>
                <a:spcAft>
                  <a:spcPts val="0"/>
                </a:spcAft>
                <a:buNone/>
              </a:pPr>
              <a:r>
                <a:rPr lang="en-US" sz="1700">
                  <a:solidFill>
                    <a:srgbClr val="FFFFFF"/>
                  </a:solidFill>
                </a:rPr>
                <a:t>CrewAI</a:t>
              </a:r>
              <a:endParaRPr b="0" i="0" sz="2000" u="none" cap="none" strike="noStrike">
                <a:solidFill>
                  <a:srgbClr val="000000"/>
                </a:solidFill>
                <a:latin typeface="Calibri"/>
                <a:ea typeface="Calibri"/>
                <a:cs typeface="Calibri"/>
                <a:sym typeface="Calibri"/>
              </a:endParaRPr>
            </a:p>
          </p:txBody>
        </p:sp>
      </p:grpSp>
      <p:grpSp>
        <p:nvGrpSpPr>
          <p:cNvPr id="152" name="Google Shape;152;p7"/>
          <p:cNvGrpSpPr/>
          <p:nvPr/>
        </p:nvGrpSpPr>
        <p:grpSpPr>
          <a:xfrm>
            <a:off x="3371849" y="2483770"/>
            <a:ext cx="1839600" cy="801000"/>
            <a:chOff x="3371849" y="1524000"/>
            <a:chExt cx="1839600" cy="801000"/>
          </a:xfrm>
        </p:grpSpPr>
        <p:sp>
          <p:nvSpPr>
            <p:cNvPr id="153" name="Google Shape;153;p7"/>
            <p:cNvSpPr/>
            <p:nvPr/>
          </p:nvSpPr>
          <p:spPr>
            <a:xfrm>
              <a:off x="3371849" y="1524000"/>
              <a:ext cx="1839600" cy="801000"/>
            </a:xfrm>
            <a:prstGeom prst="rect">
              <a:avLst/>
            </a:prstGeom>
            <a:solidFill>
              <a:srgbClr val="FF78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3514725" y="1828682"/>
              <a:ext cx="1553700" cy="199800"/>
            </a:xfrm>
            <a:prstGeom prst="rect">
              <a:avLst/>
            </a:prstGeom>
            <a:noFill/>
            <a:ln>
              <a:noFill/>
            </a:ln>
          </p:spPr>
          <p:txBody>
            <a:bodyPr anchorCtr="0" anchor="ctr" bIns="0" lIns="0" spcFirstLastPara="1" rIns="0" wrap="square" tIns="0">
              <a:noAutofit/>
            </a:bodyPr>
            <a:lstStyle/>
            <a:p>
              <a:pPr indent="0" lvl="0" marL="0" marR="0" rtl="0" algn="ctr">
                <a:lnSpc>
                  <a:spcPct val="104933"/>
                </a:lnSpc>
                <a:spcBef>
                  <a:spcPts val="0"/>
                </a:spcBef>
                <a:spcAft>
                  <a:spcPts val="0"/>
                </a:spcAft>
                <a:buNone/>
              </a:pPr>
              <a:r>
                <a:rPr lang="en-US" sz="1700">
                  <a:solidFill>
                    <a:srgbClr val="FFFFFF"/>
                  </a:solidFill>
                </a:rPr>
                <a:t>LangGraph / LangChain</a:t>
              </a:r>
              <a:endParaRPr b="0" i="0" sz="2000" u="none" cap="none" strike="noStrike">
                <a:solidFill>
                  <a:srgbClr val="000000"/>
                </a:solidFill>
                <a:latin typeface="Calibri"/>
                <a:ea typeface="Calibri"/>
                <a:cs typeface="Calibri"/>
                <a:sym typeface="Calibri"/>
              </a:endParaRPr>
            </a:p>
          </p:txBody>
        </p:sp>
      </p:grpSp>
      <p:grpSp>
        <p:nvGrpSpPr>
          <p:cNvPr id="155" name="Google Shape;155;p7"/>
          <p:cNvGrpSpPr/>
          <p:nvPr/>
        </p:nvGrpSpPr>
        <p:grpSpPr>
          <a:xfrm>
            <a:off x="2635050" y="3872020"/>
            <a:ext cx="1185000" cy="798300"/>
            <a:chOff x="2635050" y="2912250"/>
            <a:chExt cx="1185000" cy="798300"/>
          </a:xfrm>
        </p:grpSpPr>
        <p:sp>
          <p:nvSpPr>
            <p:cNvPr id="156" name="Google Shape;156;p7"/>
            <p:cNvSpPr/>
            <p:nvPr/>
          </p:nvSpPr>
          <p:spPr>
            <a:xfrm>
              <a:off x="2635050" y="2912250"/>
              <a:ext cx="1185000" cy="798300"/>
            </a:xfrm>
            <a:prstGeom prst="rect">
              <a:avLst/>
            </a:prstGeom>
            <a:solidFill>
              <a:srgbClr val="FFD7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2811131" y="3203648"/>
              <a:ext cx="809700" cy="199800"/>
            </a:xfrm>
            <a:prstGeom prst="rect">
              <a:avLst/>
            </a:prstGeom>
            <a:noFill/>
            <a:ln>
              <a:noFill/>
            </a:ln>
          </p:spPr>
          <p:txBody>
            <a:bodyPr anchorCtr="0" anchor="ctr" bIns="0" lIns="0" spcFirstLastPara="1" rIns="0" wrap="square" tIns="0">
              <a:noAutofit/>
            </a:bodyPr>
            <a:lstStyle/>
            <a:p>
              <a:pPr indent="0" lvl="0" marL="0" marR="0" rtl="0" algn="ctr">
                <a:lnSpc>
                  <a:spcPct val="104963"/>
                </a:lnSpc>
                <a:spcBef>
                  <a:spcPts val="0"/>
                </a:spcBef>
                <a:spcAft>
                  <a:spcPts val="0"/>
                </a:spcAft>
                <a:buNone/>
              </a:pPr>
              <a:r>
                <a:rPr lang="en-US" sz="1550">
                  <a:solidFill>
                    <a:srgbClr val="FFFFFF"/>
                  </a:solidFill>
                </a:rPr>
                <a:t>Google</a:t>
              </a:r>
              <a:br>
                <a:rPr lang="en-US" sz="1550">
                  <a:solidFill>
                    <a:srgbClr val="FFFFFF"/>
                  </a:solidFill>
                </a:rPr>
              </a:br>
              <a:r>
                <a:rPr lang="en-US" sz="1550">
                  <a:solidFill>
                    <a:srgbClr val="FFFFFF"/>
                  </a:solidFill>
                </a:rPr>
                <a:t>ADK</a:t>
              </a:r>
              <a:endParaRPr b="0" i="0" sz="2000" u="none" cap="none" strike="noStrike">
                <a:solidFill>
                  <a:srgbClr val="000000"/>
                </a:solidFill>
                <a:latin typeface="Calibri"/>
                <a:ea typeface="Calibri"/>
                <a:cs typeface="Calibri"/>
                <a:sym typeface="Calibri"/>
              </a:endParaRPr>
            </a:p>
          </p:txBody>
        </p:sp>
      </p:grpSp>
      <p:grpSp>
        <p:nvGrpSpPr>
          <p:cNvPr id="158" name="Google Shape;158;p7"/>
          <p:cNvGrpSpPr/>
          <p:nvPr/>
        </p:nvGrpSpPr>
        <p:grpSpPr>
          <a:xfrm>
            <a:off x="4006650" y="3872020"/>
            <a:ext cx="1185000" cy="798300"/>
            <a:chOff x="4006650" y="2912250"/>
            <a:chExt cx="1185000" cy="798300"/>
          </a:xfrm>
        </p:grpSpPr>
        <p:sp>
          <p:nvSpPr>
            <p:cNvPr id="159" name="Google Shape;159;p7"/>
            <p:cNvSpPr/>
            <p:nvPr/>
          </p:nvSpPr>
          <p:spPr>
            <a:xfrm>
              <a:off x="4006650" y="2912250"/>
              <a:ext cx="1185000" cy="798300"/>
            </a:xfrm>
            <a:prstGeom prst="rect">
              <a:avLst/>
            </a:prstGeom>
            <a:solidFill>
              <a:srgbClr val="FFD7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4182731" y="3203648"/>
              <a:ext cx="809700" cy="199800"/>
            </a:xfrm>
            <a:prstGeom prst="rect">
              <a:avLst/>
            </a:prstGeom>
            <a:noFill/>
            <a:ln>
              <a:noFill/>
            </a:ln>
          </p:spPr>
          <p:txBody>
            <a:bodyPr anchorCtr="0" anchor="ctr" bIns="0" lIns="0" spcFirstLastPara="1" rIns="0" wrap="square" tIns="0">
              <a:noAutofit/>
            </a:bodyPr>
            <a:lstStyle/>
            <a:p>
              <a:pPr indent="0" lvl="0" marL="0" marR="0" rtl="0" algn="ctr">
                <a:lnSpc>
                  <a:spcPct val="104963"/>
                </a:lnSpc>
                <a:spcBef>
                  <a:spcPts val="0"/>
                </a:spcBef>
                <a:spcAft>
                  <a:spcPts val="0"/>
                </a:spcAft>
                <a:buNone/>
              </a:pPr>
              <a:r>
                <a:rPr lang="en-US" sz="1550">
                  <a:solidFill>
                    <a:srgbClr val="FFFFFF"/>
                  </a:solidFill>
                </a:rPr>
                <a:t>AWS Strands Agents</a:t>
              </a:r>
              <a:endParaRPr b="0" i="0" sz="2000" u="none" cap="none" strike="noStrike">
                <a:solidFill>
                  <a:srgbClr val="000000"/>
                </a:solidFill>
                <a:latin typeface="Calibri"/>
                <a:ea typeface="Calibri"/>
                <a:cs typeface="Calibri"/>
                <a:sym typeface="Calibri"/>
              </a:endParaRPr>
            </a:p>
          </p:txBody>
        </p:sp>
      </p:grpSp>
      <p:sp>
        <p:nvSpPr>
          <p:cNvPr id="161" name="Google Shape;161;p7"/>
          <p:cNvSpPr/>
          <p:nvPr/>
        </p:nvSpPr>
        <p:spPr>
          <a:xfrm>
            <a:off x="571500" y="1411510"/>
            <a:ext cx="9064800" cy="476700"/>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FFFFFF"/>
                </a:solidFill>
                <a:latin typeface="Roboto Slab"/>
                <a:ea typeface="Roboto Slab"/>
                <a:cs typeface="Roboto Slab"/>
                <a:sym typeface="Roboto Slab"/>
              </a:rPr>
              <a:t>Agent Frameworks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6" name="Shape 166"/>
        <p:cNvGrpSpPr/>
        <p:nvPr/>
      </p:nvGrpSpPr>
      <p:grpSpPr>
        <a:xfrm>
          <a:off x="0" y="0"/>
          <a:ext cx="0" cy="0"/>
          <a:chOff x="0" y="0"/>
          <a:chExt cx="0" cy="0"/>
        </a:xfrm>
      </p:grpSpPr>
      <p:sp>
        <p:nvSpPr>
          <p:cNvPr id="167" name="Google Shape;167;p8"/>
          <p:cNvSpPr txBox="1"/>
          <p:nvPr/>
        </p:nvSpPr>
        <p:spPr>
          <a:xfrm>
            <a:off x="573024" y="3543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The Spectrum of Agent Frameworks</a:t>
            </a:r>
            <a:endParaRPr sz="3300">
              <a:solidFill>
                <a:srgbClr val="FFFFFF"/>
              </a:solidFill>
              <a:latin typeface="Roboto Slab"/>
              <a:ea typeface="Roboto Slab"/>
              <a:cs typeface="Roboto Slab"/>
              <a:sym typeface="Roboto Slab"/>
            </a:endParaRPr>
          </a:p>
        </p:txBody>
      </p:sp>
      <p:sp>
        <p:nvSpPr>
          <p:cNvPr id="168" name="Google Shape;168;p8"/>
          <p:cNvSpPr txBox="1"/>
          <p:nvPr/>
        </p:nvSpPr>
        <p:spPr>
          <a:xfrm>
            <a:off x="585216" y="923544"/>
            <a:ext cx="6096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00BFFF"/>
                </a:solidFill>
                <a:latin typeface="Montserrat"/>
                <a:ea typeface="Montserrat"/>
                <a:cs typeface="Montserrat"/>
                <a:sym typeface="Montserrat"/>
              </a:rPr>
              <a:t>From a raw model call to a full agent harness</a:t>
            </a:r>
            <a:endParaRPr sz="1800">
              <a:solidFill>
                <a:srgbClr val="00BFFF"/>
              </a:solidFill>
              <a:latin typeface="Montserrat"/>
              <a:ea typeface="Montserrat"/>
              <a:cs typeface="Montserrat"/>
              <a:sym typeface="Montserrat"/>
            </a:endParaRPr>
          </a:p>
        </p:txBody>
      </p:sp>
      <p:cxnSp>
        <p:nvCxnSpPr>
          <p:cNvPr id="169" name="Google Shape;169;p8"/>
          <p:cNvCxnSpPr/>
          <p:nvPr/>
        </p:nvCxnSpPr>
        <p:spPr>
          <a:xfrm>
            <a:off x="487680" y="2051050"/>
            <a:ext cx="5364600" cy="12600"/>
          </a:xfrm>
          <a:prstGeom prst="straightConnector1">
            <a:avLst/>
          </a:prstGeom>
          <a:noFill/>
          <a:ln cap="flat" cmpd="sng" w="31750">
            <a:solidFill>
              <a:srgbClr val="FFFFFF">
                <a:alpha val="70000"/>
              </a:srgbClr>
            </a:solidFill>
            <a:prstDash val="solid"/>
            <a:round/>
            <a:headEnd len="med" w="med" type="none"/>
            <a:tailEnd len="med" w="med" type="triangle"/>
          </a:ln>
        </p:spPr>
      </p:cxnSp>
      <p:sp>
        <p:nvSpPr>
          <p:cNvPr id="170" name="Google Shape;170;p8"/>
          <p:cNvSpPr txBox="1"/>
          <p:nvPr/>
        </p:nvSpPr>
        <p:spPr>
          <a:xfrm>
            <a:off x="112067" y="1645920"/>
            <a:ext cx="2438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FFFFFF"/>
                </a:solidFill>
                <a:latin typeface="Montserrat"/>
                <a:ea typeface="Montserrat"/>
                <a:cs typeface="Montserrat"/>
                <a:sym typeface="Montserrat"/>
              </a:rPr>
              <a:t>LIGHTWEIGHT / LOW-LEVEL</a:t>
            </a:r>
            <a:endParaRPr b="1" sz="1200">
              <a:solidFill>
                <a:srgbClr val="FFFFFF"/>
              </a:solidFill>
              <a:latin typeface="Montserrat"/>
              <a:ea typeface="Montserrat"/>
              <a:cs typeface="Montserrat"/>
              <a:sym typeface="Montserrat"/>
            </a:endParaRPr>
          </a:p>
        </p:txBody>
      </p:sp>
      <p:sp>
        <p:nvSpPr>
          <p:cNvPr id="171" name="Google Shape;171;p8"/>
          <p:cNvSpPr txBox="1"/>
          <p:nvPr/>
        </p:nvSpPr>
        <p:spPr>
          <a:xfrm>
            <a:off x="3276671" y="1645925"/>
            <a:ext cx="32085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1200">
                <a:solidFill>
                  <a:srgbClr val="FFFFFF"/>
                </a:solidFill>
                <a:latin typeface="Montserrat"/>
                <a:ea typeface="Montserrat"/>
                <a:cs typeface="Montserrat"/>
                <a:sym typeface="Montserrat"/>
              </a:rPr>
              <a:t>BATTERIES INCLUDED / HIGH LEVEL</a:t>
            </a:r>
            <a:endParaRPr b="1" sz="1200">
              <a:solidFill>
                <a:srgbClr val="FFFFFF"/>
              </a:solidFill>
              <a:latin typeface="Montserrat"/>
              <a:ea typeface="Montserrat"/>
              <a:cs typeface="Montserrat"/>
              <a:sym typeface="Montserrat"/>
            </a:endParaRPr>
          </a:p>
        </p:txBody>
      </p:sp>
      <p:grpSp>
        <p:nvGrpSpPr>
          <p:cNvPr id="172" name="Google Shape;172;p8"/>
          <p:cNvGrpSpPr/>
          <p:nvPr/>
        </p:nvGrpSpPr>
        <p:grpSpPr>
          <a:xfrm>
            <a:off x="-60960" y="1992249"/>
            <a:ext cx="1584900" cy="785271"/>
            <a:chOff x="-60960" y="1992249"/>
            <a:chExt cx="1584900" cy="785271"/>
          </a:xfrm>
        </p:grpSpPr>
        <p:sp>
          <p:nvSpPr>
            <p:cNvPr id="173" name="Google Shape;173;p8"/>
            <p:cNvSpPr/>
            <p:nvPr/>
          </p:nvSpPr>
          <p:spPr>
            <a:xfrm>
              <a:off x="664464" y="1992249"/>
              <a:ext cx="134100" cy="130200"/>
            </a:xfrm>
            <a:prstGeom prst="ellipse">
              <a:avLst/>
            </a:prstGeom>
            <a:solidFill>
              <a:srgbClr val="FF78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4" name="Google Shape;174;p8"/>
            <p:cNvCxnSpPr/>
            <p:nvPr/>
          </p:nvCxnSpPr>
          <p:spPr>
            <a:xfrm>
              <a:off x="725170" y="2119122"/>
              <a:ext cx="12600" cy="212700"/>
            </a:xfrm>
            <a:prstGeom prst="straightConnector1">
              <a:avLst/>
            </a:prstGeom>
            <a:noFill/>
            <a:ln cap="flat" cmpd="sng" w="12700">
              <a:solidFill>
                <a:srgbClr val="FF7800">
                  <a:alpha val="60000"/>
                </a:srgbClr>
              </a:solidFill>
              <a:prstDash val="solid"/>
              <a:round/>
              <a:headEnd len="med" w="med" type="none"/>
              <a:tailEnd len="med" w="med" type="none"/>
            </a:ln>
          </p:spPr>
        </p:cxnSp>
        <p:sp>
          <p:nvSpPr>
            <p:cNvPr id="175" name="Google Shape;175;p8"/>
            <p:cNvSpPr txBox="1"/>
            <p:nvPr/>
          </p:nvSpPr>
          <p:spPr>
            <a:xfrm>
              <a:off x="-60960" y="2331720"/>
              <a:ext cx="15849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FF7800"/>
                  </a:solidFill>
                  <a:latin typeface="Roboto Slab"/>
                  <a:ea typeface="Roboto Slab"/>
                  <a:cs typeface="Roboto Slab"/>
                  <a:sym typeface="Roboto Slab"/>
                </a:rPr>
                <a:t>Direct LLM calls</a:t>
              </a:r>
              <a:endParaRPr b="1" sz="1100">
                <a:solidFill>
                  <a:srgbClr val="FF7800"/>
                </a:solidFill>
                <a:latin typeface="Roboto Slab"/>
                <a:ea typeface="Roboto Slab"/>
                <a:cs typeface="Roboto Slab"/>
                <a:sym typeface="Roboto Slab"/>
              </a:endParaRPr>
            </a:p>
          </p:txBody>
        </p:sp>
      </p:grpSp>
      <p:grpSp>
        <p:nvGrpSpPr>
          <p:cNvPr id="176" name="Google Shape;176;p8"/>
          <p:cNvGrpSpPr/>
          <p:nvPr/>
        </p:nvGrpSpPr>
        <p:grpSpPr>
          <a:xfrm>
            <a:off x="512064" y="1992249"/>
            <a:ext cx="1707000" cy="1813971"/>
            <a:chOff x="512064" y="1992249"/>
            <a:chExt cx="1707000" cy="1813971"/>
          </a:xfrm>
        </p:grpSpPr>
        <p:sp>
          <p:nvSpPr>
            <p:cNvPr id="177" name="Google Shape;177;p8"/>
            <p:cNvSpPr/>
            <p:nvPr/>
          </p:nvSpPr>
          <p:spPr>
            <a:xfrm>
              <a:off x="1298448"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8" name="Google Shape;178;p8"/>
            <p:cNvCxnSpPr/>
            <p:nvPr/>
          </p:nvCxnSpPr>
          <p:spPr>
            <a:xfrm>
              <a:off x="1359154" y="2119122"/>
              <a:ext cx="12600" cy="12414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79" name="Google Shape;179;p8"/>
            <p:cNvSpPr txBox="1"/>
            <p:nvPr/>
          </p:nvSpPr>
          <p:spPr>
            <a:xfrm>
              <a:off x="512064" y="3360420"/>
              <a:ext cx="17070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LangChain Core Components</a:t>
              </a:r>
              <a:endParaRPr b="1" sz="1100">
                <a:solidFill>
                  <a:srgbClr val="00BFFF"/>
                </a:solidFill>
                <a:latin typeface="Roboto Slab"/>
                <a:ea typeface="Roboto Slab"/>
                <a:cs typeface="Roboto Slab"/>
                <a:sym typeface="Roboto Slab"/>
              </a:endParaRPr>
            </a:p>
          </p:txBody>
        </p:sp>
      </p:grpSp>
      <p:grpSp>
        <p:nvGrpSpPr>
          <p:cNvPr id="180" name="Google Shape;180;p8"/>
          <p:cNvGrpSpPr/>
          <p:nvPr/>
        </p:nvGrpSpPr>
        <p:grpSpPr>
          <a:xfrm>
            <a:off x="1341120" y="1992249"/>
            <a:ext cx="1219200" cy="1299621"/>
            <a:chOff x="1341120" y="1992249"/>
            <a:chExt cx="1219200" cy="1299621"/>
          </a:xfrm>
        </p:grpSpPr>
        <p:sp>
          <p:nvSpPr>
            <p:cNvPr id="181" name="Google Shape;181;p8"/>
            <p:cNvSpPr/>
            <p:nvPr/>
          </p:nvSpPr>
          <p:spPr>
            <a:xfrm>
              <a:off x="1883664"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2" name="Google Shape;182;p8"/>
            <p:cNvCxnSpPr/>
            <p:nvPr/>
          </p:nvCxnSpPr>
          <p:spPr>
            <a:xfrm>
              <a:off x="1944370" y="2119122"/>
              <a:ext cx="12600" cy="7269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83" name="Google Shape;183;p8"/>
            <p:cNvSpPr txBox="1"/>
            <p:nvPr/>
          </p:nvSpPr>
          <p:spPr>
            <a:xfrm>
              <a:off x="1341120" y="2846070"/>
              <a:ext cx="12192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LangGraph</a:t>
              </a:r>
              <a:endParaRPr b="1" sz="1100">
                <a:solidFill>
                  <a:srgbClr val="00BFFF"/>
                </a:solidFill>
                <a:latin typeface="Roboto Slab"/>
                <a:ea typeface="Roboto Slab"/>
                <a:cs typeface="Roboto Slab"/>
                <a:sym typeface="Roboto Slab"/>
              </a:endParaRPr>
            </a:p>
          </p:txBody>
        </p:sp>
      </p:grpSp>
      <p:sp>
        <p:nvSpPr>
          <p:cNvPr id="184" name="Google Shape;184;p8"/>
          <p:cNvSpPr/>
          <p:nvPr/>
        </p:nvSpPr>
        <p:spPr>
          <a:xfrm>
            <a:off x="2420112"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5" name="Google Shape;185;p8"/>
          <p:cNvCxnSpPr/>
          <p:nvPr/>
        </p:nvCxnSpPr>
        <p:spPr>
          <a:xfrm>
            <a:off x="2480818" y="2119122"/>
            <a:ext cx="12600" cy="2127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86" name="Google Shape;186;p8"/>
          <p:cNvSpPr txBox="1"/>
          <p:nvPr/>
        </p:nvSpPr>
        <p:spPr>
          <a:xfrm>
            <a:off x="1816608" y="2331720"/>
            <a:ext cx="13410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Strands Agents</a:t>
            </a:r>
            <a:endParaRPr b="1" sz="1100">
              <a:solidFill>
                <a:srgbClr val="00BFFF"/>
              </a:solidFill>
              <a:latin typeface="Roboto Slab"/>
              <a:ea typeface="Roboto Slab"/>
              <a:cs typeface="Roboto Slab"/>
              <a:sym typeface="Roboto Slab"/>
            </a:endParaRPr>
          </a:p>
        </p:txBody>
      </p:sp>
      <p:sp>
        <p:nvSpPr>
          <p:cNvPr id="187" name="Google Shape;187;p8"/>
          <p:cNvSpPr/>
          <p:nvPr/>
        </p:nvSpPr>
        <p:spPr>
          <a:xfrm>
            <a:off x="4273296"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8" name="Google Shape;188;p8"/>
          <p:cNvCxnSpPr/>
          <p:nvPr/>
        </p:nvCxnSpPr>
        <p:spPr>
          <a:xfrm>
            <a:off x="4334002" y="2119122"/>
            <a:ext cx="12600" cy="12414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89" name="Google Shape;189;p8"/>
          <p:cNvSpPr txBox="1"/>
          <p:nvPr/>
        </p:nvSpPr>
        <p:spPr>
          <a:xfrm>
            <a:off x="3791712" y="3360420"/>
            <a:ext cx="10974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CrewAI</a:t>
            </a:r>
            <a:endParaRPr b="1" sz="1100">
              <a:solidFill>
                <a:srgbClr val="00BFFF"/>
              </a:solidFill>
              <a:latin typeface="Roboto Slab"/>
              <a:ea typeface="Roboto Slab"/>
              <a:cs typeface="Roboto Slab"/>
              <a:sym typeface="Roboto Slab"/>
            </a:endParaRPr>
          </a:p>
        </p:txBody>
      </p:sp>
      <p:sp>
        <p:nvSpPr>
          <p:cNvPr id="190" name="Google Shape;190;p8"/>
          <p:cNvSpPr/>
          <p:nvPr/>
        </p:nvSpPr>
        <p:spPr>
          <a:xfrm>
            <a:off x="4956048" y="1992249"/>
            <a:ext cx="134100" cy="1302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1" name="Google Shape;191;p8"/>
          <p:cNvCxnSpPr/>
          <p:nvPr/>
        </p:nvCxnSpPr>
        <p:spPr>
          <a:xfrm>
            <a:off x="5016754" y="2119122"/>
            <a:ext cx="12600" cy="726900"/>
          </a:xfrm>
          <a:prstGeom prst="straightConnector1">
            <a:avLst/>
          </a:prstGeom>
          <a:noFill/>
          <a:ln cap="flat" cmpd="sng" w="12700">
            <a:solidFill>
              <a:srgbClr val="FFD700">
                <a:alpha val="60000"/>
              </a:srgbClr>
            </a:solidFill>
            <a:prstDash val="solid"/>
            <a:round/>
            <a:headEnd len="med" w="med" type="none"/>
            <a:tailEnd len="med" w="med" type="none"/>
          </a:ln>
        </p:spPr>
      </p:cxnSp>
      <p:sp>
        <p:nvSpPr>
          <p:cNvPr id="192" name="Google Shape;192;p8"/>
          <p:cNvSpPr txBox="1"/>
          <p:nvPr/>
        </p:nvSpPr>
        <p:spPr>
          <a:xfrm>
            <a:off x="4230624" y="2846070"/>
            <a:ext cx="15849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FFD700"/>
                </a:solidFill>
                <a:latin typeface="Roboto Slab"/>
                <a:ea typeface="Roboto Slab"/>
                <a:cs typeface="Roboto Slab"/>
                <a:sym typeface="Roboto Slab"/>
              </a:rPr>
              <a:t>LangChain Deep Agents</a:t>
            </a:r>
            <a:endParaRPr b="1" sz="1100">
              <a:solidFill>
                <a:srgbClr val="FFD700"/>
              </a:solidFill>
              <a:latin typeface="Roboto Slab"/>
              <a:ea typeface="Roboto Slab"/>
              <a:cs typeface="Roboto Slab"/>
              <a:sym typeface="Roboto Slab"/>
            </a:endParaRPr>
          </a:p>
        </p:txBody>
      </p:sp>
      <p:sp>
        <p:nvSpPr>
          <p:cNvPr id="193" name="Google Shape;193;p8"/>
          <p:cNvSpPr/>
          <p:nvPr/>
        </p:nvSpPr>
        <p:spPr>
          <a:xfrm>
            <a:off x="5426845" y="1992249"/>
            <a:ext cx="134100" cy="1302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4" name="Google Shape;194;p8"/>
          <p:cNvCxnSpPr/>
          <p:nvPr/>
        </p:nvCxnSpPr>
        <p:spPr>
          <a:xfrm>
            <a:off x="5487551" y="2119122"/>
            <a:ext cx="12600" cy="212700"/>
          </a:xfrm>
          <a:prstGeom prst="straightConnector1">
            <a:avLst/>
          </a:prstGeom>
          <a:noFill/>
          <a:ln cap="flat" cmpd="sng" w="12700">
            <a:solidFill>
              <a:srgbClr val="FFD700">
                <a:alpha val="60000"/>
              </a:srgbClr>
            </a:solidFill>
            <a:prstDash val="solid"/>
            <a:round/>
            <a:headEnd len="med" w="med" type="none"/>
            <a:tailEnd len="med" w="med" type="none"/>
          </a:ln>
        </p:spPr>
      </p:cxnSp>
      <p:sp>
        <p:nvSpPr>
          <p:cNvPr id="195" name="Google Shape;195;p8"/>
          <p:cNvSpPr txBox="1"/>
          <p:nvPr/>
        </p:nvSpPr>
        <p:spPr>
          <a:xfrm>
            <a:off x="5034126" y="2331720"/>
            <a:ext cx="14631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FFD700"/>
                </a:solidFill>
                <a:latin typeface="Roboto Slab"/>
                <a:ea typeface="Roboto Slab"/>
                <a:cs typeface="Roboto Slab"/>
                <a:sym typeface="Roboto Slab"/>
              </a:rPr>
              <a:t>Claude Agent SDK</a:t>
            </a:r>
            <a:endParaRPr b="1" sz="1100">
              <a:solidFill>
                <a:srgbClr val="FFD700"/>
              </a:solidFill>
              <a:latin typeface="Roboto Slab"/>
              <a:ea typeface="Roboto Slab"/>
              <a:cs typeface="Roboto Slab"/>
              <a:sym typeface="Roboto Slab"/>
            </a:endParaRPr>
          </a:p>
        </p:txBody>
      </p:sp>
      <p:cxnSp>
        <p:nvCxnSpPr>
          <p:cNvPr id="196" name="Google Shape;196;p8"/>
          <p:cNvCxnSpPr/>
          <p:nvPr/>
        </p:nvCxnSpPr>
        <p:spPr>
          <a:xfrm>
            <a:off x="3261106" y="2119122"/>
            <a:ext cx="12600" cy="18585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97" name="Google Shape;197;p8"/>
          <p:cNvSpPr/>
          <p:nvPr/>
        </p:nvSpPr>
        <p:spPr>
          <a:xfrm>
            <a:off x="3200400"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8" name="Google Shape;198;p8"/>
          <p:cNvGrpSpPr/>
          <p:nvPr/>
        </p:nvGrpSpPr>
        <p:grpSpPr>
          <a:xfrm>
            <a:off x="1438656" y="3977640"/>
            <a:ext cx="3657600" cy="2126100"/>
            <a:chOff x="1438656" y="3977640"/>
            <a:chExt cx="3657600" cy="2126100"/>
          </a:xfrm>
        </p:grpSpPr>
        <p:sp>
          <p:nvSpPr>
            <p:cNvPr id="199" name="Google Shape;199;p8"/>
            <p:cNvSpPr/>
            <p:nvPr/>
          </p:nvSpPr>
          <p:spPr>
            <a:xfrm>
              <a:off x="1438656" y="3977640"/>
              <a:ext cx="3657600" cy="2126100"/>
            </a:xfrm>
            <a:prstGeom prst="roundRect">
              <a:avLst>
                <a:gd fmla="val 16667" name="adj"/>
              </a:avLst>
            </a:prstGeom>
            <a:solidFill>
              <a:srgbClr val="00BFFF">
                <a:alpha val="12000"/>
              </a:srgbClr>
            </a:solidFill>
            <a:ln cap="flat" cmpd="sng" w="12700">
              <a:solidFill>
                <a:srgbClr val="00BFFF">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8"/>
            <p:cNvSpPr txBox="1"/>
            <p:nvPr/>
          </p:nvSpPr>
          <p:spPr>
            <a:xfrm>
              <a:off x="1438656" y="4080510"/>
              <a:ext cx="3657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rgbClr val="B2B2B2"/>
                  </a:solidFill>
                  <a:latin typeface="Montserrat"/>
                  <a:ea typeface="Montserrat"/>
                  <a:cs typeface="Montserrat"/>
                  <a:sym typeface="Montserrat"/>
                </a:rPr>
                <a:t>Most general-purpose frameworks land here</a:t>
              </a:r>
              <a:endParaRPr sz="1100">
                <a:solidFill>
                  <a:srgbClr val="B2B2B2"/>
                </a:solidFill>
                <a:latin typeface="Montserrat"/>
                <a:ea typeface="Montserrat"/>
                <a:cs typeface="Montserrat"/>
                <a:sym typeface="Montserrat"/>
              </a:endParaRPr>
            </a:p>
          </p:txBody>
        </p:sp>
        <p:sp>
          <p:nvSpPr>
            <p:cNvPr id="201" name="Google Shape;201;p8"/>
            <p:cNvSpPr txBox="1"/>
            <p:nvPr/>
          </p:nvSpPr>
          <p:spPr>
            <a:xfrm>
              <a:off x="1438656" y="44919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OpenAI Agents SDK</a:t>
              </a:r>
              <a:endParaRPr b="1" sz="1000">
                <a:solidFill>
                  <a:srgbClr val="00BFFF"/>
                </a:solidFill>
                <a:latin typeface="Roboto Slab"/>
                <a:ea typeface="Roboto Slab"/>
                <a:cs typeface="Roboto Slab"/>
                <a:sym typeface="Roboto Slab"/>
              </a:endParaRPr>
            </a:p>
          </p:txBody>
        </p:sp>
        <p:sp>
          <p:nvSpPr>
            <p:cNvPr id="202" name="Google Shape;202;p8"/>
            <p:cNvSpPr txBox="1"/>
            <p:nvPr/>
          </p:nvSpPr>
          <p:spPr>
            <a:xfrm>
              <a:off x="3267456" y="44919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LangChain create_agent</a:t>
              </a:r>
              <a:endParaRPr b="1" sz="1000">
                <a:solidFill>
                  <a:srgbClr val="00BFFF"/>
                </a:solidFill>
                <a:latin typeface="Roboto Slab"/>
                <a:ea typeface="Roboto Slab"/>
                <a:cs typeface="Roboto Slab"/>
                <a:sym typeface="Roboto Slab"/>
              </a:endParaRPr>
            </a:p>
          </p:txBody>
        </p:sp>
        <p:sp>
          <p:nvSpPr>
            <p:cNvPr id="203" name="Google Shape;203;p8"/>
            <p:cNvSpPr txBox="1"/>
            <p:nvPr/>
          </p:nvSpPr>
          <p:spPr>
            <a:xfrm>
              <a:off x="1438656" y="500634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Google ADK</a:t>
              </a:r>
              <a:endParaRPr b="1" sz="1000">
                <a:solidFill>
                  <a:srgbClr val="00BFFF"/>
                </a:solidFill>
                <a:latin typeface="Roboto Slab"/>
                <a:ea typeface="Roboto Slab"/>
                <a:cs typeface="Roboto Slab"/>
                <a:sym typeface="Roboto Slab"/>
              </a:endParaRPr>
            </a:p>
          </p:txBody>
        </p:sp>
        <p:sp>
          <p:nvSpPr>
            <p:cNvPr id="204" name="Google Shape;204;p8"/>
            <p:cNvSpPr txBox="1"/>
            <p:nvPr/>
          </p:nvSpPr>
          <p:spPr>
            <a:xfrm>
              <a:off x="3267456" y="500634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Agno</a:t>
              </a:r>
              <a:endParaRPr b="1" sz="1000">
                <a:solidFill>
                  <a:srgbClr val="00BFFF"/>
                </a:solidFill>
                <a:latin typeface="Roboto Slab"/>
                <a:ea typeface="Roboto Slab"/>
                <a:cs typeface="Roboto Slab"/>
                <a:sym typeface="Roboto Slab"/>
              </a:endParaRPr>
            </a:p>
          </p:txBody>
        </p:sp>
        <p:sp>
          <p:nvSpPr>
            <p:cNvPr id="205" name="Google Shape;205;p8"/>
            <p:cNvSpPr txBox="1"/>
            <p:nvPr/>
          </p:nvSpPr>
          <p:spPr>
            <a:xfrm>
              <a:off x="1438656" y="55206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Mastra</a:t>
              </a:r>
              <a:endParaRPr b="1" sz="1000">
                <a:solidFill>
                  <a:srgbClr val="00BFFF"/>
                </a:solidFill>
                <a:latin typeface="Roboto Slab"/>
                <a:ea typeface="Roboto Slab"/>
                <a:cs typeface="Roboto Slab"/>
                <a:sym typeface="Roboto Slab"/>
              </a:endParaRPr>
            </a:p>
          </p:txBody>
        </p:sp>
        <p:sp>
          <p:nvSpPr>
            <p:cNvPr id="206" name="Google Shape;206;p8"/>
            <p:cNvSpPr txBox="1"/>
            <p:nvPr/>
          </p:nvSpPr>
          <p:spPr>
            <a:xfrm>
              <a:off x="3267456" y="55206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Pydantic AI</a:t>
              </a:r>
              <a:endParaRPr b="1" sz="1000">
                <a:solidFill>
                  <a:srgbClr val="00BFFF"/>
                </a:solidFill>
                <a:latin typeface="Roboto Slab"/>
                <a:ea typeface="Roboto Slab"/>
                <a:cs typeface="Roboto Slab"/>
                <a:sym typeface="Roboto Slab"/>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1" name="Shape 211"/>
        <p:cNvGrpSpPr/>
        <p:nvPr/>
      </p:nvGrpSpPr>
      <p:grpSpPr>
        <a:xfrm>
          <a:off x="0" y="0"/>
          <a:ext cx="0" cy="0"/>
          <a:chOff x="0" y="0"/>
          <a:chExt cx="0" cy="0"/>
        </a:xfrm>
      </p:grpSpPr>
      <p:sp>
        <p:nvSpPr>
          <p:cNvPr id="212" name="Google Shape;212;p9"/>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Claude Agent SDK</a:t>
            </a:r>
            <a:endParaRPr sz="3300">
              <a:solidFill>
                <a:srgbClr val="FFFFFF"/>
              </a:solidFill>
              <a:latin typeface="Roboto Slab"/>
              <a:ea typeface="Roboto Slab"/>
              <a:cs typeface="Roboto Slab"/>
              <a:sym typeface="Roboto Slab"/>
            </a:endParaRPr>
          </a:p>
        </p:txBody>
      </p:sp>
      <p:sp>
        <p:nvSpPr>
          <p:cNvPr id="213" name="Google Shape;213;p9"/>
          <p:cNvSpPr txBox="1"/>
          <p:nvPr/>
        </p:nvSpPr>
        <p:spPr>
          <a:xfrm>
            <a:off x="585216" y="1152144"/>
            <a:ext cx="5730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FFD700"/>
                </a:solidFill>
                <a:latin typeface="Montserrat"/>
                <a:ea typeface="Montserrat"/>
                <a:cs typeface="Montserrat"/>
                <a:sym typeface="Montserrat"/>
              </a:rPr>
              <a:t>An SDK to programmatically drive Claude Code</a:t>
            </a:r>
            <a:endParaRPr sz="1800">
              <a:solidFill>
                <a:srgbClr val="FFD700"/>
              </a:solidFill>
              <a:latin typeface="Montserrat"/>
              <a:ea typeface="Montserrat"/>
              <a:cs typeface="Montserrat"/>
              <a:sym typeface="Montserrat"/>
            </a:endParaRPr>
          </a:p>
        </p:txBody>
      </p:sp>
      <p:sp>
        <p:nvSpPr>
          <p:cNvPr id="214" name="Google Shape;214;p9"/>
          <p:cNvSpPr/>
          <p:nvPr/>
        </p:nvSpPr>
        <p:spPr>
          <a:xfrm>
            <a:off x="573024" y="1680210"/>
            <a:ext cx="1463100" cy="411600"/>
          </a:xfrm>
          <a:prstGeom prst="roundRect">
            <a:avLst>
              <a:gd fmla="val 16667" name="adj"/>
            </a:avLst>
          </a:prstGeom>
          <a:noFill/>
          <a:ln cap="flat" cmpd="sng" w="19050">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solidFill>
                  <a:srgbClr val="FFD700"/>
                </a:solidFill>
                <a:latin typeface="Roboto Mono"/>
                <a:ea typeface="Roboto Mono"/>
                <a:cs typeface="Roboto Mono"/>
                <a:sym typeface="Roboto Mono"/>
              </a:rPr>
              <a:t>query()</a:t>
            </a:r>
            <a:endParaRPr b="1" sz="1800">
              <a:solidFill>
                <a:srgbClr val="FFD700"/>
              </a:solidFill>
              <a:latin typeface="Roboto Mono"/>
              <a:ea typeface="Roboto Mono"/>
              <a:cs typeface="Roboto Mono"/>
              <a:sym typeface="Roboto Mono"/>
            </a:endParaRPr>
          </a:p>
        </p:txBody>
      </p:sp>
      <p:sp>
        <p:nvSpPr>
          <p:cNvPr id="215" name="Google Shape;215;p9"/>
          <p:cNvSpPr/>
          <p:nvPr/>
        </p:nvSpPr>
        <p:spPr>
          <a:xfrm>
            <a:off x="573024" y="2263140"/>
            <a:ext cx="54900" cy="1028700"/>
          </a:xfrm>
          <a:prstGeom prst="rect">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9"/>
          <p:cNvSpPr txBox="1"/>
          <p:nvPr/>
        </p:nvSpPr>
        <p:spPr>
          <a:xfrm>
            <a:off x="755904" y="2263140"/>
            <a:ext cx="5486400" cy="10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Roboto Slab"/>
                <a:ea typeface="Roboto Slab"/>
                <a:cs typeface="Roboto Slab"/>
                <a:sym typeface="Roboto Slab"/>
              </a:rPr>
              <a:t>“Build AI agents that autonomously read files, run commands, search the web, edit code, and more. The Agent SDK gives you the same tools, agent loop, and context management that power Claude Code, programmable in Python and TypeScript.”</a:t>
            </a:r>
            <a:endParaRPr>
              <a:solidFill>
                <a:srgbClr val="FFFFFF"/>
              </a:solidFill>
              <a:latin typeface="Roboto Slab"/>
              <a:ea typeface="Roboto Slab"/>
              <a:cs typeface="Roboto Slab"/>
              <a:sym typeface="Roboto Slab"/>
            </a:endParaRPr>
          </a:p>
        </p:txBody>
      </p:sp>
      <p:sp>
        <p:nvSpPr>
          <p:cNvPr id="217" name="Google Shape;217;p9"/>
          <p:cNvSpPr/>
          <p:nvPr/>
        </p:nvSpPr>
        <p:spPr>
          <a:xfrm>
            <a:off x="573024" y="3497580"/>
            <a:ext cx="54900" cy="822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9"/>
          <p:cNvSpPr txBox="1"/>
          <p:nvPr/>
        </p:nvSpPr>
        <p:spPr>
          <a:xfrm>
            <a:off x="755904" y="3497580"/>
            <a:ext cx="5486400" cy="8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Roboto Slab"/>
                <a:ea typeface="Roboto Slab"/>
                <a:cs typeface="Roboto Slab"/>
                <a:sym typeface="Roboto Slab"/>
              </a:rPr>
              <a:t>“The Agent SDK includes built-in tools for reading files, running commands, and editing code, so your agent can start working immediately.”</a:t>
            </a:r>
            <a:endParaRPr>
              <a:solidFill>
                <a:srgbClr val="FFFFFF"/>
              </a:solidFill>
              <a:latin typeface="Roboto Slab"/>
              <a:ea typeface="Roboto Slab"/>
              <a:cs typeface="Roboto Slab"/>
              <a:sym typeface="Roboto Slab"/>
            </a:endParaRPr>
          </a:p>
        </p:txBody>
      </p:sp>
      <p:sp>
        <p:nvSpPr>
          <p:cNvPr id="219" name="Google Shape;219;p9"/>
          <p:cNvSpPr txBox="1"/>
          <p:nvPr/>
        </p:nvSpPr>
        <p:spPr>
          <a:xfrm>
            <a:off x="573024" y="4800600"/>
            <a:ext cx="5730300" cy="8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50">
                <a:solidFill>
                  <a:srgbClr val="FFFFFF"/>
                </a:solidFill>
                <a:latin typeface="Roboto Slab"/>
                <a:ea typeface="Roboto Slab"/>
                <a:cs typeface="Roboto Slab"/>
                <a:sym typeface="Roboto Slab"/>
              </a:rPr>
              <a:t>This is the least similar to an Agent Framework</a:t>
            </a:r>
            <a:endParaRPr sz="1650">
              <a:solidFill>
                <a:srgbClr val="FFFFFF"/>
              </a:solidFill>
              <a:latin typeface="Roboto Slab"/>
              <a:ea typeface="Roboto Slab"/>
              <a:cs typeface="Roboto Slab"/>
              <a:sym typeface="Roboto Slab"/>
            </a:endParaRPr>
          </a:p>
          <a:p>
            <a:pPr indent="0" lvl="0" marL="0" rtl="0" algn="l">
              <a:spcBef>
                <a:spcPts val="0"/>
              </a:spcBef>
              <a:spcAft>
                <a:spcPts val="0"/>
              </a:spcAft>
              <a:buNone/>
            </a:pPr>
            <a:r>
              <a:rPr b="1" lang="en-US" sz="1650">
                <a:solidFill>
                  <a:srgbClr val="FFD700"/>
                </a:solidFill>
                <a:latin typeface="Roboto Slab"/>
                <a:ea typeface="Roboto Slab"/>
                <a:cs typeface="Roboto Slab"/>
                <a:sym typeface="Roboto Slab"/>
              </a:rPr>
              <a:t>in most cases you’re likely to use Claude Code directly</a:t>
            </a:r>
            <a:endParaRPr b="1" sz="1650">
              <a:solidFill>
                <a:srgbClr val="FFD700"/>
              </a:solidFill>
              <a:latin typeface="Roboto Slab"/>
              <a:ea typeface="Roboto Slab"/>
              <a:cs typeface="Roboto Slab"/>
              <a:sym typeface="Roboto Slab"/>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4" name="Shape 224"/>
        <p:cNvGrpSpPr/>
        <p:nvPr/>
      </p:nvGrpSpPr>
      <p:grpSpPr>
        <a:xfrm>
          <a:off x="0" y="0"/>
          <a:ext cx="0" cy="0"/>
          <a:chOff x="0" y="0"/>
          <a:chExt cx="0" cy="0"/>
        </a:xfrm>
      </p:grpSpPr>
      <p:sp>
        <p:nvSpPr>
          <p:cNvPr id="225" name="Google Shape;225;p10"/>
          <p:cNvSpPr/>
          <p:nvPr/>
        </p:nvSpPr>
        <p:spPr>
          <a:xfrm>
            <a:off x="416600" y="235760"/>
            <a:ext cx="9064800" cy="476700"/>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FFFFFF"/>
                </a:solidFill>
                <a:latin typeface="Roboto Slab"/>
                <a:ea typeface="Roboto Slab"/>
                <a:cs typeface="Roboto Slab"/>
                <a:sym typeface="Roboto Slab"/>
              </a:rPr>
              <a:t>Finally! The Model Context Protocol!</a:t>
            </a:r>
            <a:endParaRPr b="0" i="0" sz="1800" u="none" cap="none" strike="noStrike">
              <a:solidFill>
                <a:schemeClr val="dk1"/>
              </a:solidFill>
              <a:latin typeface="Calibri"/>
              <a:ea typeface="Calibri"/>
              <a:cs typeface="Calibri"/>
              <a:sym typeface="Calibri"/>
            </a:endParaRPr>
          </a:p>
        </p:txBody>
      </p:sp>
      <p:pic>
        <p:nvPicPr>
          <p:cNvPr id="226" name="Google Shape;226;p10"/>
          <p:cNvPicPr preferRelativeResize="0"/>
          <p:nvPr/>
        </p:nvPicPr>
        <p:blipFill>
          <a:blip r:embed="rId3">
            <a:alphaModFix/>
          </a:blip>
          <a:stretch>
            <a:fillRect/>
          </a:stretch>
        </p:blipFill>
        <p:spPr>
          <a:xfrm>
            <a:off x="442050" y="839100"/>
            <a:ext cx="5856098" cy="58560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1" name="Shape 231"/>
        <p:cNvGrpSpPr/>
        <p:nvPr/>
      </p:nvGrpSpPr>
      <p:grpSpPr>
        <a:xfrm>
          <a:off x="0" y="0"/>
          <a:ext cx="0" cy="0"/>
          <a:chOff x="0" y="0"/>
          <a:chExt cx="0" cy="0"/>
        </a:xfrm>
      </p:grpSpPr>
      <p:sp>
        <p:nvSpPr>
          <p:cNvPr id="232" name="Google Shape;232;p11"/>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a:t>
            </a:r>
            <a:endParaRPr b="0" i="0" sz="1800" u="none" cap="none" strike="noStrike">
              <a:solidFill>
                <a:schemeClr val="dk1"/>
              </a:solidFill>
              <a:latin typeface="Calibri"/>
              <a:ea typeface="Calibri"/>
              <a:cs typeface="Calibri"/>
              <a:sym typeface="Calibri"/>
            </a:endParaRPr>
          </a:p>
        </p:txBody>
      </p:sp>
      <p:sp>
        <p:nvSpPr>
          <p:cNvPr id="233" name="Google Shape;233;p11"/>
          <p:cNvSpPr/>
          <p:nvPr/>
        </p:nvSpPr>
        <p:spPr>
          <a:xfrm>
            <a:off x="571500" y="1537692"/>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7800"/>
                </a:solidFill>
                <a:latin typeface="Arial"/>
                <a:ea typeface="Arial"/>
                <a:cs typeface="Arial"/>
                <a:sym typeface="Arial"/>
              </a:rPr>
              <a:t>What it's not</a:t>
            </a:r>
            <a:endParaRPr b="0" i="0" sz="1800" u="none" cap="none" strike="noStrike">
              <a:solidFill>
                <a:schemeClr val="dk1"/>
              </a:solidFill>
              <a:latin typeface="Calibri"/>
              <a:ea typeface="Calibri"/>
              <a:cs typeface="Calibri"/>
              <a:sym typeface="Calibri"/>
            </a:endParaRPr>
          </a:p>
        </p:txBody>
      </p:sp>
      <p:sp>
        <p:nvSpPr>
          <p:cNvPr id="234" name="Google Shape;234;p11"/>
          <p:cNvSpPr/>
          <p:nvPr/>
        </p:nvSpPr>
        <p:spPr>
          <a:xfrm>
            <a:off x="571500" y="4124410"/>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D700"/>
                </a:solidFill>
                <a:latin typeface="Arial"/>
                <a:ea typeface="Arial"/>
                <a:cs typeface="Arial"/>
                <a:sym typeface="Arial"/>
              </a:rPr>
              <a:t>What it is</a:t>
            </a:r>
            <a:endParaRPr b="0" i="0" sz="1800" u="none" cap="none" strike="noStrike">
              <a:solidFill>
                <a:schemeClr val="dk1"/>
              </a:solidFill>
              <a:latin typeface="Calibri"/>
              <a:ea typeface="Calibri"/>
              <a:cs typeface="Calibri"/>
              <a:sym typeface="Calibri"/>
            </a:endParaRPr>
          </a:p>
        </p:txBody>
      </p:sp>
      <p:sp>
        <p:nvSpPr>
          <p:cNvPr id="235" name="Google Shape;235;p11"/>
          <p:cNvSpPr/>
          <p:nvPr/>
        </p:nvSpPr>
        <p:spPr>
          <a:xfrm>
            <a:off x="990600" y="2151534"/>
            <a:ext cx="63719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A framework for building agents</a:t>
            </a:r>
            <a:endParaRPr b="0" i="0" sz="1800" u="none" cap="none" strike="noStrike">
              <a:solidFill>
                <a:schemeClr val="dk1"/>
              </a:solidFill>
              <a:latin typeface="Calibri"/>
              <a:ea typeface="Calibri"/>
              <a:cs typeface="Calibri"/>
              <a:sym typeface="Calibri"/>
            </a:endParaRPr>
          </a:p>
        </p:txBody>
      </p:sp>
      <p:sp>
        <p:nvSpPr>
          <p:cNvPr id="236" name="Google Shape;236;p11"/>
          <p:cNvSpPr/>
          <p:nvPr/>
        </p:nvSpPr>
        <p:spPr>
          <a:xfrm>
            <a:off x="990600" y="27611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A fundamental change to how agents work</a:t>
            </a:r>
            <a:endParaRPr b="0" i="0" sz="1800" u="none" cap="none" strike="noStrike">
              <a:solidFill>
                <a:schemeClr val="dk1"/>
              </a:solidFill>
              <a:latin typeface="Calibri"/>
              <a:ea typeface="Calibri"/>
              <a:cs typeface="Calibri"/>
              <a:sym typeface="Calibri"/>
            </a:endParaRPr>
          </a:p>
        </p:txBody>
      </p:sp>
      <p:sp>
        <p:nvSpPr>
          <p:cNvPr id="237" name="Google Shape;237;p11"/>
          <p:cNvSpPr/>
          <p:nvPr/>
        </p:nvSpPr>
        <p:spPr>
          <a:xfrm>
            <a:off x="990600" y="33707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A way to code agents</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990600" y="47423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A protocol - a standard</a:t>
            </a:r>
            <a:endParaRPr b="0" i="0" sz="1800" u="none" cap="none" strike="noStrike">
              <a:solidFill>
                <a:schemeClr val="dk1"/>
              </a:solidFill>
              <a:latin typeface="Calibri"/>
              <a:ea typeface="Calibri"/>
              <a:cs typeface="Calibri"/>
              <a:sym typeface="Calibri"/>
            </a:endParaRPr>
          </a:p>
        </p:txBody>
      </p:sp>
      <p:sp>
        <p:nvSpPr>
          <p:cNvPr id="239" name="Google Shape;239;p11"/>
          <p:cNvSpPr/>
          <p:nvPr/>
        </p:nvSpPr>
        <p:spPr>
          <a:xfrm>
            <a:off x="990600" y="5351934"/>
            <a:ext cx="6352522"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A simple way to integrate tools, resources, prompts</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90600" y="5961534"/>
            <a:ext cx="57623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"A USB-C port for AI applications"</a:t>
            </a:r>
            <a:endParaRPr b="0" i="0" sz="1800" u="none" cap="none" strike="noStrike">
              <a:solidFill>
                <a:schemeClr val="dk1"/>
              </a:solidFill>
              <a:latin typeface="Calibri"/>
              <a:ea typeface="Calibri"/>
              <a:cs typeface="Calibri"/>
              <a:sym typeface="Calibri"/>
            </a:endParaRPr>
          </a:p>
        </p:txBody>
      </p:sp>
      <p:cxnSp>
        <p:nvCxnSpPr>
          <p:cNvPr id="241" name="Google Shape;241;p11"/>
          <p:cNvCxnSpPr/>
          <p:nvPr/>
        </p:nvCxnSpPr>
        <p:spPr>
          <a:xfrm rot="5400000">
            <a:off x="-150228" y="2973542"/>
            <a:ext cx="1606789" cy="0"/>
          </a:xfrm>
          <a:prstGeom prst="straightConnector1">
            <a:avLst/>
          </a:prstGeom>
          <a:noFill/>
          <a:ln cap="flat" cmpd="sng" w="76200">
            <a:solidFill>
              <a:srgbClr val="FF7800"/>
            </a:solidFill>
            <a:prstDash val="solid"/>
            <a:miter lim="800000"/>
            <a:headEnd len="sm" w="sm" type="none"/>
            <a:tailEnd len="sm" w="sm" type="none"/>
          </a:ln>
        </p:spPr>
      </p:cxnSp>
      <p:cxnSp>
        <p:nvCxnSpPr>
          <p:cNvPr id="242" name="Google Shape;242;p11"/>
          <p:cNvCxnSpPr/>
          <p:nvPr/>
        </p:nvCxnSpPr>
        <p:spPr>
          <a:xfrm rot="5400000">
            <a:off x="-146169" y="5584945"/>
            <a:ext cx="1606789" cy="0"/>
          </a:xfrm>
          <a:prstGeom prst="straightConnector1">
            <a:avLst/>
          </a:prstGeom>
          <a:noFill/>
          <a:ln cap="flat" cmpd="sng" w="76200">
            <a:solidFill>
              <a:srgbClr val="FFD7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7" name="Shape 247"/>
        <p:cNvGrpSpPr/>
        <p:nvPr/>
      </p:nvGrpSpPr>
      <p:grpSpPr>
        <a:xfrm>
          <a:off x="0" y="0"/>
          <a:ext cx="0" cy="0"/>
          <a:chOff x="0" y="0"/>
          <a:chExt cx="0" cy="0"/>
        </a:xfrm>
      </p:grpSpPr>
      <p:sp>
        <p:nvSpPr>
          <p:cNvPr id="248" name="Google Shape;248;p12"/>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a:t>
            </a:r>
            <a:endParaRPr b="0" i="0" sz="1800" u="none" cap="none" strike="noStrike">
              <a:solidFill>
                <a:schemeClr val="dk1"/>
              </a:solidFill>
              <a:latin typeface="Calibri"/>
              <a:ea typeface="Calibri"/>
              <a:cs typeface="Calibri"/>
              <a:sym typeface="Calibri"/>
            </a:endParaRPr>
          </a:p>
        </p:txBody>
      </p:sp>
      <p:sp>
        <p:nvSpPr>
          <p:cNvPr id="249" name="Google Shape;249;p12"/>
          <p:cNvSpPr/>
          <p:nvPr/>
        </p:nvSpPr>
        <p:spPr>
          <a:xfrm>
            <a:off x="571500" y="1537692"/>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7800"/>
                </a:solidFill>
                <a:latin typeface="Arial"/>
                <a:ea typeface="Arial"/>
                <a:cs typeface="Arial"/>
                <a:sym typeface="Arial"/>
              </a:rPr>
              <a:t>Reasons not to be excited</a:t>
            </a:r>
            <a:endParaRPr b="0" i="0" sz="1800" u="none" cap="none" strike="noStrike">
              <a:solidFill>
                <a:schemeClr val="dk1"/>
              </a:solidFill>
              <a:latin typeface="Calibri"/>
              <a:ea typeface="Calibri"/>
              <a:cs typeface="Calibri"/>
              <a:sym typeface="Calibri"/>
            </a:endParaRPr>
          </a:p>
        </p:txBody>
      </p:sp>
      <p:sp>
        <p:nvSpPr>
          <p:cNvPr id="250" name="Google Shape;250;p12"/>
          <p:cNvSpPr/>
          <p:nvPr/>
        </p:nvSpPr>
        <p:spPr>
          <a:xfrm>
            <a:off x="571500" y="4124410"/>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D700"/>
                </a:solidFill>
                <a:latin typeface="Arial"/>
                <a:ea typeface="Arial"/>
                <a:cs typeface="Arial"/>
                <a:sym typeface="Arial"/>
              </a:rPr>
              <a:t>Reasons to be excited</a:t>
            </a:r>
            <a:endParaRPr b="0" i="0" sz="1800" u="none" cap="none" strike="noStrike">
              <a:solidFill>
                <a:schemeClr val="dk1"/>
              </a:solidFill>
              <a:latin typeface="Calibri"/>
              <a:ea typeface="Calibri"/>
              <a:cs typeface="Calibri"/>
              <a:sym typeface="Calibri"/>
            </a:endParaRPr>
          </a:p>
        </p:txBody>
      </p:sp>
      <p:sp>
        <p:nvSpPr>
          <p:cNvPr id="251" name="Google Shape;251;p12"/>
          <p:cNvSpPr/>
          <p:nvPr/>
        </p:nvSpPr>
        <p:spPr>
          <a:xfrm>
            <a:off x="990600" y="2151534"/>
            <a:ext cx="63719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It’s just a standard, it’s not tools themselves</a:t>
            </a:r>
            <a:endParaRPr b="0" i="0" sz="1800" u="none" cap="none" strike="noStrike">
              <a:solidFill>
                <a:schemeClr val="dk1"/>
              </a:solidFill>
              <a:latin typeface="Calibri"/>
              <a:ea typeface="Calibri"/>
              <a:cs typeface="Calibri"/>
              <a:sym typeface="Calibri"/>
            </a:endParaRPr>
          </a:p>
        </p:txBody>
      </p:sp>
      <p:sp>
        <p:nvSpPr>
          <p:cNvPr id="252" name="Google Shape;252;p12"/>
          <p:cNvSpPr/>
          <p:nvPr/>
        </p:nvSpPr>
        <p:spPr>
          <a:xfrm>
            <a:off x="990600" y="27611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LangChain already has a big Tools ecosystem</a:t>
            </a:r>
            <a:endParaRPr b="0" i="0" sz="1800" u="none" cap="none" strike="noStrike">
              <a:solidFill>
                <a:schemeClr val="dk1"/>
              </a:solidFill>
              <a:latin typeface="Calibri"/>
              <a:ea typeface="Calibri"/>
              <a:cs typeface="Calibri"/>
              <a:sym typeface="Calibri"/>
            </a:endParaRPr>
          </a:p>
        </p:txBody>
      </p:sp>
      <p:sp>
        <p:nvSpPr>
          <p:cNvPr id="253" name="Google Shape;253;p12"/>
          <p:cNvSpPr/>
          <p:nvPr/>
        </p:nvSpPr>
        <p:spPr>
          <a:xfrm>
            <a:off x="990600" y="33707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You can already make any function into a Tool</a:t>
            </a:r>
            <a:endParaRPr b="0" i="0" sz="1800" u="none" cap="none" strike="noStrike">
              <a:solidFill>
                <a:schemeClr val="dk1"/>
              </a:solidFill>
              <a:latin typeface="Calibri"/>
              <a:ea typeface="Calibri"/>
              <a:cs typeface="Calibri"/>
              <a:sym typeface="Calibri"/>
            </a:endParaRPr>
          </a:p>
        </p:txBody>
      </p:sp>
      <p:sp>
        <p:nvSpPr>
          <p:cNvPr id="254" name="Google Shape;254;p12"/>
          <p:cNvSpPr/>
          <p:nvPr/>
        </p:nvSpPr>
        <p:spPr>
          <a:xfrm>
            <a:off x="990600" y="47423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Makes it frictionless to integrate</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990600" y="5351934"/>
            <a:ext cx="6038106"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lang="en-US" sz="1800">
                <a:solidFill>
                  <a:srgbClr val="FFD700"/>
                </a:solidFill>
                <a:latin typeface="Roboto Slab"/>
                <a:ea typeface="Roboto Slab"/>
                <a:cs typeface="Roboto Slab"/>
                <a:sym typeface="Roboto Slab"/>
              </a:rPr>
              <a:t>Huge</a:t>
            </a:r>
            <a:r>
              <a:rPr b="0" i="0" lang="en-US" sz="1800" u="none" cap="none" strike="noStrike">
                <a:solidFill>
                  <a:srgbClr val="FFD700"/>
                </a:solidFill>
                <a:latin typeface="Roboto Slab"/>
                <a:ea typeface="Roboto Slab"/>
                <a:cs typeface="Roboto Slab"/>
                <a:sym typeface="Roboto Slab"/>
              </a:rPr>
              <a:t> ecosystem</a:t>
            </a:r>
            <a:endParaRPr b="0" i="0" sz="1800" u="none" cap="none" strike="noStrike">
              <a:solidFill>
                <a:schemeClr val="dk1"/>
              </a:solidFill>
              <a:latin typeface="Calibri"/>
              <a:ea typeface="Calibri"/>
              <a:cs typeface="Calibri"/>
              <a:sym typeface="Calibri"/>
            </a:endParaRPr>
          </a:p>
        </p:txBody>
      </p:sp>
      <p:sp>
        <p:nvSpPr>
          <p:cNvPr id="256" name="Google Shape;256;p12"/>
          <p:cNvSpPr/>
          <p:nvPr/>
        </p:nvSpPr>
        <p:spPr>
          <a:xfrm>
            <a:off x="990600" y="5961534"/>
            <a:ext cx="57623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lang="en-US" sz="1800">
                <a:solidFill>
                  <a:srgbClr val="FFD700"/>
                </a:solidFill>
                <a:latin typeface="Roboto Slab"/>
                <a:ea typeface="Roboto Slab"/>
                <a:cs typeface="Roboto Slab"/>
                <a:sym typeface="Roboto Slab"/>
              </a:rPr>
              <a:t>Agreed standards are important</a:t>
            </a:r>
            <a:endParaRPr b="0" i="0" sz="1800" u="none" cap="none" strike="noStrike">
              <a:solidFill>
                <a:schemeClr val="dk1"/>
              </a:solidFill>
              <a:latin typeface="Calibri"/>
              <a:ea typeface="Calibri"/>
              <a:cs typeface="Calibri"/>
              <a:sym typeface="Calibri"/>
            </a:endParaRPr>
          </a:p>
        </p:txBody>
      </p:sp>
      <p:cxnSp>
        <p:nvCxnSpPr>
          <p:cNvPr id="257" name="Google Shape;257;p12"/>
          <p:cNvCxnSpPr/>
          <p:nvPr/>
        </p:nvCxnSpPr>
        <p:spPr>
          <a:xfrm rot="5400000">
            <a:off x="-150228" y="2973542"/>
            <a:ext cx="1606789" cy="0"/>
          </a:xfrm>
          <a:prstGeom prst="straightConnector1">
            <a:avLst/>
          </a:prstGeom>
          <a:noFill/>
          <a:ln cap="flat" cmpd="sng" w="76200">
            <a:solidFill>
              <a:srgbClr val="FF7800"/>
            </a:solidFill>
            <a:prstDash val="solid"/>
            <a:miter lim="800000"/>
            <a:headEnd len="sm" w="sm" type="none"/>
            <a:tailEnd len="sm" w="sm" type="none"/>
          </a:ln>
        </p:spPr>
      </p:cxnSp>
      <p:cxnSp>
        <p:nvCxnSpPr>
          <p:cNvPr id="258" name="Google Shape;258;p12"/>
          <p:cNvCxnSpPr/>
          <p:nvPr/>
        </p:nvCxnSpPr>
        <p:spPr>
          <a:xfrm rot="5400000">
            <a:off x="-146169" y="5584945"/>
            <a:ext cx="1606789" cy="0"/>
          </a:xfrm>
          <a:prstGeom prst="straightConnector1">
            <a:avLst/>
          </a:prstGeom>
          <a:noFill/>
          <a:ln cap="flat" cmpd="sng" w="76200">
            <a:solidFill>
              <a:srgbClr val="FFD7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3" name="Shape 263"/>
        <p:cNvGrpSpPr/>
        <p:nvPr/>
      </p:nvGrpSpPr>
      <p:grpSpPr>
        <a:xfrm>
          <a:off x="0" y="0"/>
          <a:ext cx="0" cy="0"/>
          <a:chOff x="0" y="0"/>
          <a:chExt cx="0" cy="0"/>
        </a:xfrm>
      </p:grpSpPr>
      <p:sp>
        <p:nvSpPr>
          <p:cNvPr id="264" name="Google Shape;264;p13"/>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 Core Concepts</a:t>
            </a:r>
            <a:endParaRPr b="0" i="0" sz="1800" u="none" cap="none" strike="noStrike">
              <a:solidFill>
                <a:schemeClr val="dk1"/>
              </a:solidFill>
              <a:latin typeface="Calibri"/>
              <a:ea typeface="Calibri"/>
              <a:cs typeface="Calibri"/>
              <a:sym typeface="Calibri"/>
            </a:endParaRPr>
          </a:p>
        </p:txBody>
      </p:sp>
      <p:sp>
        <p:nvSpPr>
          <p:cNvPr id="265" name="Google Shape;265;p13"/>
          <p:cNvSpPr/>
          <p:nvPr/>
        </p:nvSpPr>
        <p:spPr>
          <a:xfrm>
            <a:off x="571500" y="1604367"/>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FFFF"/>
                </a:solidFill>
                <a:latin typeface="Arial"/>
                <a:ea typeface="Arial"/>
                <a:cs typeface="Arial"/>
                <a:sym typeface="Arial"/>
              </a:rPr>
              <a:t>The Three Components:</a:t>
            </a:r>
            <a:endParaRPr b="0" i="0" sz="1800" u="none" cap="none" strike="noStrike">
              <a:solidFill>
                <a:schemeClr val="dk1"/>
              </a:solidFill>
              <a:latin typeface="Calibri"/>
              <a:ea typeface="Calibri"/>
              <a:cs typeface="Calibri"/>
              <a:sym typeface="Calibri"/>
            </a:endParaRPr>
          </a:p>
        </p:txBody>
      </p:sp>
      <p:sp>
        <p:nvSpPr>
          <p:cNvPr id="266" name="Google Shape;266;p13"/>
          <p:cNvSpPr/>
          <p:nvPr/>
        </p:nvSpPr>
        <p:spPr>
          <a:xfrm>
            <a:off x="571500" y="4414242"/>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FFFF"/>
                </a:solidFill>
                <a:latin typeface="Arial"/>
                <a:ea typeface="Arial"/>
                <a:cs typeface="Arial"/>
                <a:sym typeface="Arial"/>
              </a:rPr>
              <a:t>Example:</a:t>
            </a:r>
            <a:endParaRPr b="0" i="0" sz="1800" u="none" cap="none" strike="noStrike">
              <a:solidFill>
                <a:schemeClr val="dk1"/>
              </a:solidFill>
              <a:latin typeface="Calibri"/>
              <a:ea typeface="Calibri"/>
              <a:cs typeface="Calibri"/>
              <a:sym typeface="Calibri"/>
            </a:endParaRPr>
          </a:p>
        </p:txBody>
      </p:sp>
      <p:sp>
        <p:nvSpPr>
          <p:cNvPr id="267" name="Google Shape;267;p13"/>
          <p:cNvSpPr/>
          <p:nvPr/>
        </p:nvSpPr>
        <p:spPr>
          <a:xfrm>
            <a:off x="990600" y="2335188"/>
            <a:ext cx="6627986"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1" i="0" lang="en-US" sz="1350" u="none" cap="none" strike="noStrike">
                <a:solidFill>
                  <a:srgbClr val="00BFFF"/>
                </a:solidFill>
                <a:latin typeface="Roboto Slab"/>
                <a:ea typeface="Roboto Slab"/>
                <a:cs typeface="Roboto Slab"/>
                <a:sym typeface="Roboto Slab"/>
              </a:rPr>
              <a:t>Host</a:t>
            </a:r>
            <a:r>
              <a:rPr b="0" i="0" lang="en-US" sz="1350" u="none" cap="none" strike="noStrike">
                <a:solidFill>
                  <a:srgbClr val="00BFFF"/>
                </a:solidFill>
                <a:latin typeface="Roboto Slab"/>
                <a:ea typeface="Roboto Slab"/>
                <a:cs typeface="Roboto Slab"/>
                <a:sym typeface="Roboto Slab"/>
              </a:rPr>
              <a:t> </a:t>
            </a:r>
            <a:r>
              <a:rPr b="0" i="0" lang="en-US" sz="1350" u="none" cap="none" strike="noStrike">
                <a:solidFill>
                  <a:srgbClr val="FFFFFF"/>
                </a:solidFill>
                <a:latin typeface="Roboto Slab"/>
                <a:ea typeface="Roboto Slab"/>
                <a:cs typeface="Roboto Slab"/>
                <a:sym typeface="Roboto Slab"/>
              </a:rPr>
              <a:t>is an LLM app like Claude or our Agent</a:t>
            </a:r>
            <a:r>
              <a:rPr lang="en-US" sz="1350">
                <a:solidFill>
                  <a:srgbClr val="FFFFFF"/>
                </a:solidFill>
                <a:latin typeface="Roboto Slab"/>
                <a:ea typeface="Roboto Slab"/>
                <a:cs typeface="Roboto Slab"/>
                <a:sym typeface="Roboto Slab"/>
              </a:rPr>
              <a:t>ic Platform</a:t>
            </a:r>
            <a:endParaRPr b="0" i="0" sz="1800" u="none" cap="none" strike="noStrike">
              <a:solidFill>
                <a:schemeClr val="dk1"/>
              </a:solidFill>
              <a:latin typeface="Calibri"/>
              <a:ea typeface="Calibri"/>
              <a:cs typeface="Calibri"/>
              <a:sym typeface="Calibri"/>
            </a:endParaRPr>
          </a:p>
        </p:txBody>
      </p:sp>
      <p:sp>
        <p:nvSpPr>
          <p:cNvPr id="268" name="Google Shape;268;p13"/>
          <p:cNvSpPr/>
          <p:nvPr/>
        </p:nvSpPr>
        <p:spPr>
          <a:xfrm>
            <a:off x="653138" y="5067313"/>
            <a:ext cx="6627900" cy="24390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FFFF"/>
                </a:solidFill>
                <a:latin typeface="Roboto Slab"/>
                <a:ea typeface="Roboto Slab"/>
                <a:cs typeface="Roboto Slab"/>
                <a:sym typeface="Roboto Slab"/>
              </a:rPr>
              <a:t>Fetch is an </a:t>
            </a:r>
            <a:r>
              <a:rPr b="1" i="0" lang="en-US" sz="1350" u="none" cap="none" strike="noStrike">
                <a:solidFill>
                  <a:srgbClr val="FF7800"/>
                </a:solidFill>
                <a:latin typeface="Roboto Slab"/>
                <a:ea typeface="Roboto Slab"/>
                <a:cs typeface="Roboto Slab"/>
                <a:sym typeface="Roboto Slab"/>
              </a:rPr>
              <a:t>MCP Server</a:t>
            </a:r>
            <a:r>
              <a:rPr b="0" i="0" lang="en-US" sz="1350" u="none" cap="none" strike="noStrike">
                <a:solidFill>
                  <a:srgbClr val="FFFFFF"/>
                </a:solidFill>
                <a:latin typeface="Roboto Slab"/>
                <a:ea typeface="Roboto Slab"/>
                <a:cs typeface="Roboto Slab"/>
                <a:sym typeface="Roboto Slab"/>
              </a:rPr>
              <a:t> that </a:t>
            </a:r>
            <a:r>
              <a:rPr lang="en-US" sz="1350">
                <a:solidFill>
                  <a:srgbClr val="FFFFFF"/>
                </a:solidFill>
                <a:latin typeface="Roboto Slab"/>
                <a:ea typeface="Roboto Slab"/>
                <a:cs typeface="Roboto Slab"/>
                <a:sym typeface="Roboto Slab"/>
              </a:rPr>
              <a:t>gets a webpage and returns Markdown</a:t>
            </a:r>
            <a:endParaRPr b="0" i="0" sz="1800" u="none" cap="none" strike="noStrike">
              <a:solidFill>
                <a:schemeClr val="dk1"/>
              </a:solidFill>
              <a:latin typeface="Calibri"/>
              <a:ea typeface="Calibri"/>
              <a:cs typeface="Calibri"/>
              <a:sym typeface="Calibri"/>
            </a:endParaRPr>
          </a:p>
        </p:txBody>
      </p:sp>
      <p:sp>
        <p:nvSpPr>
          <p:cNvPr id="269" name="Google Shape;269;p13"/>
          <p:cNvSpPr/>
          <p:nvPr/>
        </p:nvSpPr>
        <p:spPr>
          <a:xfrm>
            <a:off x="653138" y="5511775"/>
            <a:ext cx="7008900" cy="48750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FFFF"/>
                </a:solidFill>
                <a:latin typeface="Roboto Slab"/>
                <a:ea typeface="Roboto Slab"/>
                <a:cs typeface="Roboto Slab"/>
                <a:sym typeface="Roboto Slab"/>
              </a:rPr>
              <a:t>You can configure </a:t>
            </a:r>
            <a:r>
              <a:rPr b="1" i="0" lang="en-US" sz="1350" u="none" cap="none" strike="noStrike">
                <a:solidFill>
                  <a:srgbClr val="00BFFF"/>
                </a:solidFill>
                <a:latin typeface="Roboto Slab"/>
                <a:ea typeface="Roboto Slab"/>
                <a:cs typeface="Roboto Slab"/>
                <a:sym typeface="Roboto Slab"/>
              </a:rPr>
              <a:t>Claude Desktop</a:t>
            </a:r>
            <a:r>
              <a:rPr b="0" i="0" lang="en-US" sz="1350" u="none" cap="none" strike="noStrike">
                <a:solidFill>
                  <a:srgbClr val="FFFFFF"/>
                </a:solidFill>
                <a:latin typeface="Roboto Slab"/>
                <a:ea typeface="Roboto Slab"/>
                <a:cs typeface="Roboto Slab"/>
                <a:sym typeface="Roboto Slab"/>
              </a:rPr>
              <a:t> (the host) to run an </a:t>
            </a:r>
            <a:r>
              <a:rPr b="1" i="0" lang="en-US" sz="1350" u="none" cap="none" strike="noStrike">
                <a:solidFill>
                  <a:srgbClr val="FFD700"/>
                </a:solidFill>
                <a:latin typeface="Roboto Slab"/>
                <a:ea typeface="Roboto Slab"/>
                <a:cs typeface="Roboto Slab"/>
                <a:sym typeface="Roboto Slab"/>
              </a:rPr>
              <a:t>MCP Client</a:t>
            </a:r>
            <a:r>
              <a:rPr b="0" i="0" lang="en-US" sz="1350" u="none" cap="none" strike="noStrike">
                <a:solidFill>
                  <a:srgbClr val="FFFFFF"/>
                </a:solidFill>
                <a:latin typeface="Roboto Slab"/>
                <a:ea typeface="Roboto Slab"/>
                <a:cs typeface="Roboto Slab"/>
                <a:sym typeface="Roboto Slab"/>
              </a:rPr>
              <a:t> that then</a:t>
            </a:r>
            <a:br>
              <a:rPr b="0" i="0" lang="en-US" sz="1350" u="none" cap="none" strike="noStrike">
                <a:solidFill>
                  <a:srgbClr val="FFFFFF"/>
                </a:solidFill>
                <a:latin typeface="Roboto Slab"/>
                <a:ea typeface="Roboto Slab"/>
                <a:cs typeface="Roboto Slab"/>
                <a:sym typeface="Roboto Slab"/>
              </a:rPr>
            </a:br>
            <a:r>
              <a:rPr b="0" i="0" lang="en-US" sz="1350" u="none" cap="none" strike="noStrike">
                <a:solidFill>
                  <a:srgbClr val="FFFFFF"/>
                </a:solidFill>
                <a:latin typeface="Roboto Slab"/>
                <a:ea typeface="Roboto Slab"/>
                <a:cs typeface="Roboto Slab"/>
                <a:sym typeface="Roboto Slab"/>
              </a:rPr>
              <a:t>launches the Fetch MCP Server on your computer</a:t>
            </a:r>
            <a:endParaRPr b="0" i="0" sz="1800" u="none" cap="none" strike="noStrike">
              <a:solidFill>
                <a:schemeClr val="dk1"/>
              </a:solidFill>
              <a:latin typeface="Calibri"/>
              <a:ea typeface="Calibri"/>
              <a:cs typeface="Calibri"/>
              <a:sym typeface="Calibri"/>
            </a:endParaRPr>
          </a:p>
        </p:txBody>
      </p:sp>
      <p:sp>
        <p:nvSpPr>
          <p:cNvPr id="270" name="Google Shape;270;p13"/>
          <p:cNvSpPr/>
          <p:nvPr/>
        </p:nvSpPr>
        <p:spPr>
          <a:xfrm>
            <a:off x="653138" y="6207963"/>
            <a:ext cx="6627900" cy="24390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lang="en-US" sz="1350">
                <a:solidFill>
                  <a:srgbClr val="FFFFFF"/>
                </a:solidFill>
                <a:latin typeface="Roboto Slab"/>
                <a:ea typeface="Roboto Slab"/>
                <a:cs typeface="Roboto Slab"/>
                <a:sym typeface="Roboto Slab"/>
              </a:rPr>
              <a:t>Agent Frameworks take care of creating the MCP Client for you - you tell it which server to attach to</a:t>
            </a:r>
            <a:endParaRPr b="0" i="0" sz="1800" u="none" cap="none" strike="noStrike">
              <a:solidFill>
                <a:schemeClr val="dk1"/>
              </a:solidFill>
              <a:latin typeface="Calibri"/>
              <a:ea typeface="Calibri"/>
              <a:cs typeface="Calibri"/>
              <a:sym typeface="Calibri"/>
            </a:endParaRPr>
          </a:p>
        </p:txBody>
      </p:sp>
      <p:sp>
        <p:nvSpPr>
          <p:cNvPr id="271" name="Google Shape;271;p13"/>
          <p:cNvSpPr/>
          <p:nvPr/>
        </p:nvSpPr>
        <p:spPr>
          <a:xfrm>
            <a:off x="990600" y="2849538"/>
            <a:ext cx="6850112"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D700"/>
                </a:solidFill>
                <a:latin typeface="Roboto Slab"/>
                <a:ea typeface="Roboto Slab"/>
                <a:cs typeface="Roboto Slab"/>
                <a:sym typeface="Roboto Slab"/>
              </a:rPr>
              <a:t>MCP Client</a:t>
            </a:r>
            <a:r>
              <a:rPr b="0" i="0" lang="en-US" sz="1350" u="none" cap="none" strike="noStrike">
                <a:solidFill>
                  <a:srgbClr val="FFFFFF"/>
                </a:solidFill>
                <a:latin typeface="Roboto Slab"/>
                <a:ea typeface="Roboto Slab"/>
                <a:cs typeface="Roboto Slab"/>
                <a:sym typeface="Roboto Slab"/>
              </a:rPr>
              <a:t> lives inside Host and connects 1:1 to MCP Server</a:t>
            </a:r>
            <a:endParaRPr b="0" i="0" sz="1800" u="none" cap="none" strike="noStrike">
              <a:solidFill>
                <a:schemeClr val="dk1"/>
              </a:solidFill>
              <a:latin typeface="Calibri"/>
              <a:ea typeface="Calibri"/>
              <a:cs typeface="Calibri"/>
              <a:sym typeface="Calibri"/>
            </a:endParaRPr>
          </a:p>
        </p:txBody>
      </p:sp>
      <p:sp>
        <p:nvSpPr>
          <p:cNvPr id="272" name="Google Shape;272;p13"/>
          <p:cNvSpPr/>
          <p:nvPr/>
        </p:nvSpPr>
        <p:spPr>
          <a:xfrm>
            <a:off x="990600" y="3363888"/>
            <a:ext cx="6081713"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7800"/>
                </a:solidFill>
                <a:latin typeface="Roboto Slab"/>
                <a:ea typeface="Roboto Slab"/>
                <a:cs typeface="Roboto Slab"/>
                <a:sym typeface="Roboto Slab"/>
              </a:rPr>
              <a:t>MCP Server</a:t>
            </a:r>
            <a:r>
              <a:rPr b="0" i="0" lang="en-US" sz="1350" u="none" cap="none" strike="noStrike">
                <a:solidFill>
                  <a:srgbClr val="FFFFFF"/>
                </a:solidFill>
                <a:latin typeface="Roboto Slab"/>
                <a:ea typeface="Roboto Slab"/>
                <a:cs typeface="Roboto Slab"/>
                <a:sym typeface="Roboto Slab"/>
              </a:rPr>
              <a:t> provides tools, context and prompts</a:t>
            </a:r>
            <a:endParaRPr b="0" i="0" sz="1800" u="none" cap="none" strike="noStrike">
              <a:solidFill>
                <a:schemeClr val="dk1"/>
              </a:solidFill>
              <a:latin typeface="Calibri"/>
              <a:ea typeface="Calibri"/>
              <a:cs typeface="Calibri"/>
              <a:sym typeface="Calibri"/>
            </a:endParaRPr>
          </a:p>
        </p:txBody>
      </p:sp>
      <p:cxnSp>
        <p:nvCxnSpPr>
          <p:cNvPr id="273" name="Google Shape;273;p13"/>
          <p:cNvCxnSpPr/>
          <p:nvPr/>
        </p:nvCxnSpPr>
        <p:spPr>
          <a:xfrm rot="5400000">
            <a:off x="-150228" y="3040217"/>
            <a:ext cx="1606789" cy="0"/>
          </a:xfrm>
          <a:prstGeom prst="straightConnector1">
            <a:avLst/>
          </a:prstGeom>
          <a:noFill/>
          <a:ln cap="flat" cmpd="sng" w="76200">
            <a:solidFill>
              <a:srgbClr val="FFFFFF"/>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8" name="Shape 278"/>
        <p:cNvGrpSpPr/>
        <p:nvPr/>
      </p:nvGrpSpPr>
      <p:grpSpPr>
        <a:xfrm>
          <a:off x="0" y="0"/>
          <a:ext cx="0" cy="0"/>
          <a:chOff x="0" y="0"/>
          <a:chExt cx="0" cy="0"/>
        </a:xfrm>
      </p:grpSpPr>
      <p:sp>
        <p:nvSpPr>
          <p:cNvPr id="279" name="Google Shape;279;p14"/>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Architecture</a:t>
            </a:r>
            <a:endParaRPr b="0" i="0" sz="1800" u="none" cap="none" strike="noStrike">
              <a:solidFill>
                <a:schemeClr val="dk1"/>
              </a:solidFill>
              <a:latin typeface="Calibri"/>
              <a:ea typeface="Calibri"/>
              <a:cs typeface="Calibri"/>
              <a:sym typeface="Calibri"/>
            </a:endParaRPr>
          </a:p>
        </p:txBody>
      </p:sp>
      <p:sp>
        <p:nvSpPr>
          <p:cNvPr id="280" name="Google Shape;280;p14"/>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283" name="Google Shape;283;p14"/>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284" name="Google Shape;284;p14"/>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285" name="Google Shape;285;p14"/>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291" name="Google Shape;291;p14"/>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292" name="Google Shape;292;p14"/>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293" name="Google Shape;293;p14"/>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grpSp>
        <p:nvGrpSpPr>
          <p:cNvPr id="294" name="Google Shape;294;p14"/>
          <p:cNvGrpSpPr/>
          <p:nvPr/>
        </p:nvGrpSpPr>
        <p:grpSpPr>
          <a:xfrm>
            <a:off x="762000" y="3856405"/>
            <a:ext cx="741587" cy="1518322"/>
            <a:chOff x="762000" y="3856405"/>
            <a:chExt cx="741587" cy="1518322"/>
          </a:xfrm>
        </p:grpSpPr>
        <p:sp>
          <p:nvSpPr>
            <p:cNvPr id="295" name="Google Shape;295;p14"/>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cxnSp>
          <p:nvCxnSpPr>
            <p:cNvPr id="297" name="Google Shape;297;p14"/>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298" name="Google Shape;298;p14"/>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 name="Google Shape;300;p14"/>
          <p:cNvGrpSpPr/>
          <p:nvPr/>
        </p:nvGrpSpPr>
        <p:grpSpPr>
          <a:xfrm>
            <a:off x="1619250" y="3819525"/>
            <a:ext cx="741587" cy="1555202"/>
            <a:chOff x="1619250" y="3819525"/>
            <a:chExt cx="741587" cy="1555202"/>
          </a:xfrm>
        </p:grpSpPr>
        <p:sp>
          <p:nvSpPr>
            <p:cNvPr id="301" name="Google Shape;301;p14"/>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cxnSp>
          <p:nvCxnSpPr>
            <p:cNvPr id="303" name="Google Shape;303;p14"/>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04" name="Google Shape;304;p14"/>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06" name="Google Shape;306;p14"/>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307" name="Google Shape;307;p14"/>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14" name="Shape 314"/>
        <p:cNvGrpSpPr/>
        <p:nvPr/>
      </p:nvGrpSpPr>
      <p:grpSpPr>
        <a:xfrm>
          <a:off x="0" y="0"/>
          <a:ext cx="0" cy="0"/>
          <a:chOff x="0" y="0"/>
          <a:chExt cx="0" cy="0"/>
        </a:xfrm>
      </p:grpSpPr>
      <p:sp>
        <p:nvSpPr>
          <p:cNvPr id="315" name="Google Shape;315;p15"/>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Architecture</a:t>
            </a:r>
            <a:endParaRPr b="0" i="0" sz="1800" u="none" cap="none" strike="noStrike">
              <a:solidFill>
                <a:schemeClr val="dk1"/>
              </a:solidFill>
              <a:latin typeface="Calibri"/>
              <a:ea typeface="Calibri"/>
              <a:cs typeface="Calibri"/>
              <a:sym typeface="Calibri"/>
            </a:endParaRPr>
          </a:p>
        </p:txBody>
      </p:sp>
      <p:sp>
        <p:nvSpPr>
          <p:cNvPr id="316" name="Google Shape;316;p15"/>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320" name="Google Shape;320;p15"/>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321" name="Google Shape;321;p15"/>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22" name="Google Shape;322;p15"/>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23" name="Google Shape;323;p15"/>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31" name="Google Shape;331;p15"/>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32" name="Google Shape;332;p15"/>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33" name="Google Shape;333;p15"/>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34" name="Google Shape;334;p15"/>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336" name="Google Shape;336;p15"/>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338" name="Google Shape;338;p15"/>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39" name="Google Shape;339;p15"/>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1" name="Google Shape;341;p15"/>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42" name="Google Shape;342;p15"/>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4" name="Google Shape;344;p15"/>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345" name="Google Shape;345;p15"/>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7" name="Google Shape;347;p15"/>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348" name="Google Shape;348;p15"/>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5" name="Shape 355"/>
        <p:cNvGrpSpPr/>
        <p:nvPr/>
      </p:nvGrpSpPr>
      <p:grpSpPr>
        <a:xfrm>
          <a:off x="0" y="0"/>
          <a:ext cx="0" cy="0"/>
          <a:chOff x="0" y="0"/>
          <a:chExt cx="0" cy="0"/>
        </a:xfrm>
      </p:grpSpPr>
      <p:sp>
        <p:nvSpPr>
          <p:cNvPr id="356" name="Google Shape;356;p16"/>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 Servers most often run on your box</a:t>
            </a:r>
            <a:endParaRPr b="0" i="0" sz="1800" u="none" cap="none" strike="noStrike">
              <a:solidFill>
                <a:schemeClr val="dk1"/>
              </a:solidFill>
              <a:latin typeface="Calibri"/>
              <a:ea typeface="Calibri"/>
              <a:cs typeface="Calibri"/>
              <a:sym typeface="Calibri"/>
            </a:endParaRPr>
          </a:p>
        </p:txBody>
      </p:sp>
      <p:sp>
        <p:nvSpPr>
          <p:cNvPr id="357" name="Google Shape;357;p16"/>
          <p:cNvSpPr/>
          <p:nvPr/>
        </p:nvSpPr>
        <p:spPr>
          <a:xfrm>
            <a:off x="800100" y="1100361"/>
            <a:ext cx="10000506" cy="276225"/>
          </a:xfrm>
          <a:prstGeom prst="rect">
            <a:avLst/>
          </a:prstGeom>
          <a:noFill/>
          <a:ln>
            <a:noFill/>
          </a:ln>
        </p:spPr>
        <p:txBody>
          <a:bodyPr anchorCtr="0" anchor="t" bIns="0" lIns="0" spcFirstLastPara="1" rIns="0" wrap="square" tIns="0">
            <a:noAutofit/>
          </a:bodyPr>
          <a:lstStyle/>
          <a:p>
            <a:pPr indent="0" lvl="0" marL="0" marR="0" rtl="0" algn="l">
              <a:lnSpc>
                <a:spcPct val="142156"/>
              </a:lnSpc>
              <a:spcBef>
                <a:spcPts val="0"/>
              </a:spcBef>
              <a:spcAft>
                <a:spcPts val="0"/>
              </a:spcAft>
              <a:buNone/>
            </a:pPr>
            <a:r>
              <a:rPr b="0" i="0" lang="en-US" sz="1530" u="none" cap="none" strike="noStrike">
                <a:solidFill>
                  <a:srgbClr val="FFFFFF"/>
                </a:solidFill>
                <a:latin typeface="Roboto Slab"/>
                <a:ea typeface="Roboto Slab"/>
                <a:cs typeface="Roboto Slab"/>
                <a:sym typeface="Roboto Slab"/>
              </a:rPr>
              <a:t>Download open-source MCP Servers, run them locally</a:t>
            </a:r>
            <a:endParaRPr b="0" i="0" sz="1800" u="none" cap="none" strike="noStrike">
              <a:solidFill>
                <a:schemeClr val="dk1"/>
              </a:solidFill>
              <a:latin typeface="Calibri"/>
              <a:ea typeface="Calibri"/>
              <a:cs typeface="Calibri"/>
              <a:sym typeface="Calibri"/>
            </a:endParaRPr>
          </a:p>
        </p:txBody>
      </p:sp>
      <p:sp>
        <p:nvSpPr>
          <p:cNvPr id="358" name="Google Shape;358;p16"/>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362" name="Google Shape;362;p16"/>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363" name="Google Shape;363;p16"/>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64" name="Google Shape;364;p16"/>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73" name="Google Shape;373;p16"/>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74" name="Google Shape;374;p16"/>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75" name="Google Shape;375;p16"/>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76" name="Google Shape;376;p16"/>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378" name="Google Shape;378;p16"/>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79" name="Google Shape;379;p16"/>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380" name="Google Shape;380;p16"/>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81" name="Google Shape;381;p16"/>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3" name="Google Shape;383;p16"/>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84" name="Google Shape;384;p16"/>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6" name="Google Shape;386;p16"/>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387" name="Google Shape;387;p16"/>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16"/>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390" name="Google Shape;390;p16"/>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7" name="Shape 397"/>
        <p:cNvGrpSpPr/>
        <p:nvPr/>
      </p:nvGrpSpPr>
      <p:grpSpPr>
        <a:xfrm>
          <a:off x="0" y="0"/>
          <a:ext cx="0" cy="0"/>
          <a:chOff x="0" y="0"/>
          <a:chExt cx="0" cy="0"/>
        </a:xfrm>
      </p:grpSpPr>
      <p:sp>
        <p:nvSpPr>
          <p:cNvPr id="398" name="Google Shape;398;p17"/>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Two "Transport" mechanisms</a:t>
            </a:r>
            <a:endParaRPr b="0" i="0" sz="1800" u="none" cap="none" strike="noStrike">
              <a:solidFill>
                <a:schemeClr val="dk1"/>
              </a:solidFill>
              <a:latin typeface="Calibri"/>
              <a:ea typeface="Calibri"/>
              <a:cs typeface="Calibri"/>
              <a:sym typeface="Calibri"/>
            </a:endParaRPr>
          </a:p>
        </p:txBody>
      </p:sp>
      <p:sp>
        <p:nvSpPr>
          <p:cNvPr id="399" name="Google Shape;399;p17"/>
          <p:cNvSpPr/>
          <p:nvPr/>
        </p:nvSpPr>
        <p:spPr>
          <a:xfrm>
            <a:off x="800100" y="1109067"/>
            <a:ext cx="10000506"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FFFF"/>
                </a:solidFill>
                <a:latin typeface="Roboto Slab"/>
                <a:ea typeface="Roboto Slab"/>
                <a:cs typeface="Roboto Slab"/>
                <a:sym typeface="Roboto Slab"/>
              </a:rPr>
              <a:t>Stdio spawns a process and communicates via standard input/output</a:t>
            </a:r>
            <a:endParaRPr b="0" i="0" sz="1800" u="none" cap="none" strike="noStrike">
              <a:solidFill>
                <a:schemeClr val="dk1"/>
              </a:solidFill>
              <a:latin typeface="Calibri"/>
              <a:ea typeface="Calibri"/>
              <a:cs typeface="Calibri"/>
              <a:sym typeface="Calibri"/>
            </a:endParaRPr>
          </a:p>
        </p:txBody>
      </p:sp>
      <p:sp>
        <p:nvSpPr>
          <p:cNvPr id="400" name="Google Shape;400;p17"/>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404" name="Google Shape;404;p17"/>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405" name="Google Shape;405;p17"/>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06" name="Google Shape;406;p17"/>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07" name="Google Shape;407;p17"/>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7"/>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15" name="Google Shape;415;p17"/>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16" name="Google Shape;416;p17"/>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17" name="Google Shape;417;p17"/>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18" name="Google Shape;418;p17"/>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420" name="Google Shape;420;p17"/>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21" name="Google Shape;421;p17"/>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422" name="Google Shape;422;p17"/>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23" name="Google Shape;423;p17"/>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7"/>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5" name="Google Shape;425;p17"/>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26" name="Google Shape;426;p17"/>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8" name="Google Shape;428;p17"/>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429" name="Google Shape;429;p17"/>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7"/>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1" name="Google Shape;431;p17"/>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432" name="Google Shape;432;p17"/>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1181100" y="4203427"/>
            <a:ext cx="387450"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35" name="Google Shape;435;p17"/>
          <p:cNvSpPr/>
          <p:nvPr/>
        </p:nvSpPr>
        <p:spPr>
          <a:xfrm>
            <a:off x="2057400" y="4184377"/>
            <a:ext cx="387437"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36" name="Google Shape;436;p17"/>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1" name="Shape 441"/>
        <p:cNvGrpSpPr/>
        <p:nvPr/>
      </p:nvGrpSpPr>
      <p:grpSpPr>
        <a:xfrm>
          <a:off x="0" y="0"/>
          <a:ext cx="0" cy="0"/>
          <a:chOff x="0" y="0"/>
          <a:chExt cx="0" cy="0"/>
        </a:xfrm>
      </p:grpSpPr>
      <p:sp>
        <p:nvSpPr>
          <p:cNvPr id="442" name="Google Shape;442;p18"/>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Two "Transport" mechanisms</a:t>
            </a:r>
            <a:endParaRPr b="0" i="0" sz="1800" u="none" cap="none" strike="noStrike">
              <a:solidFill>
                <a:schemeClr val="dk1"/>
              </a:solidFill>
              <a:latin typeface="Calibri"/>
              <a:ea typeface="Calibri"/>
              <a:cs typeface="Calibri"/>
              <a:sym typeface="Calibri"/>
            </a:endParaRPr>
          </a:p>
        </p:txBody>
      </p:sp>
      <p:sp>
        <p:nvSpPr>
          <p:cNvPr id="443" name="Google Shape;443;p18"/>
          <p:cNvSpPr/>
          <p:nvPr/>
        </p:nvSpPr>
        <p:spPr>
          <a:xfrm>
            <a:off x="800100" y="1109067"/>
            <a:ext cx="10000506"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lang="en-US" sz="1350">
                <a:solidFill>
                  <a:srgbClr val="FFFFFF"/>
                </a:solidFill>
                <a:latin typeface="Roboto Slab"/>
                <a:ea typeface="Roboto Slab"/>
                <a:cs typeface="Roboto Slab"/>
                <a:sym typeface="Roboto Slab"/>
              </a:rPr>
              <a:t>..while Streamable HTTP uses HTTP (replaces the older SSE)</a:t>
            </a:r>
            <a:endParaRPr b="0" i="0" sz="1800" u="none" cap="none" strike="noStrike">
              <a:solidFill>
                <a:schemeClr val="dk1"/>
              </a:solidFill>
              <a:latin typeface="Calibri"/>
              <a:ea typeface="Calibri"/>
              <a:cs typeface="Calibri"/>
              <a:sym typeface="Calibri"/>
            </a:endParaRPr>
          </a:p>
        </p:txBody>
      </p:sp>
      <p:sp>
        <p:nvSpPr>
          <p:cNvPr id="444" name="Google Shape;444;p18"/>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8"/>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8"/>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448" name="Google Shape;448;p18"/>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449" name="Google Shape;449;p18"/>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50" name="Google Shape;450;p18"/>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51" name="Google Shape;451;p18"/>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8"/>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8"/>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8"/>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8"/>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8"/>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59" name="Google Shape;459;p18"/>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60" name="Google Shape;460;p18"/>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61" name="Google Shape;461;p18"/>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62" name="Google Shape;462;p18"/>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464" name="Google Shape;464;p18"/>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65" name="Google Shape;465;p18"/>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466" name="Google Shape;466;p18"/>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67" name="Google Shape;467;p18"/>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 name="Google Shape;469;p18"/>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70" name="Google Shape;470;p18"/>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8"/>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2" name="Google Shape;472;p18"/>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473" name="Google Shape;473;p18"/>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8"/>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5" name="Google Shape;475;p18"/>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476" name="Google Shape;476;p18"/>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8"/>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p:nvPr/>
        </p:nvSpPr>
        <p:spPr>
          <a:xfrm>
            <a:off x="1181100" y="4203427"/>
            <a:ext cx="387450"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79" name="Google Shape;479;p18"/>
          <p:cNvSpPr/>
          <p:nvPr/>
        </p:nvSpPr>
        <p:spPr>
          <a:xfrm>
            <a:off x="2057400" y="4184377"/>
            <a:ext cx="387437"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80" name="Google Shape;480;p18"/>
          <p:cNvSpPr/>
          <p:nvPr/>
        </p:nvSpPr>
        <p:spPr>
          <a:xfrm>
            <a:off x="3474720" y="2777490"/>
            <a:ext cx="1890000" cy="360000"/>
          </a:xfrm>
          <a:prstGeom prst="rect">
            <a:avLst/>
          </a:prstGeom>
          <a:noFill/>
          <a:ln>
            <a:noFill/>
          </a:ln>
        </p:spPr>
        <p:txBody>
          <a:bodyPr anchorCtr="0" anchor="ctr" bIns="0" lIns="0" spcFirstLastPara="1" rIns="0" wrap="square" tIns="0">
            <a:noAutofit/>
          </a:bodyPr>
          <a:lstStyle/>
          <a:p>
            <a:pPr indent="0" lvl="0" marL="0" marR="0" rtl="0" algn="ctr">
              <a:lnSpc>
                <a:spcPct val="142222"/>
              </a:lnSpc>
              <a:spcBef>
                <a:spcPts val="0"/>
              </a:spcBef>
              <a:spcAft>
                <a:spcPts val="0"/>
              </a:spcAft>
              <a:buNone/>
            </a:pPr>
            <a:r>
              <a:rPr lang="en-US" sz="1125">
                <a:solidFill>
                  <a:srgbClr val="FFFFFF"/>
                </a:solidFill>
                <a:latin typeface="Roboto Slab"/>
                <a:ea typeface="Roboto Slab"/>
                <a:cs typeface="Roboto Slab"/>
                <a:sym typeface="Roboto Slab"/>
              </a:rPr>
              <a:t>Streamable HTTP</a:t>
            </a:r>
            <a:endParaRPr i="0" sz="1125" u="none" cap="none" strike="noStrike">
              <a:solidFill>
                <a:srgbClr val="FFFFFF"/>
              </a:solidFill>
              <a:latin typeface="Roboto Slab"/>
              <a:ea typeface="Roboto Slab"/>
              <a:cs typeface="Roboto Slab"/>
              <a:sym typeface="Roboto Slab"/>
            </a:endParaRPr>
          </a:p>
        </p:txBody>
      </p:sp>
      <p:sp>
        <p:nvSpPr>
          <p:cNvPr id="481" name="Google Shape;481;p18"/>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86" name="Shape 486"/>
        <p:cNvGrpSpPr/>
        <p:nvPr/>
      </p:nvGrpSpPr>
      <p:grpSpPr>
        <a:xfrm>
          <a:off x="0" y="0"/>
          <a:ext cx="0" cy="0"/>
          <a:chOff x="0" y="0"/>
          <a:chExt cx="0" cy="0"/>
        </a:xfrm>
      </p:grpSpPr>
      <p:sp>
        <p:nvSpPr>
          <p:cNvPr id="487" name="Google Shape;487;p19"/>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Connecting to MCP servers</a:t>
            </a:r>
            <a:endParaRPr sz="3300">
              <a:solidFill>
                <a:srgbClr val="FFFFFF"/>
              </a:solidFill>
              <a:latin typeface="Roboto Slab"/>
              <a:ea typeface="Roboto Slab"/>
              <a:cs typeface="Roboto Slab"/>
              <a:sym typeface="Roboto Slab"/>
            </a:endParaRPr>
          </a:p>
        </p:txBody>
      </p:sp>
      <p:sp>
        <p:nvSpPr>
          <p:cNvPr id="488" name="Google Shape;488;p19"/>
          <p:cNvSpPr txBox="1"/>
          <p:nvPr/>
        </p:nvSpPr>
        <p:spPr>
          <a:xfrm>
            <a:off x="585216" y="1152144"/>
            <a:ext cx="5730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00BFFF"/>
                </a:solidFill>
                <a:latin typeface="Montserrat"/>
                <a:ea typeface="Montserrat"/>
                <a:cs typeface="Montserrat"/>
                <a:sym typeface="Montserrat"/>
              </a:rPr>
              <a:t>A server is just a set of parameters</a:t>
            </a:r>
            <a:endParaRPr sz="1800">
              <a:solidFill>
                <a:srgbClr val="00BFFF"/>
              </a:solidFill>
              <a:latin typeface="Montserrat"/>
              <a:ea typeface="Montserrat"/>
              <a:cs typeface="Montserrat"/>
              <a:sym typeface="Montserrat"/>
            </a:endParaRPr>
          </a:p>
        </p:txBody>
      </p:sp>
      <p:sp>
        <p:nvSpPr>
          <p:cNvPr id="489" name="Google Shape;489;p19"/>
          <p:cNvSpPr txBox="1"/>
          <p:nvPr/>
        </p:nvSpPr>
        <p:spPr>
          <a:xfrm>
            <a:off x="182880" y="2407158"/>
            <a:ext cx="1219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rgbClr val="C7C7C7"/>
                </a:solidFill>
                <a:latin typeface="Roboto Slab"/>
                <a:ea typeface="Roboto Slab"/>
                <a:cs typeface="Roboto Slab"/>
                <a:sym typeface="Roboto Slab"/>
              </a:rPr>
              <a:t>fetch</a:t>
            </a:r>
            <a:endParaRPr sz="1300">
              <a:solidFill>
                <a:srgbClr val="C7C7C7"/>
              </a:solidFill>
              <a:latin typeface="Roboto Slab"/>
              <a:ea typeface="Roboto Slab"/>
              <a:cs typeface="Roboto Slab"/>
              <a:sym typeface="Roboto Slab"/>
            </a:endParaRPr>
          </a:p>
        </p:txBody>
      </p:sp>
      <p:sp>
        <p:nvSpPr>
          <p:cNvPr id="490" name="Google Shape;490;p19"/>
          <p:cNvSpPr/>
          <p:nvPr/>
        </p:nvSpPr>
        <p:spPr>
          <a:xfrm>
            <a:off x="1584960" y="2297430"/>
            <a:ext cx="4755000" cy="480000"/>
          </a:xfrm>
          <a:prstGeom prst="roundRect">
            <a:avLst>
              <a:gd fmla="val 16667" name="adj"/>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50">
                <a:solidFill>
                  <a:srgbClr val="D9D9D9"/>
                </a:solidFill>
                <a:latin typeface="Roboto Mono"/>
                <a:ea typeface="Roboto Mono"/>
                <a:cs typeface="Roboto Mono"/>
                <a:sym typeface="Roboto Mono"/>
              </a:rPr>
              <a:t>{"command": "uvx", "args": ["mcp-server-fetch"]}</a:t>
            </a:r>
            <a:endParaRPr sz="1050">
              <a:solidFill>
                <a:srgbClr val="D9D9D9"/>
              </a:solidFill>
              <a:latin typeface="Roboto Mono"/>
              <a:ea typeface="Roboto Mono"/>
              <a:cs typeface="Roboto Mono"/>
              <a:sym typeface="Roboto Mono"/>
            </a:endParaRPr>
          </a:p>
        </p:txBody>
      </p:sp>
      <p:sp>
        <p:nvSpPr>
          <p:cNvPr id="491" name="Google Shape;491;p19"/>
          <p:cNvSpPr txBox="1"/>
          <p:nvPr/>
        </p:nvSpPr>
        <p:spPr>
          <a:xfrm>
            <a:off x="182880" y="3024378"/>
            <a:ext cx="1219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rgbClr val="C7C7C7"/>
                </a:solidFill>
                <a:latin typeface="Roboto Slab"/>
                <a:ea typeface="Roboto Slab"/>
                <a:cs typeface="Roboto Slab"/>
                <a:sym typeface="Roboto Slab"/>
              </a:rPr>
              <a:t>playwright</a:t>
            </a:r>
            <a:endParaRPr sz="1300">
              <a:solidFill>
                <a:srgbClr val="C7C7C7"/>
              </a:solidFill>
              <a:latin typeface="Roboto Slab"/>
              <a:ea typeface="Roboto Slab"/>
              <a:cs typeface="Roboto Slab"/>
              <a:sym typeface="Roboto Slab"/>
            </a:endParaRPr>
          </a:p>
        </p:txBody>
      </p:sp>
      <p:sp>
        <p:nvSpPr>
          <p:cNvPr id="492" name="Google Shape;492;p19"/>
          <p:cNvSpPr/>
          <p:nvPr/>
        </p:nvSpPr>
        <p:spPr>
          <a:xfrm>
            <a:off x="1584960" y="2914650"/>
            <a:ext cx="4755000" cy="480000"/>
          </a:xfrm>
          <a:prstGeom prst="roundRect">
            <a:avLst>
              <a:gd fmla="val 16667" name="adj"/>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50">
                <a:solidFill>
                  <a:srgbClr val="D9D9D9"/>
                </a:solidFill>
                <a:latin typeface="Roboto Mono"/>
                <a:ea typeface="Roboto Mono"/>
                <a:cs typeface="Roboto Mono"/>
                <a:sym typeface="Roboto Mono"/>
              </a:rPr>
              <a:t>{"command": "npx", "args": ["@playwright/mcp@latest"]}</a:t>
            </a:r>
            <a:endParaRPr sz="1050">
              <a:solidFill>
                <a:srgbClr val="D9D9D9"/>
              </a:solidFill>
              <a:latin typeface="Roboto Mono"/>
              <a:ea typeface="Roboto Mono"/>
              <a:cs typeface="Roboto Mono"/>
              <a:sym typeface="Roboto Mono"/>
            </a:endParaRPr>
          </a:p>
        </p:txBody>
      </p:sp>
      <p:sp>
        <p:nvSpPr>
          <p:cNvPr id="493" name="Google Shape;493;p19"/>
          <p:cNvSpPr txBox="1"/>
          <p:nvPr/>
        </p:nvSpPr>
        <p:spPr>
          <a:xfrm>
            <a:off x="182880" y="4601718"/>
            <a:ext cx="1219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rgbClr val="C7C7C7"/>
                </a:solidFill>
                <a:latin typeface="Roboto Slab"/>
                <a:ea typeface="Roboto Slab"/>
                <a:cs typeface="Roboto Slab"/>
                <a:sym typeface="Roboto Slab"/>
              </a:rPr>
              <a:t>context7</a:t>
            </a:r>
            <a:endParaRPr sz="1300">
              <a:solidFill>
                <a:srgbClr val="C7C7C7"/>
              </a:solidFill>
              <a:latin typeface="Roboto Slab"/>
              <a:ea typeface="Roboto Slab"/>
              <a:cs typeface="Roboto Slab"/>
              <a:sym typeface="Roboto Slab"/>
            </a:endParaRPr>
          </a:p>
        </p:txBody>
      </p:sp>
      <p:sp>
        <p:nvSpPr>
          <p:cNvPr id="494" name="Google Shape;494;p19"/>
          <p:cNvSpPr/>
          <p:nvPr/>
        </p:nvSpPr>
        <p:spPr>
          <a:xfrm>
            <a:off x="1584960" y="4491990"/>
            <a:ext cx="4755000" cy="480000"/>
          </a:xfrm>
          <a:prstGeom prst="roundRect">
            <a:avLst>
              <a:gd fmla="val 16667" name="adj"/>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50">
                <a:solidFill>
                  <a:srgbClr val="D9D9D9"/>
                </a:solidFill>
                <a:latin typeface="Roboto Mono"/>
                <a:ea typeface="Roboto Mono"/>
                <a:cs typeface="Roboto Mono"/>
                <a:sym typeface="Roboto Mono"/>
              </a:rPr>
              <a:t>{"url": "https://mcp.context7.com/mcp", "timeout": 60}</a:t>
            </a:r>
            <a:endParaRPr sz="1050">
              <a:solidFill>
                <a:srgbClr val="D9D9D9"/>
              </a:solidFill>
              <a:latin typeface="Roboto Mono"/>
              <a:ea typeface="Roboto Mono"/>
              <a:cs typeface="Roboto Mono"/>
              <a:sym typeface="Roboto Mono"/>
            </a:endParaRPr>
          </a:p>
        </p:txBody>
      </p:sp>
      <p:grpSp>
        <p:nvGrpSpPr>
          <p:cNvPr id="495" name="Google Shape;495;p19"/>
          <p:cNvGrpSpPr/>
          <p:nvPr/>
        </p:nvGrpSpPr>
        <p:grpSpPr>
          <a:xfrm>
            <a:off x="871728" y="1742313"/>
            <a:ext cx="5651052" cy="390144"/>
            <a:chOff x="871728" y="1742313"/>
            <a:chExt cx="5651052" cy="390144"/>
          </a:xfrm>
        </p:grpSpPr>
        <p:sp>
          <p:nvSpPr>
            <p:cNvPr id="496" name="Google Shape;496;p19"/>
            <p:cNvSpPr txBox="1"/>
            <p:nvPr/>
          </p:nvSpPr>
          <p:spPr>
            <a:xfrm>
              <a:off x="1402080" y="1783080"/>
              <a:ext cx="51207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900">
                  <a:solidFill>
                    <a:srgbClr val="00BFFF"/>
                  </a:solidFill>
                  <a:latin typeface="Roboto Slab"/>
                  <a:ea typeface="Roboto Slab"/>
                  <a:cs typeface="Roboto Slab"/>
                  <a:sym typeface="Roboto Slab"/>
                </a:rPr>
                <a:t>STDIO</a:t>
              </a:r>
              <a:r>
                <a:rPr lang="en-US" sz="1500">
                  <a:solidFill>
                    <a:srgbClr val="FFFFFF"/>
                  </a:solidFill>
                  <a:latin typeface="Roboto Slab"/>
                  <a:ea typeface="Roboto Slab"/>
                  <a:cs typeface="Roboto Slab"/>
                  <a:sym typeface="Roboto Slab"/>
                </a:rPr>
                <a:t>   a local process to spawn</a:t>
              </a:r>
              <a:endParaRPr sz="1500">
                <a:solidFill>
                  <a:srgbClr val="FFFFFF"/>
                </a:solidFill>
                <a:latin typeface="Roboto Slab"/>
                <a:ea typeface="Roboto Slab"/>
                <a:cs typeface="Roboto Slab"/>
                <a:sym typeface="Roboto Slab"/>
              </a:endParaRPr>
            </a:p>
          </p:txBody>
        </p:sp>
        <p:pic>
          <p:nvPicPr>
            <p:cNvPr id="497" name="Google Shape;497;p19"/>
            <p:cNvPicPr preferRelativeResize="0"/>
            <p:nvPr/>
          </p:nvPicPr>
          <p:blipFill>
            <a:blip r:embed="rId3">
              <a:alphaModFix/>
            </a:blip>
            <a:stretch>
              <a:fillRect/>
            </a:stretch>
          </p:blipFill>
          <p:spPr>
            <a:xfrm>
              <a:off x="871728" y="1742313"/>
              <a:ext cx="390144" cy="390144"/>
            </a:xfrm>
            <a:prstGeom prst="rect">
              <a:avLst/>
            </a:prstGeom>
            <a:noFill/>
            <a:ln>
              <a:noFill/>
            </a:ln>
          </p:spPr>
        </p:pic>
      </p:grpSp>
      <p:grpSp>
        <p:nvGrpSpPr>
          <p:cNvPr id="498" name="Google Shape;498;p19"/>
          <p:cNvGrpSpPr/>
          <p:nvPr/>
        </p:nvGrpSpPr>
        <p:grpSpPr>
          <a:xfrm>
            <a:off x="871728" y="3936873"/>
            <a:ext cx="5651052" cy="390144"/>
            <a:chOff x="871728" y="3936873"/>
            <a:chExt cx="5651052" cy="390144"/>
          </a:xfrm>
        </p:grpSpPr>
        <p:sp>
          <p:nvSpPr>
            <p:cNvPr id="499" name="Google Shape;499;p19"/>
            <p:cNvSpPr txBox="1"/>
            <p:nvPr/>
          </p:nvSpPr>
          <p:spPr>
            <a:xfrm>
              <a:off x="1402080" y="3977640"/>
              <a:ext cx="51207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900">
                  <a:solidFill>
                    <a:srgbClr val="FFD700"/>
                  </a:solidFill>
                  <a:latin typeface="Roboto Slab"/>
                  <a:ea typeface="Roboto Slab"/>
                  <a:cs typeface="Roboto Slab"/>
                  <a:sym typeface="Roboto Slab"/>
                </a:rPr>
                <a:t>Streamable HTTP</a:t>
              </a:r>
              <a:r>
                <a:rPr lang="en-US" sz="1500">
                  <a:solidFill>
                    <a:srgbClr val="FFFFFF"/>
                  </a:solidFill>
                  <a:latin typeface="Roboto Slab"/>
                  <a:ea typeface="Roboto Slab"/>
                  <a:cs typeface="Roboto Slab"/>
                  <a:sym typeface="Roboto Slab"/>
                </a:rPr>
                <a:t>   a remote URL</a:t>
              </a:r>
              <a:endParaRPr sz="1500">
                <a:solidFill>
                  <a:srgbClr val="FFFFFF"/>
                </a:solidFill>
                <a:latin typeface="Roboto Slab"/>
                <a:ea typeface="Roboto Slab"/>
                <a:cs typeface="Roboto Slab"/>
                <a:sym typeface="Roboto Slab"/>
              </a:endParaRPr>
            </a:p>
          </p:txBody>
        </p:sp>
        <p:pic>
          <p:nvPicPr>
            <p:cNvPr id="500" name="Google Shape;500;p19"/>
            <p:cNvPicPr preferRelativeResize="0"/>
            <p:nvPr/>
          </p:nvPicPr>
          <p:blipFill>
            <a:blip r:embed="rId4">
              <a:alphaModFix/>
            </a:blip>
            <a:stretch>
              <a:fillRect/>
            </a:stretch>
          </p:blipFill>
          <p:spPr>
            <a:xfrm>
              <a:off x="871728" y="3936873"/>
              <a:ext cx="390144" cy="39014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5" name="Shape 505"/>
        <p:cNvGrpSpPr/>
        <p:nvPr/>
      </p:nvGrpSpPr>
      <p:grpSpPr>
        <a:xfrm>
          <a:off x="0" y="0"/>
          <a:ext cx="0" cy="0"/>
          <a:chOff x="0" y="0"/>
          <a:chExt cx="0" cy="0"/>
        </a:xfrm>
      </p:grpSpPr>
      <p:sp>
        <p:nvSpPr>
          <p:cNvPr id="506" name="Google Shape;506;p20"/>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Spawning a local server</a:t>
            </a:r>
            <a:endParaRPr sz="3300">
              <a:solidFill>
                <a:srgbClr val="FFFFFF"/>
              </a:solidFill>
              <a:latin typeface="Roboto Slab"/>
              <a:ea typeface="Roboto Slab"/>
              <a:cs typeface="Roboto Slab"/>
              <a:sym typeface="Roboto Slab"/>
            </a:endParaRPr>
          </a:p>
        </p:txBody>
      </p:sp>
      <p:sp>
        <p:nvSpPr>
          <p:cNvPr id="507" name="Google Shape;507;p20"/>
          <p:cNvSpPr txBox="1"/>
          <p:nvPr/>
        </p:nvSpPr>
        <p:spPr>
          <a:xfrm>
            <a:off x="585216" y="1152144"/>
            <a:ext cx="5730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00BFFF"/>
                </a:solidFill>
                <a:latin typeface="Montserrat"/>
                <a:ea typeface="Montserrat"/>
                <a:cs typeface="Montserrat"/>
                <a:sym typeface="Montserrat"/>
              </a:rPr>
              <a:t>The command tells the client how to launch it</a:t>
            </a:r>
            <a:endParaRPr sz="1800">
              <a:solidFill>
                <a:srgbClr val="00BFFF"/>
              </a:solidFill>
              <a:latin typeface="Montserrat"/>
              <a:ea typeface="Montserrat"/>
              <a:cs typeface="Montserrat"/>
              <a:sym typeface="Montserrat"/>
            </a:endParaRPr>
          </a:p>
        </p:txBody>
      </p:sp>
      <p:grpSp>
        <p:nvGrpSpPr>
          <p:cNvPr id="508" name="Google Shape;508;p20"/>
          <p:cNvGrpSpPr/>
          <p:nvPr/>
        </p:nvGrpSpPr>
        <p:grpSpPr>
          <a:xfrm>
            <a:off x="890016" y="2125980"/>
            <a:ext cx="5510664" cy="617100"/>
            <a:chOff x="890016" y="2125980"/>
            <a:chExt cx="5510664" cy="617100"/>
          </a:xfrm>
        </p:grpSpPr>
        <p:sp>
          <p:nvSpPr>
            <p:cNvPr id="509" name="Google Shape;509;p20"/>
            <p:cNvSpPr txBox="1"/>
            <p:nvPr/>
          </p:nvSpPr>
          <p:spPr>
            <a:xfrm>
              <a:off x="1402080" y="212598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Mono"/>
                  <a:ea typeface="Roboto Mono"/>
                  <a:cs typeface="Roboto Mono"/>
                  <a:sym typeface="Roboto Mono"/>
                </a:rPr>
                <a:t>uvx</a:t>
              </a:r>
              <a:r>
                <a:rPr lang="en-US" sz="1650">
                  <a:solidFill>
                    <a:srgbClr val="FFFFFF"/>
                  </a:solidFill>
                  <a:latin typeface="Roboto Slab"/>
                  <a:ea typeface="Roboto Slab"/>
                  <a:cs typeface="Roboto Slab"/>
                  <a:sym typeface="Roboto Slab"/>
                </a:rPr>
                <a:t>    for Python MCP servers</a:t>
              </a:r>
              <a:endParaRPr sz="1650">
                <a:solidFill>
                  <a:srgbClr val="FFFFFF"/>
                </a:solidFill>
                <a:latin typeface="Roboto Slab"/>
                <a:ea typeface="Roboto Slab"/>
                <a:cs typeface="Roboto Slab"/>
                <a:sym typeface="Roboto Slab"/>
              </a:endParaRPr>
            </a:p>
          </p:txBody>
        </p:sp>
        <p:pic>
          <p:nvPicPr>
            <p:cNvPr id="510" name="Google Shape;510;p20"/>
            <p:cNvPicPr preferRelativeResize="0"/>
            <p:nvPr/>
          </p:nvPicPr>
          <p:blipFill>
            <a:blip r:embed="rId3">
              <a:alphaModFix/>
            </a:blip>
            <a:stretch>
              <a:fillRect/>
            </a:stretch>
          </p:blipFill>
          <p:spPr>
            <a:xfrm>
              <a:off x="890016" y="2189226"/>
              <a:ext cx="353568" cy="353568"/>
            </a:xfrm>
            <a:prstGeom prst="rect">
              <a:avLst/>
            </a:prstGeom>
            <a:noFill/>
            <a:ln>
              <a:noFill/>
            </a:ln>
          </p:spPr>
        </p:pic>
      </p:grpSp>
      <p:grpSp>
        <p:nvGrpSpPr>
          <p:cNvPr id="511" name="Google Shape;511;p20"/>
          <p:cNvGrpSpPr/>
          <p:nvPr/>
        </p:nvGrpSpPr>
        <p:grpSpPr>
          <a:xfrm>
            <a:off x="890016" y="3223260"/>
            <a:ext cx="5510664" cy="617100"/>
            <a:chOff x="890016" y="3223260"/>
            <a:chExt cx="5510664" cy="617100"/>
          </a:xfrm>
        </p:grpSpPr>
        <p:sp>
          <p:nvSpPr>
            <p:cNvPr id="512" name="Google Shape;512;p20"/>
            <p:cNvSpPr txBox="1"/>
            <p:nvPr/>
          </p:nvSpPr>
          <p:spPr>
            <a:xfrm>
              <a:off x="1402080" y="322326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Mono"/>
                  <a:ea typeface="Roboto Mono"/>
                  <a:cs typeface="Roboto Mono"/>
                  <a:sym typeface="Roboto Mono"/>
                </a:rPr>
                <a:t>npx</a:t>
              </a:r>
              <a:r>
                <a:rPr lang="en-US" sz="1650">
                  <a:solidFill>
                    <a:srgbClr val="FFFFFF"/>
                  </a:solidFill>
                  <a:latin typeface="Roboto Slab"/>
                  <a:ea typeface="Roboto Slab"/>
                  <a:cs typeface="Roboto Slab"/>
                  <a:sym typeface="Roboto Slab"/>
                </a:rPr>
                <a:t>    for Node and JavaScript servers</a:t>
              </a:r>
              <a:endParaRPr sz="1650">
                <a:solidFill>
                  <a:srgbClr val="FFFFFF"/>
                </a:solidFill>
                <a:latin typeface="Roboto Slab"/>
                <a:ea typeface="Roboto Slab"/>
                <a:cs typeface="Roboto Slab"/>
                <a:sym typeface="Roboto Slab"/>
              </a:endParaRPr>
            </a:p>
          </p:txBody>
        </p:sp>
        <p:pic>
          <p:nvPicPr>
            <p:cNvPr id="513" name="Google Shape;513;p20"/>
            <p:cNvPicPr preferRelativeResize="0"/>
            <p:nvPr/>
          </p:nvPicPr>
          <p:blipFill>
            <a:blip r:embed="rId4">
              <a:alphaModFix/>
            </a:blip>
            <a:stretch>
              <a:fillRect/>
            </a:stretch>
          </p:blipFill>
          <p:spPr>
            <a:xfrm>
              <a:off x="890016" y="3286506"/>
              <a:ext cx="353568" cy="353568"/>
            </a:xfrm>
            <a:prstGeom prst="rect">
              <a:avLst/>
            </a:prstGeom>
            <a:noFill/>
            <a:ln>
              <a:noFill/>
            </a:ln>
          </p:spPr>
        </p:pic>
      </p:grpSp>
      <p:grpSp>
        <p:nvGrpSpPr>
          <p:cNvPr id="514" name="Google Shape;514;p20"/>
          <p:cNvGrpSpPr/>
          <p:nvPr/>
        </p:nvGrpSpPr>
        <p:grpSpPr>
          <a:xfrm>
            <a:off x="890016" y="4320540"/>
            <a:ext cx="5510664" cy="617100"/>
            <a:chOff x="890016" y="4320540"/>
            <a:chExt cx="5510664" cy="617100"/>
          </a:xfrm>
        </p:grpSpPr>
        <p:sp>
          <p:nvSpPr>
            <p:cNvPr id="515" name="Google Shape;515;p20"/>
            <p:cNvSpPr txBox="1"/>
            <p:nvPr/>
          </p:nvSpPr>
          <p:spPr>
            <a:xfrm>
              <a:off x="1402080" y="432054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Mono"/>
                  <a:ea typeface="Roboto Mono"/>
                  <a:cs typeface="Roboto Mono"/>
                  <a:sym typeface="Roboto Mono"/>
                </a:rPr>
                <a:t>docker</a:t>
              </a:r>
              <a:r>
                <a:rPr lang="en-US" sz="1650">
                  <a:solidFill>
                    <a:srgbClr val="FFFFFF"/>
                  </a:solidFill>
                  <a:latin typeface="Roboto Slab"/>
                  <a:ea typeface="Roboto Slab"/>
                  <a:cs typeface="Roboto Slab"/>
                  <a:sym typeface="Roboto Slab"/>
                </a:rPr>
                <a:t>    for servers packaged as a container</a:t>
              </a:r>
              <a:endParaRPr sz="1650">
                <a:solidFill>
                  <a:srgbClr val="FFFFFF"/>
                </a:solidFill>
                <a:latin typeface="Roboto Slab"/>
                <a:ea typeface="Roboto Slab"/>
                <a:cs typeface="Roboto Slab"/>
                <a:sym typeface="Roboto Slab"/>
              </a:endParaRPr>
            </a:p>
          </p:txBody>
        </p:sp>
        <p:pic>
          <p:nvPicPr>
            <p:cNvPr id="516" name="Google Shape;516;p20"/>
            <p:cNvPicPr preferRelativeResize="0"/>
            <p:nvPr/>
          </p:nvPicPr>
          <p:blipFill>
            <a:blip r:embed="rId5">
              <a:alphaModFix/>
            </a:blip>
            <a:stretch>
              <a:fillRect/>
            </a:stretch>
          </p:blipFill>
          <p:spPr>
            <a:xfrm>
              <a:off x="890016" y="4383786"/>
              <a:ext cx="353568" cy="35356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1" name="Shape 521"/>
        <p:cNvGrpSpPr/>
        <p:nvPr/>
      </p:nvGrpSpPr>
      <p:grpSpPr>
        <a:xfrm>
          <a:off x="0" y="0"/>
          <a:ext cx="0" cy="0"/>
          <a:chOff x="0" y="0"/>
          <a:chExt cx="0" cy="0"/>
        </a:xfrm>
      </p:grpSpPr>
      <p:sp>
        <p:nvSpPr>
          <p:cNvPr id="522" name="Google Shape;522;p21"/>
          <p:cNvSpPr/>
          <p:nvPr/>
        </p:nvSpPr>
        <p:spPr>
          <a:xfrm>
            <a:off x="257180" y="5695950"/>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257180" y="2466975"/>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1"/>
          <p:cNvSpPr/>
          <p:nvPr/>
        </p:nvSpPr>
        <p:spPr>
          <a:xfrm>
            <a:off x="257180" y="4619625"/>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257180" y="1390650"/>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a:off x="257180" y="3543300"/>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257180" y="314325"/>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361950" y="57536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1: Foundations</a:t>
            </a:r>
            <a:endParaRPr b="0" i="0" sz="1800" u="none" cap="none" strike="noStrike">
              <a:solidFill>
                <a:schemeClr val="dk1"/>
              </a:solidFill>
              <a:latin typeface="Calibri"/>
              <a:ea typeface="Calibri"/>
              <a:cs typeface="Calibri"/>
              <a:sym typeface="Calibri"/>
            </a:endParaRPr>
          </a:p>
        </p:txBody>
      </p:sp>
      <p:sp>
        <p:nvSpPr>
          <p:cNvPr id="529" name="Google Shape;529;p21"/>
          <p:cNvSpPr/>
          <p:nvPr/>
        </p:nvSpPr>
        <p:spPr>
          <a:xfrm>
            <a:off x="361950" y="252472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4: LangGraph</a:t>
            </a:r>
            <a:endParaRPr b="0" i="0" sz="1800" u="none" cap="none" strike="noStrike">
              <a:solidFill>
                <a:schemeClr val="dk1"/>
              </a:solidFill>
              <a:latin typeface="Calibri"/>
              <a:ea typeface="Calibri"/>
              <a:cs typeface="Calibri"/>
              <a:sym typeface="Calibri"/>
            </a:endParaRPr>
          </a:p>
        </p:txBody>
      </p:sp>
      <p:sp>
        <p:nvSpPr>
          <p:cNvPr id="530" name="Google Shape;530;p21"/>
          <p:cNvSpPr/>
          <p:nvPr/>
        </p:nvSpPr>
        <p:spPr>
          <a:xfrm>
            <a:off x="361950" y="46773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2: OpenAI Agents SDK</a:t>
            </a:r>
            <a:endParaRPr b="0" i="0" sz="1800" u="none" cap="none" strike="noStrike">
              <a:solidFill>
                <a:schemeClr val="dk1"/>
              </a:solidFill>
              <a:latin typeface="Calibri"/>
              <a:ea typeface="Calibri"/>
              <a:cs typeface="Calibri"/>
              <a:sym typeface="Calibri"/>
            </a:endParaRPr>
          </a:p>
        </p:txBody>
      </p:sp>
      <p:sp>
        <p:nvSpPr>
          <p:cNvPr id="531" name="Google Shape;531;p21"/>
          <p:cNvSpPr/>
          <p:nvPr/>
        </p:nvSpPr>
        <p:spPr>
          <a:xfrm>
            <a:off x="361950" y="14483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lang="en-US" sz="975">
                <a:solidFill>
                  <a:srgbClr val="FFFFFF"/>
                </a:solidFill>
                <a:latin typeface="Roboto Slab"/>
                <a:ea typeface="Roboto Slab"/>
                <a:cs typeface="Roboto Slab"/>
                <a:sym typeface="Roboto Slab"/>
              </a:rPr>
              <a:t>Week 5: Agent Frameworks</a:t>
            </a:r>
            <a:endParaRPr i="0" sz="975" u="none" cap="none" strike="noStrike">
              <a:solidFill>
                <a:srgbClr val="FFFFFF"/>
              </a:solidFill>
              <a:latin typeface="Roboto Slab"/>
              <a:ea typeface="Roboto Slab"/>
              <a:cs typeface="Roboto Slab"/>
              <a:sym typeface="Roboto Slab"/>
            </a:endParaRPr>
          </a:p>
        </p:txBody>
      </p:sp>
      <p:sp>
        <p:nvSpPr>
          <p:cNvPr id="532" name="Google Shape;532;p21"/>
          <p:cNvSpPr/>
          <p:nvPr/>
        </p:nvSpPr>
        <p:spPr>
          <a:xfrm>
            <a:off x="361950" y="360104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3: CrewAI</a:t>
            </a:r>
            <a:endParaRPr b="0" i="0" sz="1800" u="none" cap="none" strike="noStrike">
              <a:solidFill>
                <a:schemeClr val="dk1"/>
              </a:solidFill>
              <a:latin typeface="Calibri"/>
              <a:ea typeface="Calibri"/>
              <a:cs typeface="Calibri"/>
              <a:sym typeface="Calibri"/>
            </a:endParaRPr>
          </a:p>
        </p:txBody>
      </p:sp>
      <p:sp>
        <p:nvSpPr>
          <p:cNvPr id="533" name="Google Shape;533;p21"/>
          <p:cNvSpPr/>
          <p:nvPr/>
        </p:nvSpPr>
        <p:spPr>
          <a:xfrm>
            <a:off x="361950" y="3720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6: MCP</a:t>
            </a:r>
            <a:endParaRPr b="0" i="0" sz="1800" u="none" cap="none" strike="noStrike">
              <a:solidFill>
                <a:schemeClr val="dk1"/>
              </a:solidFill>
              <a:latin typeface="Calibri"/>
              <a:ea typeface="Calibri"/>
              <a:cs typeface="Calibri"/>
              <a:sym typeface="Calibri"/>
            </a:endParaRPr>
          </a:p>
        </p:txBody>
      </p:sp>
      <p:sp>
        <p:nvSpPr>
          <p:cNvPr id="534" name="Google Shape;534;p21"/>
          <p:cNvSpPr/>
          <p:nvPr/>
        </p:nvSpPr>
        <p:spPr>
          <a:xfrm>
            <a:off x="447680" y="6010275"/>
            <a:ext cx="100296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1"/>
          <p:cNvSpPr/>
          <p:nvPr/>
        </p:nvSpPr>
        <p:spPr>
          <a:xfrm>
            <a:off x="447675"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Make an</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Workflow</a:t>
            </a:r>
            <a:endParaRPr b="0" i="0" sz="1800" u="none" cap="none" strike="noStrike">
              <a:solidFill>
                <a:schemeClr val="dk1"/>
              </a:solidFill>
              <a:latin typeface="Calibri"/>
              <a:ea typeface="Calibri"/>
              <a:cs typeface="Calibri"/>
              <a:sym typeface="Calibri"/>
            </a:endParaRPr>
          </a:p>
        </p:txBody>
      </p:sp>
      <p:sp>
        <p:nvSpPr>
          <p:cNvPr id="536" name="Google Shape;536;p21"/>
          <p:cNvSpPr/>
          <p:nvPr/>
        </p:nvSpPr>
        <p:spPr>
          <a:xfrm>
            <a:off x="447680" y="278130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447675"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Core</a:t>
            </a:r>
            <a:endParaRPr i="0" sz="1125" u="none" cap="none" strike="noStrike"/>
          </a:p>
        </p:txBody>
      </p:sp>
      <p:sp>
        <p:nvSpPr>
          <p:cNvPr id="538" name="Google Shape;538;p21"/>
          <p:cNvSpPr/>
          <p:nvPr/>
        </p:nvSpPr>
        <p:spPr>
          <a:xfrm>
            <a:off x="447680" y="493395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447675" y="50077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OpenAI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SDK concepts</a:t>
            </a:r>
            <a:endParaRPr b="0" i="0" sz="1800" u="none" cap="none" strike="noStrike">
              <a:solidFill>
                <a:schemeClr val="dk1"/>
              </a:solidFill>
              <a:latin typeface="Calibri"/>
              <a:ea typeface="Calibri"/>
              <a:cs typeface="Calibri"/>
              <a:sym typeface="Calibri"/>
            </a:endParaRPr>
          </a:p>
        </p:txBody>
      </p:sp>
      <p:sp>
        <p:nvSpPr>
          <p:cNvPr id="540" name="Google Shape;540;p21"/>
          <p:cNvSpPr/>
          <p:nvPr/>
        </p:nvSpPr>
        <p:spPr>
          <a:xfrm>
            <a:off x="447680" y="1704975"/>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447675"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Google ADK</a:t>
            </a:r>
            <a:br>
              <a:rPr lang="en-US" sz="1125"/>
            </a:br>
            <a:r>
              <a:rPr lang="en-US" sz="1125"/>
              <a:t>and A2A</a:t>
            </a:r>
            <a:endParaRPr i="0" sz="1125" u="none" cap="none" strike="noStrike"/>
          </a:p>
        </p:txBody>
      </p:sp>
      <p:sp>
        <p:nvSpPr>
          <p:cNvPr id="542" name="Google Shape;542;p21"/>
          <p:cNvSpPr/>
          <p:nvPr/>
        </p:nvSpPr>
        <p:spPr>
          <a:xfrm>
            <a:off x="447680" y="3857625"/>
            <a:ext cx="1002969"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1"/>
          <p:cNvSpPr/>
          <p:nvPr/>
        </p:nvSpPr>
        <p:spPr>
          <a:xfrm>
            <a:off x="44767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Crew AI</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Concepts</a:t>
            </a:r>
            <a:endParaRPr b="0" i="0" sz="1800" u="none" cap="none" strike="noStrike">
              <a:solidFill>
                <a:schemeClr val="dk1"/>
              </a:solidFill>
              <a:latin typeface="Calibri"/>
              <a:ea typeface="Calibri"/>
              <a:cs typeface="Calibri"/>
              <a:sym typeface="Calibri"/>
            </a:endParaRPr>
          </a:p>
        </p:txBody>
      </p:sp>
      <p:sp>
        <p:nvSpPr>
          <p:cNvPr id="544" name="Google Shape;544;p21"/>
          <p:cNvSpPr/>
          <p:nvPr/>
        </p:nvSpPr>
        <p:spPr>
          <a:xfrm>
            <a:off x="447680" y="628650"/>
            <a:ext cx="100296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44767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Architecture</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and MCP</a:t>
            </a:r>
            <a:endParaRPr b="0" i="0" sz="1800" u="none" cap="none" strike="noStrike">
              <a:solidFill>
                <a:schemeClr val="dk1"/>
              </a:solidFill>
              <a:latin typeface="Calibri"/>
              <a:ea typeface="Calibri"/>
              <a:cs typeface="Calibri"/>
              <a:sym typeface="Calibri"/>
            </a:endParaRPr>
          </a:p>
        </p:txBody>
      </p:sp>
      <p:sp>
        <p:nvSpPr>
          <p:cNvPr id="546" name="Google Shape;546;p21"/>
          <p:cNvSpPr/>
          <p:nvPr/>
        </p:nvSpPr>
        <p:spPr>
          <a:xfrm>
            <a:off x="1562110" y="6010275"/>
            <a:ext cx="100296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15621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Agents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Patterns</a:t>
            </a:r>
            <a:endParaRPr b="0" i="0" sz="1800" u="none" cap="none" strike="noStrike">
              <a:solidFill>
                <a:schemeClr val="dk1"/>
              </a:solidFill>
              <a:latin typeface="Calibri"/>
              <a:ea typeface="Calibri"/>
              <a:cs typeface="Calibri"/>
              <a:sym typeface="Calibri"/>
            </a:endParaRPr>
          </a:p>
        </p:txBody>
      </p:sp>
      <p:sp>
        <p:nvSpPr>
          <p:cNvPr id="548" name="Google Shape;548;p21"/>
          <p:cNvSpPr/>
          <p:nvPr/>
        </p:nvSpPr>
        <p:spPr>
          <a:xfrm>
            <a:off x="1562110" y="278130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15621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LangGraph</a:t>
            </a:r>
            <a:endParaRPr i="0" sz="1125" u="none" cap="none" strike="noStrike"/>
          </a:p>
        </p:txBody>
      </p:sp>
      <p:sp>
        <p:nvSpPr>
          <p:cNvPr id="550" name="Google Shape;550;p21"/>
          <p:cNvSpPr/>
          <p:nvPr/>
        </p:nvSpPr>
        <p:spPr>
          <a:xfrm>
            <a:off x="1562110" y="4933950"/>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15621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2: an</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SDR</a:t>
            </a:r>
            <a:endParaRPr b="0" i="0" sz="1800" u="none" cap="none" strike="noStrike">
              <a:solidFill>
                <a:schemeClr val="dk1"/>
              </a:solidFill>
              <a:latin typeface="Calibri"/>
              <a:ea typeface="Calibri"/>
              <a:cs typeface="Calibri"/>
              <a:sym typeface="Calibri"/>
            </a:endParaRPr>
          </a:p>
        </p:txBody>
      </p:sp>
      <p:sp>
        <p:nvSpPr>
          <p:cNvPr id="552" name="Google Shape;552;p21"/>
          <p:cNvSpPr/>
          <p:nvPr/>
        </p:nvSpPr>
        <p:spPr>
          <a:xfrm>
            <a:off x="1562110" y="1704975"/>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15621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Strands and</a:t>
            </a:r>
            <a:br>
              <a:rPr lang="en-US" sz="1125"/>
            </a:br>
            <a:r>
              <a:rPr lang="en-US" sz="1125"/>
              <a:t>Pydantic AI</a:t>
            </a:r>
            <a:endParaRPr i="0" sz="1125" u="none" cap="none" strike="noStrike"/>
          </a:p>
        </p:txBody>
      </p:sp>
      <p:sp>
        <p:nvSpPr>
          <p:cNvPr id="554" name="Google Shape;554;p21"/>
          <p:cNvSpPr/>
          <p:nvPr/>
        </p:nvSpPr>
        <p:spPr>
          <a:xfrm>
            <a:off x="1562110" y="3857625"/>
            <a:ext cx="1002969"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1562100"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Build a Crew</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556" name="Google Shape;556;p21"/>
          <p:cNvSpPr/>
          <p:nvPr/>
        </p:nvSpPr>
        <p:spPr>
          <a:xfrm>
            <a:off x="1562110" y="628650"/>
            <a:ext cx="1002969" cy="610230"/>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15621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Building</a:t>
            </a:r>
            <a:br>
              <a:rPr lang="en-US" sz="1125">
                <a:solidFill>
                  <a:srgbClr val="FFFFFF"/>
                </a:solidFill>
              </a:rPr>
            </a:br>
            <a:r>
              <a:rPr lang="en-US" sz="1125">
                <a:solidFill>
                  <a:srgbClr val="FFFFFF"/>
                </a:solidFill>
              </a:rPr>
              <a:t>MCP Server</a:t>
            </a:r>
            <a:endParaRPr i="0" sz="1125" u="none" cap="none" strike="noStrike">
              <a:solidFill>
                <a:srgbClr val="FFFFFF"/>
              </a:solidFill>
            </a:endParaRPr>
          </a:p>
        </p:txBody>
      </p:sp>
      <p:sp>
        <p:nvSpPr>
          <p:cNvPr id="558" name="Google Shape;558;p21"/>
          <p:cNvSpPr/>
          <p:nvPr/>
        </p:nvSpPr>
        <p:spPr>
          <a:xfrm>
            <a:off x="2676515" y="6010275"/>
            <a:ext cx="1002995"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2676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Orchestrating</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LLMs</a:t>
            </a:r>
            <a:endParaRPr b="0" i="0" sz="1800" u="none" cap="none" strike="noStrike">
              <a:solidFill>
                <a:schemeClr val="dk1"/>
              </a:solidFill>
              <a:latin typeface="Calibri"/>
              <a:ea typeface="Calibri"/>
              <a:cs typeface="Calibri"/>
              <a:sym typeface="Calibri"/>
            </a:endParaRPr>
          </a:p>
        </p:txBody>
      </p:sp>
      <p:sp>
        <p:nvSpPr>
          <p:cNvPr id="560" name="Google Shape;560;p21"/>
          <p:cNvSpPr/>
          <p:nvPr/>
        </p:nvSpPr>
        <p:spPr>
          <a:xfrm>
            <a:off x="2676515" y="2781300"/>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2676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create_agent</a:t>
            </a:r>
            <a:endParaRPr i="0" sz="1125" u="none" cap="none" strike="noStrike"/>
          </a:p>
        </p:txBody>
      </p:sp>
      <p:sp>
        <p:nvSpPr>
          <p:cNvPr id="562" name="Google Shape;562;p21"/>
          <p:cNvSpPr/>
          <p:nvPr/>
        </p:nvSpPr>
        <p:spPr>
          <a:xfrm>
            <a:off x="2667000" y="493395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1"/>
          <p:cNvSpPr/>
          <p:nvPr/>
        </p:nvSpPr>
        <p:spPr>
          <a:xfrm>
            <a:off x="26670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Tools vs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Guardrails</a:t>
            </a:r>
            <a:endParaRPr b="0" i="0" sz="1800" u="none" cap="none" strike="noStrike">
              <a:solidFill>
                <a:schemeClr val="dk1"/>
              </a:solidFill>
              <a:latin typeface="Calibri"/>
              <a:ea typeface="Calibri"/>
              <a:cs typeface="Calibri"/>
              <a:sym typeface="Calibri"/>
            </a:endParaRPr>
          </a:p>
        </p:txBody>
      </p:sp>
      <p:sp>
        <p:nvSpPr>
          <p:cNvPr id="564" name="Google Shape;564;p21"/>
          <p:cNvSpPr/>
          <p:nvPr/>
        </p:nvSpPr>
        <p:spPr>
          <a:xfrm>
            <a:off x="2676515" y="1704975"/>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1"/>
          <p:cNvSpPr/>
          <p:nvPr/>
        </p:nvSpPr>
        <p:spPr>
          <a:xfrm>
            <a:off x="2676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MAF and</a:t>
            </a:r>
            <a:br>
              <a:rPr lang="en-US" sz="1125"/>
            </a:br>
            <a:r>
              <a:rPr lang="en-US" sz="1125"/>
              <a:t>Agno</a:t>
            </a:r>
            <a:endParaRPr i="0" sz="1125" u="none" cap="none" strike="noStrike"/>
          </a:p>
        </p:txBody>
      </p:sp>
      <p:sp>
        <p:nvSpPr>
          <p:cNvPr id="566" name="Google Shape;566;p21"/>
          <p:cNvSpPr/>
          <p:nvPr/>
        </p:nvSpPr>
        <p:spPr>
          <a:xfrm>
            <a:off x="2676515" y="3857625"/>
            <a:ext cx="1002995"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a:off x="2676525"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4: Stock</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Picker</a:t>
            </a:r>
            <a:endParaRPr b="0" i="0" sz="1800" u="none" cap="none" strike="noStrike">
              <a:solidFill>
                <a:schemeClr val="dk1"/>
              </a:solidFill>
              <a:latin typeface="Calibri"/>
              <a:ea typeface="Calibri"/>
              <a:cs typeface="Calibri"/>
              <a:sym typeface="Calibri"/>
            </a:endParaRPr>
          </a:p>
        </p:txBody>
      </p:sp>
      <p:sp>
        <p:nvSpPr>
          <p:cNvPr id="568" name="Google Shape;568;p21"/>
          <p:cNvSpPr/>
          <p:nvPr/>
        </p:nvSpPr>
        <p:spPr>
          <a:xfrm>
            <a:off x="2676515" y="628650"/>
            <a:ext cx="1002995" cy="610230"/>
          </a:xfrm>
          <a:prstGeom prst="rect">
            <a:avLst/>
          </a:prstGeom>
          <a:no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267652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Context</a:t>
            </a:r>
            <a:br>
              <a:rPr lang="en-US" sz="1125">
                <a:solidFill>
                  <a:srgbClr val="FFFFFF"/>
                </a:solidFill>
              </a:rPr>
            </a:br>
            <a:r>
              <a:rPr lang="en-US" sz="1125">
                <a:solidFill>
                  <a:srgbClr val="FFFFFF"/>
                </a:solidFill>
              </a:rPr>
              <a:t>Engineering</a:t>
            </a:r>
            <a:br>
              <a:rPr lang="en-US" sz="1125">
                <a:solidFill>
                  <a:srgbClr val="FFFFFF"/>
                </a:solidFill>
              </a:rPr>
            </a:br>
            <a:r>
              <a:rPr lang="en-US" sz="1125">
                <a:solidFill>
                  <a:srgbClr val="FFFFFF"/>
                </a:solidFill>
              </a:rPr>
              <a:t>with MCP</a:t>
            </a:r>
            <a:endParaRPr i="0" sz="1125" u="none" cap="none" strike="noStrike">
              <a:solidFill>
                <a:srgbClr val="FFFFFF"/>
              </a:solidFill>
            </a:endParaRPr>
          </a:p>
        </p:txBody>
      </p:sp>
      <p:sp>
        <p:nvSpPr>
          <p:cNvPr id="570" name="Google Shape;570;p21"/>
          <p:cNvSpPr/>
          <p:nvPr/>
        </p:nvSpPr>
        <p:spPr>
          <a:xfrm>
            <a:off x="3819515" y="6010275"/>
            <a:ext cx="1002995"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1"/>
          <p:cNvSpPr/>
          <p:nvPr/>
        </p:nvSpPr>
        <p:spPr>
          <a:xfrm>
            <a:off x="3819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Autonomy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Tools</a:t>
            </a:r>
            <a:endParaRPr b="0" i="0" sz="1800" u="none" cap="none" strike="noStrike">
              <a:solidFill>
                <a:schemeClr val="dk1"/>
              </a:solidFill>
              <a:latin typeface="Calibri"/>
              <a:ea typeface="Calibri"/>
              <a:cs typeface="Calibri"/>
              <a:sym typeface="Calibri"/>
            </a:endParaRPr>
          </a:p>
        </p:txBody>
      </p:sp>
      <p:sp>
        <p:nvSpPr>
          <p:cNvPr id="572" name="Google Shape;572;p21"/>
          <p:cNvSpPr/>
          <p:nvPr/>
        </p:nvSpPr>
        <p:spPr>
          <a:xfrm>
            <a:off x="3819515" y="2781300"/>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3819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Deep Agents</a:t>
            </a:r>
            <a:endParaRPr i="0" sz="1125" u="none" cap="none" strike="noStrike"/>
          </a:p>
        </p:txBody>
      </p:sp>
      <p:sp>
        <p:nvSpPr>
          <p:cNvPr id="574" name="Google Shape;574;p21"/>
          <p:cNvSpPr/>
          <p:nvPr/>
        </p:nvSpPr>
        <p:spPr>
          <a:xfrm>
            <a:off x="3819515" y="4933950"/>
            <a:ext cx="1002995"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3819525"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a:t>
            </a:r>
            <a:endParaRPr b="0" i="0" sz="1800" u="none" cap="none" strike="noStrike">
              <a:solidFill>
                <a:schemeClr val="dk1"/>
              </a:solidFill>
              <a:latin typeface="Calibri"/>
              <a:ea typeface="Calibri"/>
              <a:cs typeface="Calibri"/>
              <a:sym typeface="Calibri"/>
            </a:endParaRPr>
          </a:p>
        </p:txBody>
      </p:sp>
      <p:sp>
        <p:nvSpPr>
          <p:cNvPr id="576" name="Google Shape;576;p21"/>
          <p:cNvSpPr/>
          <p:nvPr/>
        </p:nvSpPr>
        <p:spPr>
          <a:xfrm>
            <a:off x="3819515" y="1704975"/>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3819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Mastra</a:t>
            </a:r>
            <a:endParaRPr i="0" sz="1125" u="none" cap="none" strike="noStrike"/>
          </a:p>
        </p:txBody>
      </p:sp>
      <p:sp>
        <p:nvSpPr>
          <p:cNvPr id="578" name="Google Shape;578;p21"/>
          <p:cNvSpPr/>
          <p:nvPr/>
        </p:nvSpPr>
        <p:spPr>
          <a:xfrm>
            <a:off x="3819515" y="3857625"/>
            <a:ext cx="1002995"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1"/>
          <p:cNvSpPr/>
          <p:nvPr/>
        </p:nvSpPr>
        <p:spPr>
          <a:xfrm>
            <a:off x="381952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Developer</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580" name="Google Shape;580;p21"/>
          <p:cNvSpPr/>
          <p:nvPr/>
        </p:nvSpPr>
        <p:spPr>
          <a:xfrm>
            <a:off x="3819515" y="628650"/>
            <a:ext cx="1002995"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1"/>
          <p:cNvSpPr/>
          <p:nvPr/>
        </p:nvSpPr>
        <p:spPr>
          <a:xfrm>
            <a:off x="3819525" y="7786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endParaRPr b="0" i="0" sz="1800" u="none" cap="none" strike="noStrike">
              <a:solidFill>
                <a:schemeClr val="dk1"/>
              </a:solidFill>
              <a:latin typeface="Calibri"/>
              <a:ea typeface="Calibri"/>
              <a:cs typeface="Calibri"/>
              <a:sym typeface="Calibri"/>
            </a:endParaRPr>
          </a:p>
        </p:txBody>
      </p:sp>
      <p:sp>
        <p:nvSpPr>
          <p:cNvPr id="582" name="Google Shape;582;p21"/>
          <p:cNvSpPr/>
          <p:nvPr/>
        </p:nvSpPr>
        <p:spPr>
          <a:xfrm>
            <a:off x="4953000" y="6010275"/>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1"/>
          <p:cNvSpPr/>
          <p:nvPr/>
        </p:nvSpPr>
        <p:spPr>
          <a:xfrm>
            <a:off x="49530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1:</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Your personal</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career agent</a:t>
            </a:r>
            <a:endParaRPr b="0" i="0" sz="1800" u="none" cap="none" strike="noStrike">
              <a:solidFill>
                <a:schemeClr val="dk1"/>
              </a:solidFill>
              <a:latin typeface="Calibri"/>
              <a:ea typeface="Calibri"/>
              <a:cs typeface="Calibri"/>
              <a:sym typeface="Calibri"/>
            </a:endParaRPr>
          </a:p>
        </p:txBody>
      </p:sp>
      <p:sp>
        <p:nvSpPr>
          <p:cNvPr id="584" name="Google Shape;584;p21"/>
          <p:cNvSpPr/>
          <p:nvPr/>
        </p:nvSpPr>
        <p:spPr>
          <a:xfrm>
            <a:off x="4953000" y="2781300"/>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1"/>
          <p:cNvSpPr/>
          <p:nvPr/>
        </p:nvSpPr>
        <p:spPr>
          <a:xfrm>
            <a:off x="49530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6:</a:t>
            </a:r>
            <a:br>
              <a:rPr lang="en-US" sz="1125"/>
            </a:br>
            <a:r>
              <a:rPr lang="en-US" sz="1125"/>
              <a:t>Sidekick</a:t>
            </a:r>
            <a:endParaRPr i="0" sz="1125" u="none" cap="none" strike="noStrike"/>
          </a:p>
        </p:txBody>
      </p:sp>
      <p:sp>
        <p:nvSpPr>
          <p:cNvPr id="586" name="Google Shape;586;p21"/>
          <p:cNvSpPr/>
          <p:nvPr/>
        </p:nvSpPr>
        <p:spPr>
          <a:xfrm>
            <a:off x="4953000" y="4933950"/>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1"/>
          <p:cNvSpPr/>
          <p:nvPr/>
        </p:nvSpPr>
        <p:spPr>
          <a:xfrm>
            <a:off x="49530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 app</a:t>
            </a:r>
            <a:endParaRPr b="0" i="0" sz="1800" u="none" cap="none" strike="noStrike">
              <a:solidFill>
                <a:schemeClr val="dk1"/>
              </a:solidFill>
              <a:latin typeface="Calibri"/>
              <a:ea typeface="Calibri"/>
              <a:cs typeface="Calibri"/>
              <a:sym typeface="Calibri"/>
            </a:endParaRPr>
          </a:p>
        </p:txBody>
      </p:sp>
      <p:sp>
        <p:nvSpPr>
          <p:cNvPr id="588" name="Google Shape;588;p21"/>
          <p:cNvSpPr/>
          <p:nvPr/>
        </p:nvSpPr>
        <p:spPr>
          <a:xfrm>
            <a:off x="4953000" y="1704975"/>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1"/>
          <p:cNvSpPr/>
          <p:nvPr/>
        </p:nvSpPr>
        <p:spPr>
          <a:xfrm>
            <a:off x="49530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7:</a:t>
            </a:r>
            <a:br>
              <a:rPr lang="en-US" sz="1125"/>
            </a:br>
            <a:r>
              <a:rPr lang="en-US" sz="1125"/>
              <a:t>Agent Loop</a:t>
            </a:r>
            <a:endParaRPr i="0" sz="1125" u="none" cap="none" strike="noStrike"/>
          </a:p>
        </p:txBody>
      </p:sp>
      <p:sp>
        <p:nvSpPr>
          <p:cNvPr id="590" name="Google Shape;590;p21"/>
          <p:cNvSpPr/>
          <p:nvPr/>
        </p:nvSpPr>
        <p:spPr>
          <a:xfrm>
            <a:off x="4953000" y="3857625"/>
            <a:ext cx="1002969"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1"/>
          <p:cNvSpPr/>
          <p:nvPr/>
        </p:nvSpPr>
        <p:spPr>
          <a:xfrm>
            <a:off x="4953000"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Engineering</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Team</a:t>
            </a:r>
            <a:endParaRPr b="0" i="0" sz="1800" u="none" cap="none" strike="noStrike">
              <a:solidFill>
                <a:schemeClr val="dk1"/>
              </a:solidFill>
              <a:latin typeface="Calibri"/>
              <a:ea typeface="Calibri"/>
              <a:cs typeface="Calibri"/>
              <a:sym typeface="Calibri"/>
            </a:endParaRPr>
          </a:p>
        </p:txBody>
      </p:sp>
      <p:sp>
        <p:nvSpPr>
          <p:cNvPr id="592" name="Google Shape;592;p21"/>
          <p:cNvSpPr/>
          <p:nvPr/>
        </p:nvSpPr>
        <p:spPr>
          <a:xfrm>
            <a:off x="4953000" y="628650"/>
            <a:ext cx="1002969"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1"/>
          <p:cNvSpPr/>
          <p:nvPr/>
        </p:nvSpPr>
        <p:spPr>
          <a:xfrm>
            <a:off x="49530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In Action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8" name="Shape 598"/>
        <p:cNvGrpSpPr/>
        <p:nvPr/>
      </p:nvGrpSpPr>
      <p:grpSpPr>
        <a:xfrm>
          <a:off x="0" y="0"/>
          <a:ext cx="0" cy="0"/>
          <a:chOff x="0" y="0"/>
          <a:chExt cx="0" cy="0"/>
        </a:xfrm>
      </p:grpSpPr>
      <p:sp>
        <p:nvSpPr>
          <p:cNvPr id="599" name="Google Shape;599;p22"/>
          <p:cNvSpPr/>
          <p:nvPr/>
        </p:nvSpPr>
        <p:spPr>
          <a:xfrm>
            <a:off x="4572000" y="0"/>
            <a:ext cx="2609100" cy="6858000"/>
          </a:xfrm>
          <a:prstGeom prst="rect">
            <a:avLst/>
          </a:prstGeom>
          <a:solidFill>
            <a:srgbClr val="FF7800">
              <a:alpha val="349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22"/>
          <p:cNvSpPr txBox="1"/>
          <p:nvPr/>
        </p:nvSpPr>
        <p:spPr>
          <a:xfrm>
            <a:off x="4730495" y="260604"/>
            <a:ext cx="2450700" cy="627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2400">
                <a:solidFill>
                  <a:srgbClr val="FFFFFF"/>
                </a:solidFill>
                <a:latin typeface="Montserrat"/>
                <a:ea typeface="Montserrat"/>
                <a:cs typeface="Montserrat"/>
                <a:sym typeface="Montserrat"/>
              </a:rPr>
              <a:t>AI Engineer Agentic Track</a:t>
            </a:r>
            <a:endParaRPr b="1" sz="2400">
              <a:solidFill>
                <a:srgbClr val="FFFFFF"/>
              </a:solidFill>
              <a:latin typeface="Montserrat"/>
              <a:ea typeface="Montserrat"/>
              <a:cs typeface="Montserrat"/>
              <a:sym typeface="Montserrat"/>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The Complete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Agent &amp; MCP</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Course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6500">
                <a:solidFill>
                  <a:srgbClr val="FFFFFF"/>
                </a:solidFill>
                <a:latin typeface="Montserrat SemiBold"/>
                <a:ea typeface="Montserrat SemiBold"/>
                <a:cs typeface="Montserrat SemiBold"/>
                <a:sym typeface="Montserrat SemiBold"/>
              </a:rPr>
              <a:t>87%</a:t>
            </a:r>
            <a:endParaRPr sz="65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000">
                <a:solidFill>
                  <a:srgbClr val="FFFFFF"/>
                </a:solidFill>
                <a:latin typeface="Montserrat SemiBold"/>
                <a:ea typeface="Montserrat SemiBold"/>
                <a:cs typeface="Montserrat SemiBold"/>
                <a:sym typeface="Montserrat SemiBold"/>
              </a:rPr>
              <a:t>Complete</a:t>
            </a:r>
            <a:endParaRPr sz="20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p>
        </p:txBody>
      </p:sp>
      <p:pic>
        <p:nvPicPr>
          <p:cNvPr id="601" name="Google Shape;601;p22" title="02_wX_1-2.png"/>
          <p:cNvPicPr preferRelativeResize="0"/>
          <p:nvPr/>
        </p:nvPicPr>
        <p:blipFill>
          <a:blip r:embed="rId3">
            <a:alphaModFix/>
          </a:blip>
          <a:stretch>
            <a:fillRect/>
          </a:stretch>
        </p:blipFill>
        <p:spPr>
          <a:xfrm>
            <a:off x="0" y="0"/>
            <a:ext cx="4572001" cy="68580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1A9E2"/>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1A9E2"/>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