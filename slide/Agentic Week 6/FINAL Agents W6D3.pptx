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Roboto Slab"/>
      <p:regular r:id="rId10"/>
      <p:bold r:id="rId11"/>
    </p:embeddedFont>
    <p:embeddedFont>
      <p:font typeface="Montserrat SemiBold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w6d3ou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w6d3ou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w6d3ou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6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05_wX_3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101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56" name="Google Shape;56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64" name="Google Shape;64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676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9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8001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MCP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00100" y="1109067"/>
            <a:ext cx="1000050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 reminder of the 3 configurations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90524" y="1676400"/>
            <a:ext cx="3163488" cy="448295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705226" y="1676400"/>
            <a:ext cx="1696456" cy="2484269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705226" y="4267200"/>
            <a:ext cx="1696456" cy="1892157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581025" y="1900684"/>
            <a:ext cx="2083594" cy="2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85825" y="2557909"/>
            <a:ext cx="2083594" cy="2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952875" y="1900684"/>
            <a:ext cx="1293093" cy="2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886200" y="4386709"/>
            <a:ext cx="1293093" cy="2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52451" y="2428875"/>
            <a:ext cx="2873853" cy="1731794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00101" y="3133725"/>
            <a:ext cx="741584" cy="783676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62000" y="4591050"/>
            <a:ext cx="741584" cy="783677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619250" y="4591050"/>
            <a:ext cx="741584" cy="783677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962399" y="3162300"/>
            <a:ext cx="741584" cy="783677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1619250" y="3133725"/>
            <a:ext cx="741584" cy="783676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2457451" y="3133725"/>
            <a:ext cx="741581" cy="783676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872963" y="3333006"/>
            <a:ext cx="48180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15329" y="4790331"/>
            <a:ext cx="520876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672579" y="4790331"/>
            <a:ext cx="520876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053829" y="3361581"/>
            <a:ext cx="520876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962399" y="4848225"/>
            <a:ext cx="703739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105275" y="4980831"/>
            <a:ext cx="417984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692113" y="3333006"/>
            <a:ext cx="48180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530313" y="3333006"/>
            <a:ext cx="48180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 rot="5400000">
            <a:off x="816812" y="4271353"/>
            <a:ext cx="63939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5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5"/>
          <p:cNvCxnSpPr/>
          <p:nvPr/>
        </p:nvCxnSpPr>
        <p:spPr>
          <a:xfrm rot="5400000">
            <a:off x="1671028" y="4234473"/>
            <a:ext cx="63939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5"/>
          <p:cNvCxnSpPr/>
          <p:nvPr/>
        </p:nvCxnSpPr>
        <p:spPr>
          <a:xfrm>
            <a:off x="3207988" y="3538488"/>
            <a:ext cx="754412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5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5"/>
          <p:cNvCxnSpPr/>
          <p:nvPr/>
        </p:nvCxnSpPr>
        <p:spPr>
          <a:xfrm>
            <a:off x="2371725" y="5105400"/>
            <a:ext cx="1590675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5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181100" y="4203427"/>
            <a:ext cx="387444" cy="20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057400" y="4184377"/>
            <a:ext cx="387444" cy="20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156716" y="2920032"/>
            <a:ext cx="853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Streamable</a:t>
            </a:r>
            <a:br>
              <a:rPr lang="en-US" sz="11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lang="en-US" sz="11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HTTP</a:t>
            </a:r>
            <a:endParaRPr i="0" sz="112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40" name="Google Shape;140;p5"/>
          <p:cNvGrpSpPr/>
          <p:nvPr/>
        </p:nvGrpSpPr>
        <p:grpSpPr>
          <a:xfrm>
            <a:off x="790576" y="4391025"/>
            <a:ext cx="303936" cy="313520"/>
            <a:chOff x="790576" y="4391025"/>
            <a:chExt cx="303936" cy="313520"/>
          </a:xfrm>
        </p:grpSpPr>
        <p:sp>
          <p:nvSpPr>
            <p:cNvPr id="141" name="Google Shape;141;p5"/>
            <p:cNvSpPr/>
            <p:nvPr/>
          </p:nvSpPr>
          <p:spPr>
            <a:xfrm>
              <a:off x="790576" y="4391025"/>
              <a:ext cx="303936" cy="313520"/>
            </a:xfrm>
            <a:prstGeom prst="ellipse">
              <a:avLst/>
            </a:prstGeom>
            <a:solidFill>
              <a:srgbClr val="9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85825" y="4425553"/>
              <a:ext cx="116831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5"/>
          <p:cNvGrpSpPr/>
          <p:nvPr/>
        </p:nvGrpSpPr>
        <p:grpSpPr>
          <a:xfrm>
            <a:off x="1628774" y="4391025"/>
            <a:ext cx="303939" cy="313520"/>
            <a:chOff x="1628774" y="4391025"/>
            <a:chExt cx="303939" cy="313520"/>
          </a:xfrm>
        </p:grpSpPr>
        <p:sp>
          <p:nvSpPr>
            <p:cNvPr id="144" name="Google Shape;144;p5"/>
            <p:cNvSpPr/>
            <p:nvPr/>
          </p:nvSpPr>
          <p:spPr>
            <a:xfrm>
              <a:off x="1628774" y="4391025"/>
              <a:ext cx="303939" cy="313520"/>
            </a:xfrm>
            <a:prstGeom prst="ellipse">
              <a:avLst/>
            </a:prstGeom>
            <a:solidFill>
              <a:srgbClr val="9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1724025" y="4416028"/>
              <a:ext cx="17145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5"/>
          <p:cNvGrpSpPr/>
          <p:nvPr/>
        </p:nvGrpSpPr>
        <p:grpSpPr>
          <a:xfrm>
            <a:off x="3800476" y="3638550"/>
            <a:ext cx="303936" cy="313520"/>
            <a:chOff x="3800476" y="3638550"/>
            <a:chExt cx="303936" cy="313520"/>
          </a:xfrm>
        </p:grpSpPr>
        <p:sp>
          <p:nvSpPr>
            <p:cNvPr id="147" name="Google Shape;147;p5"/>
            <p:cNvSpPr/>
            <p:nvPr/>
          </p:nvSpPr>
          <p:spPr>
            <a:xfrm>
              <a:off x="3800476" y="3638550"/>
              <a:ext cx="303936" cy="313520"/>
            </a:xfrm>
            <a:prstGeom prst="ellipse">
              <a:avLst/>
            </a:prstGeom>
            <a:solidFill>
              <a:srgbClr val="9E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3886200" y="3682603"/>
              <a:ext cx="171450" cy="19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5"/>
          <p:cNvSpPr txBox="1"/>
          <p:nvPr/>
        </p:nvSpPr>
        <p:spPr>
          <a:xfrm>
            <a:off x="804672" y="6412230"/>
            <a:ext cx="975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B2B2B2"/>
                </a:solidFill>
                <a:latin typeface="Roboto Slab"/>
                <a:ea typeface="Roboto Slab"/>
                <a:cs typeface="Roboto Slab"/>
                <a:sym typeface="Roboto Slab"/>
              </a:rPr>
              <a:t>SSE is the legacy transport, now replaced by Streamable HTTP (MCP spec 2025-03-26)</a:t>
            </a:r>
            <a:endParaRPr i="1" sz="900">
              <a:solidFill>
                <a:srgbClr val="B2B2B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171" name="Google Shape;171;p6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47674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175" name="Google Shape;175;p6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183" name="Google Shape;183;p6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187" name="Google Shape;187;p6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195" name="Google Shape;195;p6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676528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199" name="Google Shape;199;p6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207" name="Google Shape;207;p6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819528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211" name="Google Shape;211;p6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219" name="Google Shape;219;p6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223" name="Google Shape;223;p6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7" title="06_wX_3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