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9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</p:sldIdLst>
  <p:sldSz cy="6858000" cx="12192000"/>
  <p:notesSz cx="6858000" cy="12192000"/>
  <p:embeddedFontLst>
    <p:embeddedFont>
      <p:font typeface="Roboto Slab"/>
      <p:regular r:id="rId19"/>
      <p:bold r:id="rId20"/>
    </p:embeddedFont>
    <p:embeddedFont>
      <p:font typeface="Montserrat SemiBold"/>
      <p:regular r:id="rId21"/>
      <p:bold r:id="rId22"/>
      <p:italic r:id="rId23"/>
      <p:boldItalic r:id="rId24"/>
    </p:embeddedFont>
    <p:embeddedFont>
      <p:font typeface="Montserrat"/>
      <p:regular r:id="rId25"/>
      <p:bold r:id="rId26"/>
      <p:italic r:id="rId27"/>
      <p:boldItalic r:id="rId28"/>
    </p:embeddedFont>
    <p:embeddedFont>
      <p:font typeface="Roboto Mono"/>
      <p:regular r:id="rId29"/>
      <p:bold r:id="rId30"/>
      <p:italic r:id="rId31"/>
      <p:boldItalic r:id="rId3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RobotoSlab-bold.fntdata"/><Relationship Id="rId22" Type="http://schemas.openxmlformats.org/officeDocument/2006/relationships/font" Target="fonts/MontserratSemiBold-bold.fntdata"/><Relationship Id="rId21" Type="http://schemas.openxmlformats.org/officeDocument/2006/relationships/font" Target="fonts/MontserratSemiBold-regular.fntdata"/><Relationship Id="rId24" Type="http://schemas.openxmlformats.org/officeDocument/2006/relationships/font" Target="fonts/MontserratSemiBold-boldItalic.fntdata"/><Relationship Id="rId23" Type="http://schemas.openxmlformats.org/officeDocument/2006/relationships/font" Target="fonts/MontserratSemiBold-italic.fntdata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26" Type="http://schemas.openxmlformats.org/officeDocument/2006/relationships/font" Target="fonts/Montserrat-bold.fntdata"/><Relationship Id="rId25" Type="http://schemas.openxmlformats.org/officeDocument/2006/relationships/font" Target="fonts/Montserrat-regular.fntdata"/><Relationship Id="rId28" Type="http://schemas.openxmlformats.org/officeDocument/2006/relationships/font" Target="fonts/Montserrat-boldItalic.fntdata"/><Relationship Id="rId27" Type="http://schemas.openxmlformats.org/officeDocument/2006/relationships/font" Target="fonts/Montserrat-italic.fntdata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29" Type="http://schemas.openxmlformats.org/officeDocument/2006/relationships/font" Target="fonts/RobotoMono-regular.fntdata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31" Type="http://schemas.openxmlformats.org/officeDocument/2006/relationships/font" Target="fonts/RobotoMono-italic.fntdata"/><Relationship Id="rId30" Type="http://schemas.openxmlformats.org/officeDocument/2006/relationships/font" Target="fonts/RobotoMono-bold.fntdata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32" Type="http://schemas.openxmlformats.org/officeDocument/2006/relationships/font" Target="fonts/RobotoMono-boldItalic.fntdata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9" Type="http://schemas.openxmlformats.org/officeDocument/2006/relationships/font" Target="fonts/RobotoSlab-regular.fntdata"/><Relationship Id="rId18" Type="http://schemas.openxmlformats.org/officeDocument/2006/relationships/slide" Target="slides/slide1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" name="Google Shape;21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" name="Google Shape;22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8" name="Google Shape;98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" name="Google Shape;99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g3ee1018be13_0_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5" name="Google Shape;105;g3ee1018be13_0_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" name="Google Shape;106;g3ee1018be13_0_2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g3ee1018be13_0_1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0" name="Google Shape;120;g3ee1018be13_0_1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" name="Google Shape;121;g3ee1018be13_0_16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g3ee1018be13_0_5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6" name="Google Shape;156;g3ee1018be13_0_5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" name="Google Shape;157;g3ee1018be13_0_51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g3ee1018be13_0_9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7" name="Google Shape;197;g3ee1018be13_0_9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8" name="Google Shape;198;g3ee1018be13_0_91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g3ee1018be13_0_13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9" name="Google Shape;239;g3ee1018be13_0_13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0" name="Google Shape;240;g3ee1018be13_0_132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g3ee1018be13_0_17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3" name="Google Shape;283;g3ee1018be13_0_17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4" name="Google Shape;284;g3ee1018be13_0_175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6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Google Shape;327;g3ee1018be13_0_21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8" name="Google Shape;328;g3ee1018be13_0_219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9" name="Google Shape;329;g3ee1018be13_0_219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5" name="Shape 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Google Shape;346;g3ee1018be13_0_23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7" name="Google Shape;347;g3ee1018be13_0_23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8" name="Google Shape;348;g3ee1018be13_0_237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1" name="Shape 3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2" name="Google Shape;362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63" name="Google Shape;363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4" name="Google Shape;364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5" name="Shape 3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6" name="Google Shape;376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77" name="Google Shape;377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8" name="Google Shape;378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2" name="Shape 4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3" name="Google Shape;453;w6d2outro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4" name="Google Shape;454;w6d2outro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5" name="Google Shape;455;w6d2outro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7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5.png"/><Relationship Id="rId4" Type="http://schemas.openxmlformats.org/officeDocument/2006/relationships/image" Target="../media/image1.png"/><Relationship Id="rId5" Type="http://schemas.openxmlformats.org/officeDocument/2006/relationships/image" Target="../media/image6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/>
          <p:nvPr/>
        </p:nvSpPr>
        <p:spPr>
          <a:xfrm>
            <a:off x="4572000" y="0"/>
            <a:ext cx="2609100" cy="6858000"/>
          </a:xfrm>
          <a:prstGeom prst="rect">
            <a:avLst/>
          </a:prstGeom>
          <a:solidFill>
            <a:srgbClr val="00BFFF">
              <a:alpha val="349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" name="Google Shape;17;p3"/>
          <p:cNvSpPr txBox="1"/>
          <p:nvPr/>
        </p:nvSpPr>
        <p:spPr>
          <a:xfrm>
            <a:off x="4730495" y="260604"/>
            <a:ext cx="2450700" cy="627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AI Engineer Agentic Track</a:t>
            </a:r>
            <a:endParaRPr b="1" sz="240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solidFill>
                <a:srgbClr val="FFFFF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The Complete</a:t>
            </a:r>
            <a:endParaRPr sz="2100">
              <a:solidFill>
                <a:srgbClr val="FFFFF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Agent &amp; MCP</a:t>
            </a:r>
            <a:endParaRPr sz="2100">
              <a:solidFill>
                <a:srgbClr val="FFFFF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Course</a:t>
            </a:r>
            <a:endParaRPr sz="2100">
              <a:solidFill>
                <a:srgbClr val="FFFFF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solidFill>
                <a:srgbClr val="FFFFF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solidFill>
                <a:srgbClr val="FFFFF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solidFill>
                <a:srgbClr val="FFFFF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solidFill>
                <a:srgbClr val="FFFFF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solidFill>
                <a:srgbClr val="FFFFF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solidFill>
                <a:srgbClr val="FFFFF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solidFill>
                <a:srgbClr val="FFFFF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solidFill>
                <a:srgbClr val="FFFFF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solidFill>
                <a:srgbClr val="FFFFF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solidFill>
                <a:srgbClr val="FFFFF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solidFill>
                <a:srgbClr val="FFFFF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Week 6</a:t>
            </a:r>
            <a:endParaRPr sz="2000">
              <a:solidFill>
                <a:srgbClr val="FFFFF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Day 2</a:t>
            </a:r>
            <a:endParaRPr sz="2000">
              <a:solidFill>
                <a:srgbClr val="FFFFF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FFFFF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8" name="Google Shape;18;p3" title="03_wX_2-1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4572001" cy="685800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4"/>
          <p:cNvSpPr/>
          <p:nvPr/>
        </p:nvSpPr>
        <p:spPr>
          <a:xfrm>
            <a:off x="257174" y="5695950"/>
            <a:ext cx="5936927" cy="1011761"/>
          </a:xfrm>
          <a:prstGeom prst="rect">
            <a:avLst/>
          </a:prstGeom>
          <a:solidFill>
            <a:srgbClr val="0C0C0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" name="Google Shape;25;p4"/>
          <p:cNvSpPr/>
          <p:nvPr/>
        </p:nvSpPr>
        <p:spPr>
          <a:xfrm>
            <a:off x="257174" y="2466975"/>
            <a:ext cx="5936927" cy="1011761"/>
          </a:xfrm>
          <a:prstGeom prst="rect">
            <a:avLst/>
          </a:prstGeom>
          <a:solidFill>
            <a:srgbClr val="0C0C0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" name="Google Shape;26;p4"/>
          <p:cNvSpPr/>
          <p:nvPr/>
        </p:nvSpPr>
        <p:spPr>
          <a:xfrm>
            <a:off x="257174" y="4619625"/>
            <a:ext cx="5936927" cy="1011761"/>
          </a:xfrm>
          <a:prstGeom prst="rect">
            <a:avLst/>
          </a:prstGeom>
          <a:solidFill>
            <a:srgbClr val="0C0C0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" name="Google Shape;27;p4"/>
          <p:cNvSpPr/>
          <p:nvPr/>
        </p:nvSpPr>
        <p:spPr>
          <a:xfrm>
            <a:off x="257174" y="1390650"/>
            <a:ext cx="5936927" cy="1011761"/>
          </a:xfrm>
          <a:prstGeom prst="rect">
            <a:avLst/>
          </a:prstGeom>
          <a:solidFill>
            <a:srgbClr val="0C0C0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" name="Google Shape;28;p4"/>
          <p:cNvSpPr/>
          <p:nvPr/>
        </p:nvSpPr>
        <p:spPr>
          <a:xfrm>
            <a:off x="257174" y="3543300"/>
            <a:ext cx="5936927" cy="1011761"/>
          </a:xfrm>
          <a:prstGeom prst="rect">
            <a:avLst/>
          </a:prstGeom>
          <a:solidFill>
            <a:srgbClr val="0C0C0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" name="Google Shape;29;p4"/>
          <p:cNvSpPr/>
          <p:nvPr/>
        </p:nvSpPr>
        <p:spPr>
          <a:xfrm>
            <a:off x="257174" y="314325"/>
            <a:ext cx="5936927" cy="1011761"/>
          </a:xfrm>
          <a:prstGeom prst="rect">
            <a:avLst/>
          </a:prstGeom>
          <a:solidFill>
            <a:srgbClr val="0C0C0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" name="Google Shape;30;p4"/>
          <p:cNvSpPr/>
          <p:nvPr/>
        </p:nvSpPr>
        <p:spPr>
          <a:xfrm>
            <a:off x="361950" y="5753695"/>
            <a:ext cx="2048247" cy="17606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215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rPr>
              <a:t>Week 1: Foundations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" name="Google Shape;31;p4"/>
          <p:cNvSpPr/>
          <p:nvPr/>
        </p:nvSpPr>
        <p:spPr>
          <a:xfrm>
            <a:off x="361950" y="2524720"/>
            <a:ext cx="2048247" cy="17606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215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rPr>
              <a:t>Week 4: LangGraph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" name="Google Shape;32;p4"/>
          <p:cNvSpPr/>
          <p:nvPr/>
        </p:nvSpPr>
        <p:spPr>
          <a:xfrm>
            <a:off x="361950" y="4677370"/>
            <a:ext cx="2048247" cy="17606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215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rPr>
              <a:t>Week 2: OpenAI Agents SDK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" name="Google Shape;33;p4"/>
          <p:cNvSpPr/>
          <p:nvPr/>
        </p:nvSpPr>
        <p:spPr>
          <a:xfrm>
            <a:off x="361950" y="1448395"/>
            <a:ext cx="2048247" cy="17606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215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rPr>
              <a:t>Week 5: Agent Frameworks</a:t>
            </a:r>
            <a:endParaRPr i="0" sz="975" u="none" cap="none" strike="noStrike">
              <a:solidFill>
                <a:srgbClr val="FFFFFF"/>
              </a:solidFill>
              <a:latin typeface="Roboto Slab"/>
              <a:ea typeface="Roboto Slab"/>
              <a:cs typeface="Roboto Slab"/>
              <a:sym typeface="Roboto Slab"/>
            </a:endParaRPr>
          </a:p>
        </p:txBody>
      </p:sp>
      <p:sp>
        <p:nvSpPr>
          <p:cNvPr id="34" name="Google Shape;34;p4"/>
          <p:cNvSpPr/>
          <p:nvPr/>
        </p:nvSpPr>
        <p:spPr>
          <a:xfrm>
            <a:off x="361950" y="3601045"/>
            <a:ext cx="2048247" cy="17606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215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rPr>
              <a:t>Week 3: CrewAI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" name="Google Shape;35;p4"/>
          <p:cNvSpPr/>
          <p:nvPr/>
        </p:nvSpPr>
        <p:spPr>
          <a:xfrm>
            <a:off x="361950" y="372070"/>
            <a:ext cx="2048247" cy="17606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215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rPr>
              <a:t>Week 6: MCP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" name="Google Shape;36;p4"/>
          <p:cNvSpPr/>
          <p:nvPr/>
        </p:nvSpPr>
        <p:spPr>
          <a:xfrm>
            <a:off x="447674" y="6010275"/>
            <a:ext cx="1002979" cy="610230"/>
          </a:xfrm>
          <a:prstGeom prst="rect">
            <a:avLst/>
          </a:prstGeom>
          <a:solidFill>
            <a:srgbClr val="FF7800"/>
          </a:solidFill>
          <a:ln cap="flat" cmpd="sng" w="25400">
            <a:solidFill>
              <a:srgbClr val="000000">
                <a:alpha val="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4"/>
          <p:cNvSpPr/>
          <p:nvPr/>
        </p:nvSpPr>
        <p:spPr>
          <a:xfrm>
            <a:off x="447675" y="6084111"/>
            <a:ext cx="1002953" cy="449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Make an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Agentic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Workflow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" name="Google Shape;38;p4"/>
          <p:cNvSpPr/>
          <p:nvPr/>
        </p:nvSpPr>
        <p:spPr>
          <a:xfrm>
            <a:off x="447674" y="2781300"/>
            <a:ext cx="1002979" cy="610230"/>
          </a:xfrm>
          <a:prstGeom prst="rect">
            <a:avLst/>
          </a:prstGeom>
          <a:solidFill>
            <a:srgbClr val="00BFFF"/>
          </a:solidFill>
          <a:ln cap="flat" cmpd="sng" w="25400">
            <a:solidFill>
              <a:srgbClr val="000000">
                <a:alpha val="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" name="Google Shape;39;p4"/>
          <p:cNvSpPr/>
          <p:nvPr/>
        </p:nvSpPr>
        <p:spPr>
          <a:xfrm>
            <a:off x="447675" y="2855136"/>
            <a:ext cx="1002953" cy="449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/>
              <a:t>LangChain</a:t>
            </a:r>
            <a:br>
              <a:rPr lang="en-US" sz="1125"/>
            </a:br>
            <a:r>
              <a:rPr lang="en-US" sz="1125"/>
              <a:t>Core</a:t>
            </a:r>
            <a:endParaRPr i="0" sz="1125" u="none" cap="none" strike="noStrike"/>
          </a:p>
        </p:txBody>
      </p:sp>
      <p:sp>
        <p:nvSpPr>
          <p:cNvPr id="40" name="Google Shape;40;p4"/>
          <p:cNvSpPr/>
          <p:nvPr/>
        </p:nvSpPr>
        <p:spPr>
          <a:xfrm>
            <a:off x="447674" y="4933950"/>
            <a:ext cx="1002979" cy="610230"/>
          </a:xfrm>
          <a:prstGeom prst="rect">
            <a:avLst/>
          </a:prstGeom>
          <a:solidFill>
            <a:srgbClr val="00BFFF"/>
          </a:solidFill>
          <a:ln cap="flat" cmpd="sng" w="25400">
            <a:solidFill>
              <a:srgbClr val="000000">
                <a:alpha val="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" name="Google Shape;41;p4"/>
          <p:cNvSpPr/>
          <p:nvPr/>
        </p:nvSpPr>
        <p:spPr>
          <a:xfrm>
            <a:off x="447675" y="5007786"/>
            <a:ext cx="1002953" cy="449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Understand</a:t>
            </a:r>
            <a:b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OpenAI Agents</a:t>
            </a:r>
            <a:b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SDK concepts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" name="Google Shape;42;p4"/>
          <p:cNvSpPr/>
          <p:nvPr/>
        </p:nvSpPr>
        <p:spPr>
          <a:xfrm>
            <a:off x="447674" y="1704975"/>
            <a:ext cx="1002979" cy="610230"/>
          </a:xfrm>
          <a:prstGeom prst="rect">
            <a:avLst/>
          </a:prstGeom>
          <a:solidFill>
            <a:srgbClr val="00BFFF"/>
          </a:solidFill>
          <a:ln cap="flat" cmpd="sng" w="25400">
            <a:solidFill>
              <a:srgbClr val="000000">
                <a:alpha val="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" name="Google Shape;43;p4"/>
          <p:cNvSpPr/>
          <p:nvPr/>
        </p:nvSpPr>
        <p:spPr>
          <a:xfrm>
            <a:off x="447675" y="1778811"/>
            <a:ext cx="1002953" cy="449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/>
              <a:t>Google ADK</a:t>
            </a:r>
            <a:br>
              <a:rPr lang="en-US" sz="1125"/>
            </a:br>
            <a:r>
              <a:rPr lang="en-US" sz="1125"/>
              <a:t>and A2A</a:t>
            </a:r>
            <a:endParaRPr i="0" sz="1125" u="none" cap="none" strike="noStrike"/>
          </a:p>
        </p:txBody>
      </p:sp>
      <p:sp>
        <p:nvSpPr>
          <p:cNvPr id="44" name="Google Shape;44;p4"/>
          <p:cNvSpPr/>
          <p:nvPr/>
        </p:nvSpPr>
        <p:spPr>
          <a:xfrm>
            <a:off x="447674" y="3857625"/>
            <a:ext cx="1002979" cy="610231"/>
          </a:xfrm>
          <a:prstGeom prst="rect">
            <a:avLst/>
          </a:prstGeom>
          <a:solidFill>
            <a:srgbClr val="00BFFF"/>
          </a:solidFill>
          <a:ln cap="flat" cmpd="sng" w="25400">
            <a:solidFill>
              <a:srgbClr val="000000">
                <a:alpha val="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" name="Google Shape;45;p4"/>
          <p:cNvSpPr/>
          <p:nvPr/>
        </p:nvSpPr>
        <p:spPr>
          <a:xfrm>
            <a:off x="447675" y="3931461"/>
            <a:ext cx="1002953" cy="449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Understand</a:t>
            </a:r>
            <a:b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Crew AI</a:t>
            </a:r>
            <a:b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Concepts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" name="Google Shape;46;p4"/>
          <p:cNvSpPr/>
          <p:nvPr/>
        </p:nvSpPr>
        <p:spPr>
          <a:xfrm>
            <a:off x="447674" y="628650"/>
            <a:ext cx="1002979" cy="610230"/>
          </a:xfrm>
          <a:prstGeom prst="rect">
            <a:avLst/>
          </a:prstGeom>
          <a:solidFill>
            <a:srgbClr val="FF7800"/>
          </a:solidFill>
          <a:ln cap="flat" cmpd="sng" w="25400">
            <a:solidFill>
              <a:srgbClr val="000000">
                <a:alpha val="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" name="Google Shape;47;p4"/>
          <p:cNvSpPr/>
          <p:nvPr/>
        </p:nvSpPr>
        <p:spPr>
          <a:xfrm>
            <a:off x="447675" y="702486"/>
            <a:ext cx="1002953" cy="449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Agentic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Architecture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and MCP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" name="Google Shape;48;p4"/>
          <p:cNvSpPr/>
          <p:nvPr/>
        </p:nvSpPr>
        <p:spPr>
          <a:xfrm>
            <a:off x="1562101" y="6010275"/>
            <a:ext cx="1002976" cy="610230"/>
          </a:xfrm>
          <a:prstGeom prst="rect">
            <a:avLst/>
          </a:prstGeom>
          <a:solidFill>
            <a:srgbClr val="FF7800"/>
          </a:solidFill>
          <a:ln cap="flat" cmpd="sng" w="25400">
            <a:solidFill>
              <a:srgbClr val="000000">
                <a:alpha val="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" name="Google Shape;49;p4"/>
          <p:cNvSpPr/>
          <p:nvPr/>
        </p:nvSpPr>
        <p:spPr>
          <a:xfrm>
            <a:off x="1562100" y="6084111"/>
            <a:ext cx="1002953" cy="449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Agents and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Agentic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Patterns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" name="Google Shape;50;p4"/>
          <p:cNvSpPr/>
          <p:nvPr/>
        </p:nvSpPr>
        <p:spPr>
          <a:xfrm>
            <a:off x="1562101" y="2781300"/>
            <a:ext cx="1002976" cy="610230"/>
          </a:xfrm>
          <a:prstGeom prst="rect">
            <a:avLst/>
          </a:prstGeom>
          <a:solidFill>
            <a:srgbClr val="00BFFF"/>
          </a:solidFill>
          <a:ln cap="flat" cmpd="sng" w="25400">
            <a:solidFill>
              <a:srgbClr val="000000">
                <a:alpha val="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" name="Google Shape;51;p4"/>
          <p:cNvSpPr/>
          <p:nvPr/>
        </p:nvSpPr>
        <p:spPr>
          <a:xfrm>
            <a:off x="1562100" y="2855136"/>
            <a:ext cx="1002953" cy="449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/>
              <a:t>LangGraph</a:t>
            </a:r>
            <a:endParaRPr i="0" sz="1125" u="none" cap="none" strike="noStrike"/>
          </a:p>
        </p:txBody>
      </p:sp>
      <p:sp>
        <p:nvSpPr>
          <p:cNvPr id="52" name="Google Shape;52;p4"/>
          <p:cNvSpPr/>
          <p:nvPr/>
        </p:nvSpPr>
        <p:spPr>
          <a:xfrm>
            <a:off x="1562101" y="4933950"/>
            <a:ext cx="1002976" cy="610230"/>
          </a:xfrm>
          <a:prstGeom prst="rect">
            <a:avLst/>
          </a:prstGeom>
          <a:solidFill>
            <a:srgbClr val="FFD700"/>
          </a:solidFill>
          <a:ln cap="flat" cmpd="sng" w="25400">
            <a:solidFill>
              <a:srgbClr val="000000">
                <a:alpha val="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" name="Google Shape;53;p4"/>
          <p:cNvSpPr/>
          <p:nvPr/>
        </p:nvSpPr>
        <p:spPr>
          <a:xfrm>
            <a:off x="1562100" y="5083986"/>
            <a:ext cx="1002953" cy="29988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Project 2: an</a:t>
            </a:r>
            <a:b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SDR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" name="Google Shape;54;p4"/>
          <p:cNvSpPr/>
          <p:nvPr/>
        </p:nvSpPr>
        <p:spPr>
          <a:xfrm>
            <a:off x="1562101" y="1704975"/>
            <a:ext cx="1002976" cy="610230"/>
          </a:xfrm>
          <a:prstGeom prst="rect">
            <a:avLst/>
          </a:prstGeom>
          <a:solidFill>
            <a:srgbClr val="00BFFF"/>
          </a:solidFill>
          <a:ln cap="flat" cmpd="sng" w="25400">
            <a:solidFill>
              <a:srgbClr val="000000">
                <a:alpha val="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" name="Google Shape;55;p4"/>
          <p:cNvSpPr/>
          <p:nvPr/>
        </p:nvSpPr>
        <p:spPr>
          <a:xfrm>
            <a:off x="1562100" y="1778811"/>
            <a:ext cx="1002953" cy="449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/>
              <a:t>Strands and</a:t>
            </a:r>
            <a:br>
              <a:rPr lang="en-US" sz="1125"/>
            </a:br>
            <a:r>
              <a:rPr lang="en-US" sz="1125"/>
              <a:t>Pydantic AI</a:t>
            </a:r>
            <a:endParaRPr i="0" sz="1125" u="none" cap="none" strike="noStrike"/>
          </a:p>
        </p:txBody>
      </p:sp>
      <p:sp>
        <p:nvSpPr>
          <p:cNvPr id="56" name="Google Shape;56;p4"/>
          <p:cNvSpPr/>
          <p:nvPr/>
        </p:nvSpPr>
        <p:spPr>
          <a:xfrm>
            <a:off x="1562101" y="3857625"/>
            <a:ext cx="1002976" cy="610231"/>
          </a:xfrm>
          <a:prstGeom prst="rect">
            <a:avLst/>
          </a:prstGeom>
          <a:solidFill>
            <a:srgbClr val="00BFFF"/>
          </a:solidFill>
          <a:ln cap="flat" cmpd="sng" w="25400">
            <a:solidFill>
              <a:srgbClr val="000000">
                <a:alpha val="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" name="Google Shape;57;p4"/>
          <p:cNvSpPr/>
          <p:nvPr/>
        </p:nvSpPr>
        <p:spPr>
          <a:xfrm>
            <a:off x="1562100" y="4007661"/>
            <a:ext cx="1002953" cy="29988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Build a Crew</a:t>
            </a:r>
            <a:b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Agent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" name="Google Shape;58;p4"/>
          <p:cNvSpPr/>
          <p:nvPr/>
        </p:nvSpPr>
        <p:spPr>
          <a:xfrm>
            <a:off x="1562101" y="628650"/>
            <a:ext cx="1002976" cy="610230"/>
          </a:xfrm>
          <a:prstGeom prst="rect">
            <a:avLst/>
          </a:prstGeom>
          <a:solidFill>
            <a:srgbClr val="00BFFF">
              <a:alpha val="34902"/>
            </a:srgbClr>
          </a:solidFill>
          <a:ln cap="flat" cmpd="sng" w="25400">
            <a:solidFill>
              <a:srgbClr val="00BFF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" name="Google Shape;59;p4"/>
          <p:cNvSpPr/>
          <p:nvPr/>
        </p:nvSpPr>
        <p:spPr>
          <a:xfrm>
            <a:off x="1562100" y="702486"/>
            <a:ext cx="1002953" cy="449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>
                <a:solidFill>
                  <a:srgbClr val="FFFFFF"/>
                </a:solidFill>
              </a:rPr>
              <a:t>Building</a:t>
            </a:r>
            <a:br>
              <a:rPr lang="en-US" sz="1125">
                <a:solidFill>
                  <a:srgbClr val="FFFFFF"/>
                </a:solidFill>
              </a:rPr>
            </a:br>
            <a:r>
              <a:rPr lang="en-US" sz="1125">
                <a:solidFill>
                  <a:srgbClr val="FFFFFF"/>
                </a:solidFill>
              </a:rPr>
              <a:t>MCP Server</a:t>
            </a:r>
            <a:endParaRPr i="0" sz="1125" u="none" cap="none" strike="noStrike">
              <a:solidFill>
                <a:srgbClr val="FFFFFF"/>
              </a:solidFill>
            </a:endParaRPr>
          </a:p>
        </p:txBody>
      </p:sp>
      <p:sp>
        <p:nvSpPr>
          <p:cNvPr id="60" name="Google Shape;60;p4"/>
          <p:cNvSpPr/>
          <p:nvPr/>
        </p:nvSpPr>
        <p:spPr>
          <a:xfrm>
            <a:off x="2676524" y="6010275"/>
            <a:ext cx="1002979" cy="610230"/>
          </a:xfrm>
          <a:prstGeom prst="rect">
            <a:avLst/>
          </a:prstGeom>
          <a:solidFill>
            <a:srgbClr val="FF7800"/>
          </a:solidFill>
          <a:ln cap="flat" cmpd="sng" w="25400">
            <a:solidFill>
              <a:srgbClr val="000000">
                <a:alpha val="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" name="Google Shape;61;p4"/>
          <p:cNvSpPr/>
          <p:nvPr/>
        </p:nvSpPr>
        <p:spPr>
          <a:xfrm>
            <a:off x="2676525" y="6160311"/>
            <a:ext cx="1002953" cy="29988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Orchestrating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LLMs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" name="Google Shape;62;p4"/>
          <p:cNvSpPr/>
          <p:nvPr/>
        </p:nvSpPr>
        <p:spPr>
          <a:xfrm>
            <a:off x="2676524" y="2781300"/>
            <a:ext cx="1002979" cy="610230"/>
          </a:xfrm>
          <a:prstGeom prst="rect">
            <a:avLst/>
          </a:prstGeom>
          <a:solidFill>
            <a:srgbClr val="00BFFF"/>
          </a:solidFill>
          <a:ln cap="flat" cmpd="sng" w="25400">
            <a:solidFill>
              <a:srgbClr val="000000">
                <a:alpha val="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" name="Google Shape;63;p4"/>
          <p:cNvSpPr/>
          <p:nvPr/>
        </p:nvSpPr>
        <p:spPr>
          <a:xfrm>
            <a:off x="2676525" y="2931336"/>
            <a:ext cx="1002953" cy="29988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/>
              <a:t>LangChain</a:t>
            </a:r>
            <a:br>
              <a:rPr lang="en-US" sz="1125"/>
            </a:br>
            <a:r>
              <a:rPr lang="en-US" sz="1125"/>
              <a:t>create_agent</a:t>
            </a:r>
            <a:endParaRPr i="0" sz="1125" u="none" cap="none" strike="noStrike"/>
          </a:p>
        </p:txBody>
      </p:sp>
      <p:sp>
        <p:nvSpPr>
          <p:cNvPr id="64" name="Google Shape;64;p4"/>
          <p:cNvSpPr/>
          <p:nvPr/>
        </p:nvSpPr>
        <p:spPr>
          <a:xfrm>
            <a:off x="2676524" y="4933950"/>
            <a:ext cx="1002979" cy="610230"/>
          </a:xfrm>
          <a:prstGeom prst="rect">
            <a:avLst/>
          </a:prstGeom>
          <a:solidFill>
            <a:srgbClr val="00BFFF"/>
          </a:solidFill>
          <a:ln cap="flat" cmpd="sng" w="25400">
            <a:solidFill>
              <a:srgbClr val="000000">
                <a:alpha val="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" name="Google Shape;65;p4"/>
          <p:cNvSpPr/>
          <p:nvPr/>
        </p:nvSpPr>
        <p:spPr>
          <a:xfrm>
            <a:off x="2676525" y="5083986"/>
            <a:ext cx="1002953" cy="29988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Tools vs Agents</a:t>
            </a:r>
            <a:b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Guardrails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" name="Google Shape;66;p4"/>
          <p:cNvSpPr/>
          <p:nvPr/>
        </p:nvSpPr>
        <p:spPr>
          <a:xfrm>
            <a:off x="2676524" y="1704975"/>
            <a:ext cx="1002979" cy="610230"/>
          </a:xfrm>
          <a:prstGeom prst="rect">
            <a:avLst/>
          </a:prstGeom>
          <a:solidFill>
            <a:srgbClr val="00BFFF"/>
          </a:solidFill>
          <a:ln cap="flat" cmpd="sng" w="25400">
            <a:solidFill>
              <a:srgbClr val="000000">
                <a:alpha val="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" name="Google Shape;67;p4"/>
          <p:cNvSpPr/>
          <p:nvPr/>
        </p:nvSpPr>
        <p:spPr>
          <a:xfrm>
            <a:off x="2676525" y="1855011"/>
            <a:ext cx="1002953" cy="29988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/>
              <a:t>MAF and</a:t>
            </a:r>
            <a:br>
              <a:rPr lang="en-US" sz="1125"/>
            </a:br>
            <a:r>
              <a:rPr lang="en-US" sz="1125"/>
              <a:t>Agno</a:t>
            </a:r>
            <a:endParaRPr i="0" sz="1125" u="none" cap="none" strike="noStrike"/>
          </a:p>
        </p:txBody>
      </p:sp>
      <p:sp>
        <p:nvSpPr>
          <p:cNvPr id="68" name="Google Shape;68;p4"/>
          <p:cNvSpPr/>
          <p:nvPr/>
        </p:nvSpPr>
        <p:spPr>
          <a:xfrm>
            <a:off x="2676524" y="3857625"/>
            <a:ext cx="1002979" cy="610231"/>
          </a:xfrm>
          <a:prstGeom prst="rect">
            <a:avLst/>
          </a:prstGeom>
          <a:solidFill>
            <a:srgbClr val="FFD700"/>
          </a:solidFill>
          <a:ln cap="flat" cmpd="sng" w="25400">
            <a:solidFill>
              <a:srgbClr val="000000">
                <a:alpha val="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" name="Google Shape;69;p4"/>
          <p:cNvSpPr/>
          <p:nvPr/>
        </p:nvSpPr>
        <p:spPr>
          <a:xfrm>
            <a:off x="2676525" y="4007661"/>
            <a:ext cx="1002953" cy="29988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Project 4: Stock</a:t>
            </a:r>
            <a:b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Picker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" name="Google Shape;70;p4"/>
          <p:cNvSpPr/>
          <p:nvPr/>
        </p:nvSpPr>
        <p:spPr>
          <a:xfrm>
            <a:off x="2676524" y="628650"/>
            <a:ext cx="1002979" cy="610230"/>
          </a:xfrm>
          <a:prstGeom prst="rect">
            <a:avLst/>
          </a:prstGeom>
          <a:noFill/>
          <a:ln cap="flat" cmpd="sng" w="25400">
            <a:solidFill>
              <a:srgbClr val="00BFF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" name="Google Shape;71;p4"/>
          <p:cNvSpPr/>
          <p:nvPr/>
        </p:nvSpPr>
        <p:spPr>
          <a:xfrm>
            <a:off x="2676525" y="702486"/>
            <a:ext cx="1002953" cy="449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>
                <a:solidFill>
                  <a:srgbClr val="FFFFFF"/>
                </a:solidFill>
              </a:rPr>
              <a:t>Context</a:t>
            </a:r>
            <a:br>
              <a:rPr lang="en-US" sz="1125">
                <a:solidFill>
                  <a:srgbClr val="FFFFFF"/>
                </a:solidFill>
              </a:rPr>
            </a:br>
            <a:r>
              <a:rPr lang="en-US" sz="1125">
                <a:solidFill>
                  <a:srgbClr val="FFFFFF"/>
                </a:solidFill>
              </a:rPr>
              <a:t>Engineering</a:t>
            </a:r>
            <a:br>
              <a:rPr lang="en-US" sz="1125">
                <a:solidFill>
                  <a:srgbClr val="FFFFFF"/>
                </a:solidFill>
              </a:rPr>
            </a:br>
            <a:r>
              <a:rPr lang="en-US" sz="1125">
                <a:solidFill>
                  <a:srgbClr val="FFFFFF"/>
                </a:solidFill>
              </a:rPr>
              <a:t>with MCP</a:t>
            </a:r>
            <a:endParaRPr i="0" sz="1125" u="none" cap="none" strike="noStrike">
              <a:solidFill>
                <a:srgbClr val="FFFFFF"/>
              </a:solidFill>
            </a:endParaRPr>
          </a:p>
        </p:txBody>
      </p:sp>
      <p:sp>
        <p:nvSpPr>
          <p:cNvPr id="72" name="Google Shape;72;p4"/>
          <p:cNvSpPr/>
          <p:nvPr/>
        </p:nvSpPr>
        <p:spPr>
          <a:xfrm>
            <a:off x="3819524" y="6010275"/>
            <a:ext cx="1002979" cy="610230"/>
          </a:xfrm>
          <a:prstGeom prst="rect">
            <a:avLst/>
          </a:prstGeom>
          <a:solidFill>
            <a:srgbClr val="FF7800"/>
          </a:solidFill>
          <a:ln cap="flat" cmpd="sng" w="25400">
            <a:solidFill>
              <a:srgbClr val="000000">
                <a:alpha val="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" name="Google Shape;73;p4"/>
          <p:cNvSpPr/>
          <p:nvPr/>
        </p:nvSpPr>
        <p:spPr>
          <a:xfrm>
            <a:off x="3819525" y="6160311"/>
            <a:ext cx="1002953" cy="29988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Autonomy and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Tools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" name="Google Shape;74;p4"/>
          <p:cNvSpPr/>
          <p:nvPr/>
        </p:nvSpPr>
        <p:spPr>
          <a:xfrm>
            <a:off x="3819524" y="2781300"/>
            <a:ext cx="1002979" cy="610230"/>
          </a:xfrm>
          <a:prstGeom prst="rect">
            <a:avLst/>
          </a:prstGeom>
          <a:solidFill>
            <a:srgbClr val="00BFFF"/>
          </a:solidFill>
          <a:ln cap="flat" cmpd="sng" w="25400">
            <a:solidFill>
              <a:srgbClr val="000000">
                <a:alpha val="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" name="Google Shape;75;p4"/>
          <p:cNvSpPr/>
          <p:nvPr/>
        </p:nvSpPr>
        <p:spPr>
          <a:xfrm>
            <a:off x="3819525" y="2931336"/>
            <a:ext cx="1002953" cy="29988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/>
              <a:t>Deep Agents</a:t>
            </a:r>
            <a:endParaRPr i="0" sz="1125" u="none" cap="none" strike="noStrike"/>
          </a:p>
        </p:txBody>
      </p:sp>
      <p:sp>
        <p:nvSpPr>
          <p:cNvPr id="76" name="Google Shape;76;p4"/>
          <p:cNvSpPr/>
          <p:nvPr/>
        </p:nvSpPr>
        <p:spPr>
          <a:xfrm>
            <a:off x="3819524" y="4933950"/>
            <a:ext cx="1002979" cy="610230"/>
          </a:xfrm>
          <a:prstGeom prst="rect">
            <a:avLst/>
          </a:prstGeom>
          <a:solidFill>
            <a:srgbClr val="FFD700"/>
          </a:solidFill>
          <a:ln cap="flat" cmpd="sng" w="25400">
            <a:solidFill>
              <a:srgbClr val="000000">
                <a:alpha val="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" name="Google Shape;77;p4"/>
          <p:cNvSpPr/>
          <p:nvPr/>
        </p:nvSpPr>
        <p:spPr>
          <a:xfrm>
            <a:off x="3819525" y="5083986"/>
            <a:ext cx="1002953" cy="29988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Project 3: Deep</a:t>
            </a:r>
            <a:b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Research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" name="Google Shape;78;p4"/>
          <p:cNvSpPr/>
          <p:nvPr/>
        </p:nvSpPr>
        <p:spPr>
          <a:xfrm>
            <a:off x="3819524" y="1704975"/>
            <a:ext cx="1002979" cy="610230"/>
          </a:xfrm>
          <a:prstGeom prst="rect">
            <a:avLst/>
          </a:prstGeom>
          <a:solidFill>
            <a:srgbClr val="00BFFF"/>
          </a:solidFill>
          <a:ln cap="flat" cmpd="sng" w="25400">
            <a:solidFill>
              <a:srgbClr val="000000">
                <a:alpha val="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" name="Google Shape;79;p4"/>
          <p:cNvSpPr/>
          <p:nvPr/>
        </p:nvSpPr>
        <p:spPr>
          <a:xfrm>
            <a:off x="3819525" y="1855011"/>
            <a:ext cx="1002953" cy="29988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/>
              <a:t>Mastra</a:t>
            </a:r>
            <a:endParaRPr i="0" sz="1125" u="none" cap="none" strike="noStrike"/>
          </a:p>
        </p:txBody>
      </p:sp>
      <p:sp>
        <p:nvSpPr>
          <p:cNvPr id="80" name="Google Shape;80;p4"/>
          <p:cNvSpPr/>
          <p:nvPr/>
        </p:nvSpPr>
        <p:spPr>
          <a:xfrm>
            <a:off x="3819524" y="3857625"/>
            <a:ext cx="1002979" cy="610231"/>
          </a:xfrm>
          <a:prstGeom prst="rect">
            <a:avLst/>
          </a:prstGeom>
          <a:solidFill>
            <a:srgbClr val="FFD700"/>
          </a:solidFill>
          <a:ln cap="flat" cmpd="sng" w="25400">
            <a:solidFill>
              <a:srgbClr val="000000">
                <a:alpha val="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" name="Google Shape;81;p4"/>
          <p:cNvSpPr/>
          <p:nvPr/>
        </p:nvSpPr>
        <p:spPr>
          <a:xfrm>
            <a:off x="3819525" y="3931461"/>
            <a:ext cx="1002953" cy="449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Project 5:</a:t>
            </a:r>
            <a:b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Developer</a:t>
            </a:r>
            <a:b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Agent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" name="Google Shape;82;p4"/>
          <p:cNvSpPr/>
          <p:nvPr/>
        </p:nvSpPr>
        <p:spPr>
          <a:xfrm>
            <a:off x="3819524" y="628650"/>
            <a:ext cx="1002979" cy="610230"/>
          </a:xfrm>
          <a:prstGeom prst="rect">
            <a:avLst/>
          </a:prstGeom>
          <a:noFill/>
          <a:ln cap="flat" cmpd="sng" w="25400">
            <a:solidFill>
              <a:srgbClr val="FFD7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" name="Google Shape;83;p4"/>
          <p:cNvSpPr/>
          <p:nvPr/>
        </p:nvSpPr>
        <p:spPr>
          <a:xfrm>
            <a:off x="3819525" y="778686"/>
            <a:ext cx="1002953" cy="29988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Project 8: AI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Equity Traders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" name="Google Shape;84;p4"/>
          <p:cNvSpPr/>
          <p:nvPr/>
        </p:nvSpPr>
        <p:spPr>
          <a:xfrm>
            <a:off x="4953000" y="6010275"/>
            <a:ext cx="1002976" cy="610230"/>
          </a:xfrm>
          <a:prstGeom prst="rect">
            <a:avLst/>
          </a:prstGeom>
          <a:solidFill>
            <a:srgbClr val="FFD700"/>
          </a:solidFill>
          <a:ln cap="flat" cmpd="sng" w="25400">
            <a:solidFill>
              <a:srgbClr val="000000">
                <a:alpha val="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" name="Google Shape;85;p4"/>
          <p:cNvSpPr/>
          <p:nvPr/>
        </p:nvSpPr>
        <p:spPr>
          <a:xfrm>
            <a:off x="4953000" y="6084111"/>
            <a:ext cx="1002953" cy="449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Project 1:</a:t>
            </a:r>
            <a:b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Your personal</a:t>
            </a:r>
            <a:b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career agent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4"/>
          <p:cNvSpPr/>
          <p:nvPr/>
        </p:nvSpPr>
        <p:spPr>
          <a:xfrm>
            <a:off x="4953000" y="2781300"/>
            <a:ext cx="1002976" cy="610230"/>
          </a:xfrm>
          <a:prstGeom prst="rect">
            <a:avLst/>
          </a:prstGeom>
          <a:solidFill>
            <a:srgbClr val="FFD700"/>
          </a:solidFill>
          <a:ln cap="flat" cmpd="sng" w="25400">
            <a:solidFill>
              <a:srgbClr val="000000">
                <a:alpha val="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" name="Google Shape;87;p4"/>
          <p:cNvSpPr/>
          <p:nvPr/>
        </p:nvSpPr>
        <p:spPr>
          <a:xfrm>
            <a:off x="4953000" y="2855136"/>
            <a:ext cx="1002953" cy="449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/>
              <a:t>Project 6:</a:t>
            </a:r>
            <a:br>
              <a:rPr lang="en-US" sz="1125"/>
            </a:br>
            <a:r>
              <a:rPr lang="en-US" sz="1125"/>
              <a:t>Sidekick</a:t>
            </a:r>
            <a:endParaRPr i="0" sz="1125" u="none" cap="none" strike="noStrike"/>
          </a:p>
        </p:txBody>
      </p:sp>
      <p:sp>
        <p:nvSpPr>
          <p:cNvPr id="88" name="Google Shape;88;p4"/>
          <p:cNvSpPr/>
          <p:nvPr/>
        </p:nvSpPr>
        <p:spPr>
          <a:xfrm>
            <a:off x="4953000" y="4933950"/>
            <a:ext cx="1002976" cy="610230"/>
          </a:xfrm>
          <a:prstGeom prst="rect">
            <a:avLst/>
          </a:prstGeom>
          <a:solidFill>
            <a:srgbClr val="FFD700"/>
          </a:solidFill>
          <a:ln cap="flat" cmpd="sng" w="25400">
            <a:solidFill>
              <a:srgbClr val="000000">
                <a:alpha val="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" name="Google Shape;89;p4"/>
          <p:cNvSpPr/>
          <p:nvPr/>
        </p:nvSpPr>
        <p:spPr>
          <a:xfrm>
            <a:off x="4953000" y="5083986"/>
            <a:ext cx="1002953" cy="29988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Project 3: Deep</a:t>
            </a:r>
            <a:b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Research app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4"/>
          <p:cNvSpPr/>
          <p:nvPr/>
        </p:nvSpPr>
        <p:spPr>
          <a:xfrm>
            <a:off x="4953000" y="1704975"/>
            <a:ext cx="1002976" cy="610230"/>
          </a:xfrm>
          <a:prstGeom prst="rect">
            <a:avLst/>
          </a:prstGeom>
          <a:solidFill>
            <a:srgbClr val="FFD700"/>
          </a:solidFill>
          <a:ln cap="flat" cmpd="sng" w="25400">
            <a:solidFill>
              <a:srgbClr val="000000">
                <a:alpha val="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" name="Google Shape;91;p4"/>
          <p:cNvSpPr/>
          <p:nvPr/>
        </p:nvSpPr>
        <p:spPr>
          <a:xfrm>
            <a:off x="4953000" y="1778811"/>
            <a:ext cx="1002953" cy="449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/>
              <a:t>Project 7:</a:t>
            </a:r>
            <a:br>
              <a:rPr lang="en-US" sz="1125"/>
            </a:br>
            <a:r>
              <a:rPr lang="en-US" sz="1125"/>
              <a:t>Agent Loop</a:t>
            </a:r>
            <a:endParaRPr i="0" sz="1125" u="none" cap="none" strike="noStrike"/>
          </a:p>
        </p:txBody>
      </p:sp>
      <p:sp>
        <p:nvSpPr>
          <p:cNvPr id="92" name="Google Shape;92;p4"/>
          <p:cNvSpPr/>
          <p:nvPr/>
        </p:nvSpPr>
        <p:spPr>
          <a:xfrm>
            <a:off x="4953000" y="3857625"/>
            <a:ext cx="1002976" cy="610231"/>
          </a:xfrm>
          <a:prstGeom prst="rect">
            <a:avLst/>
          </a:prstGeom>
          <a:solidFill>
            <a:srgbClr val="FFD700"/>
          </a:solidFill>
          <a:ln cap="flat" cmpd="sng" w="25400">
            <a:solidFill>
              <a:srgbClr val="000000">
                <a:alpha val="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" name="Google Shape;93;p4"/>
          <p:cNvSpPr/>
          <p:nvPr/>
        </p:nvSpPr>
        <p:spPr>
          <a:xfrm>
            <a:off x="4953000" y="3931461"/>
            <a:ext cx="1002953" cy="449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Project 5:</a:t>
            </a:r>
            <a:b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Engineering</a:t>
            </a:r>
            <a:b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Team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4"/>
          <p:cNvSpPr/>
          <p:nvPr/>
        </p:nvSpPr>
        <p:spPr>
          <a:xfrm>
            <a:off x="4953000" y="628650"/>
            <a:ext cx="1002976" cy="610230"/>
          </a:xfrm>
          <a:prstGeom prst="rect">
            <a:avLst/>
          </a:prstGeom>
          <a:noFill/>
          <a:ln cap="flat" cmpd="sng" w="25400">
            <a:solidFill>
              <a:srgbClr val="FFD7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" name="Google Shape;95;p4"/>
          <p:cNvSpPr/>
          <p:nvPr/>
        </p:nvSpPr>
        <p:spPr>
          <a:xfrm>
            <a:off x="4953000" y="702486"/>
            <a:ext cx="1002953" cy="449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Project 8: AI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Equity Traders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In Action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5"/>
          <p:cNvSpPr/>
          <p:nvPr/>
        </p:nvSpPr>
        <p:spPr>
          <a:xfrm>
            <a:off x="571500" y="227661"/>
            <a:ext cx="9064800" cy="47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375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300" u="none" cap="none" strike="noStrike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rPr>
              <a:t>Today we make our own!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2" name="Google Shape;102;p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27575" y="849030"/>
            <a:ext cx="5856098" cy="585609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6"/>
          <p:cNvSpPr/>
          <p:nvPr/>
        </p:nvSpPr>
        <p:spPr>
          <a:xfrm>
            <a:off x="800100" y="586160"/>
            <a:ext cx="10000500" cy="47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375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300" u="none" cap="none" strike="noStrike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rPr>
              <a:t>MCP Core Concepts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6"/>
          <p:cNvSpPr/>
          <p:nvPr/>
        </p:nvSpPr>
        <p:spPr>
          <a:xfrm>
            <a:off x="571500" y="1604367"/>
            <a:ext cx="45756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2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The Three Components: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p6"/>
          <p:cNvSpPr/>
          <p:nvPr/>
        </p:nvSpPr>
        <p:spPr>
          <a:xfrm>
            <a:off x="571500" y="4414242"/>
            <a:ext cx="45756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2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Example: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6"/>
          <p:cNvSpPr/>
          <p:nvPr/>
        </p:nvSpPr>
        <p:spPr>
          <a:xfrm>
            <a:off x="990600" y="2335188"/>
            <a:ext cx="6627900" cy="24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222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00BFFF"/>
                </a:solidFill>
                <a:latin typeface="Roboto Slab"/>
                <a:ea typeface="Roboto Slab"/>
                <a:cs typeface="Roboto Slab"/>
                <a:sym typeface="Roboto Slab"/>
              </a:rPr>
              <a:t>Host</a:t>
            </a:r>
            <a:r>
              <a:rPr b="0" i="0" lang="en-US" sz="1350" u="none" cap="none" strike="noStrike">
                <a:solidFill>
                  <a:srgbClr val="00BFFF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b="0" i="0" lang="en-US" sz="1350" u="none" cap="none" strike="noStrike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rPr>
              <a:t>is an LLM app like Claude or our Agent</a:t>
            </a:r>
            <a:r>
              <a:rPr lang="en-US" sz="1350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rPr>
              <a:t>ic Platform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6"/>
          <p:cNvSpPr/>
          <p:nvPr/>
        </p:nvSpPr>
        <p:spPr>
          <a:xfrm>
            <a:off x="653138" y="5067313"/>
            <a:ext cx="6627900" cy="24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222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rPr>
              <a:t>Fetch is an </a:t>
            </a:r>
            <a:r>
              <a:rPr b="1" i="0" lang="en-US" sz="1350" u="none" cap="none" strike="noStrike">
                <a:solidFill>
                  <a:srgbClr val="FF7800"/>
                </a:solidFill>
                <a:latin typeface="Roboto Slab"/>
                <a:ea typeface="Roboto Slab"/>
                <a:cs typeface="Roboto Slab"/>
                <a:sym typeface="Roboto Slab"/>
              </a:rPr>
              <a:t>MCP Server</a:t>
            </a:r>
            <a:r>
              <a:rPr b="0" i="0" lang="en-US" sz="1350" u="none" cap="none" strike="noStrike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rPr>
              <a:t> that </a:t>
            </a:r>
            <a:r>
              <a:rPr lang="en-US" sz="1350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rPr>
              <a:t>gets a webpage and returns Markdown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6"/>
          <p:cNvSpPr/>
          <p:nvPr/>
        </p:nvSpPr>
        <p:spPr>
          <a:xfrm>
            <a:off x="653138" y="5511775"/>
            <a:ext cx="7008900" cy="487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222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rPr>
              <a:t>You can configure </a:t>
            </a:r>
            <a:r>
              <a:rPr b="1" i="0" lang="en-US" sz="1350" u="none" cap="none" strike="noStrike">
                <a:solidFill>
                  <a:srgbClr val="00BFFF"/>
                </a:solidFill>
                <a:latin typeface="Roboto Slab"/>
                <a:ea typeface="Roboto Slab"/>
                <a:cs typeface="Roboto Slab"/>
                <a:sym typeface="Roboto Slab"/>
              </a:rPr>
              <a:t>Claude Desktop</a:t>
            </a:r>
            <a:r>
              <a:rPr b="0" i="0" lang="en-US" sz="1350" u="none" cap="none" strike="noStrike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rPr>
              <a:t> (the host) to run an </a:t>
            </a:r>
            <a:r>
              <a:rPr b="1" i="0" lang="en-US" sz="1350" u="none" cap="none" strike="noStrike">
                <a:solidFill>
                  <a:srgbClr val="FFD700"/>
                </a:solidFill>
                <a:latin typeface="Roboto Slab"/>
                <a:ea typeface="Roboto Slab"/>
                <a:cs typeface="Roboto Slab"/>
                <a:sym typeface="Roboto Slab"/>
              </a:rPr>
              <a:t>MCP Client</a:t>
            </a:r>
            <a:r>
              <a:rPr b="0" i="0" lang="en-US" sz="1350" u="none" cap="none" strike="noStrike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rPr>
              <a:t> that then</a:t>
            </a:r>
            <a:br>
              <a:rPr b="0" i="0" lang="en-US" sz="1350" u="none" cap="none" strike="noStrike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rPr>
            </a:br>
            <a:r>
              <a:rPr b="0" i="0" lang="en-US" sz="1350" u="none" cap="none" strike="noStrike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rPr>
              <a:t>launches the Fetch MCP Server on your computer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6"/>
          <p:cNvSpPr/>
          <p:nvPr/>
        </p:nvSpPr>
        <p:spPr>
          <a:xfrm>
            <a:off x="653138" y="6207963"/>
            <a:ext cx="6627900" cy="24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222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rPr>
              <a:t>Agent Frameworks take care of creating the MCP Client for you - you tell it which server to attach to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6"/>
          <p:cNvSpPr/>
          <p:nvPr/>
        </p:nvSpPr>
        <p:spPr>
          <a:xfrm>
            <a:off x="990600" y="2849538"/>
            <a:ext cx="6850200" cy="24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222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FFD700"/>
                </a:solidFill>
                <a:latin typeface="Roboto Slab"/>
                <a:ea typeface="Roboto Slab"/>
                <a:cs typeface="Roboto Slab"/>
                <a:sym typeface="Roboto Slab"/>
              </a:rPr>
              <a:t>MCP Client</a:t>
            </a:r>
            <a:r>
              <a:rPr b="0" i="0" lang="en-US" sz="1350" u="none" cap="none" strike="noStrike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rPr>
              <a:t> lives inside Host and connects 1:1 to MCP Server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6"/>
          <p:cNvSpPr/>
          <p:nvPr/>
        </p:nvSpPr>
        <p:spPr>
          <a:xfrm>
            <a:off x="990600" y="3363888"/>
            <a:ext cx="6081600" cy="24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222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FF7800"/>
                </a:solidFill>
                <a:latin typeface="Roboto Slab"/>
                <a:ea typeface="Roboto Slab"/>
                <a:cs typeface="Roboto Slab"/>
                <a:sym typeface="Roboto Slab"/>
              </a:rPr>
              <a:t>MCP Server</a:t>
            </a:r>
            <a:r>
              <a:rPr b="0" i="0" lang="en-US" sz="1350" u="none" cap="none" strike="noStrike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rPr>
              <a:t> provides tools, context and prompts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17" name="Google Shape;117;p6"/>
          <p:cNvCxnSpPr/>
          <p:nvPr/>
        </p:nvCxnSpPr>
        <p:spPr>
          <a:xfrm rot="5400000">
            <a:off x="-150233" y="3040223"/>
            <a:ext cx="1606800" cy="0"/>
          </a:xfrm>
          <a:prstGeom prst="straightConnector1">
            <a:avLst/>
          </a:prstGeom>
          <a:noFill/>
          <a:ln cap="flat" cmpd="sng" w="76200">
            <a:solidFill>
              <a:srgbClr val="FFFFFF"/>
            </a:solidFill>
            <a:prstDash val="solid"/>
            <a:miter lim="800000"/>
            <a:headEnd len="sm" w="sm" type="none"/>
            <a:tailEnd len="sm" w="sm" type="none"/>
          </a:ln>
        </p:spPr>
      </p:cxn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7"/>
          <p:cNvSpPr/>
          <p:nvPr/>
        </p:nvSpPr>
        <p:spPr>
          <a:xfrm>
            <a:off x="800100" y="586160"/>
            <a:ext cx="10000500" cy="47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375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300" u="none" cap="none" strike="noStrike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rPr>
              <a:t>Architecture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7"/>
          <p:cNvSpPr/>
          <p:nvPr/>
        </p:nvSpPr>
        <p:spPr>
          <a:xfrm>
            <a:off x="390528" y="1676400"/>
            <a:ext cx="3163500" cy="4482900"/>
          </a:xfrm>
          <a:prstGeom prst="rect">
            <a:avLst/>
          </a:prstGeom>
          <a:solidFill>
            <a:srgbClr val="0C0C0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" name="Google Shape;125;p7"/>
          <p:cNvSpPr/>
          <p:nvPr/>
        </p:nvSpPr>
        <p:spPr>
          <a:xfrm>
            <a:off x="3705222" y="1676400"/>
            <a:ext cx="1696500" cy="2484300"/>
          </a:xfrm>
          <a:prstGeom prst="rect">
            <a:avLst/>
          </a:prstGeom>
          <a:solidFill>
            <a:srgbClr val="0C0C0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" name="Google Shape;126;p7"/>
          <p:cNvSpPr/>
          <p:nvPr/>
        </p:nvSpPr>
        <p:spPr>
          <a:xfrm>
            <a:off x="581025" y="1900684"/>
            <a:ext cx="2083500" cy="23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219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75" u="none" cap="none" strike="noStrike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rPr>
              <a:t>Your computer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7"/>
          <p:cNvSpPr/>
          <p:nvPr/>
        </p:nvSpPr>
        <p:spPr>
          <a:xfrm>
            <a:off x="885825" y="2557909"/>
            <a:ext cx="2083500" cy="23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219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75" u="none" cap="none" strike="noStrike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rPr>
              <a:t>Host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7"/>
          <p:cNvSpPr/>
          <p:nvPr/>
        </p:nvSpPr>
        <p:spPr>
          <a:xfrm>
            <a:off x="3952875" y="1900684"/>
            <a:ext cx="1293000" cy="23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219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75" u="none" cap="none" strike="noStrike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rPr>
              <a:t>Remote server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7"/>
          <p:cNvSpPr/>
          <p:nvPr/>
        </p:nvSpPr>
        <p:spPr>
          <a:xfrm>
            <a:off x="552445" y="2428875"/>
            <a:ext cx="2874000" cy="1731900"/>
          </a:xfrm>
          <a:prstGeom prst="rect">
            <a:avLst/>
          </a:prstGeom>
          <a:solidFill>
            <a:srgbClr val="00BFFF">
              <a:alpha val="34900"/>
            </a:srgbClr>
          </a:solidFill>
          <a:ln cap="flat" cmpd="sng" w="25400">
            <a:solidFill>
              <a:srgbClr val="00BFF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" name="Google Shape;130;p7"/>
          <p:cNvSpPr/>
          <p:nvPr/>
        </p:nvSpPr>
        <p:spPr>
          <a:xfrm>
            <a:off x="800097" y="3133725"/>
            <a:ext cx="741600" cy="783600"/>
          </a:xfrm>
          <a:prstGeom prst="rect">
            <a:avLst/>
          </a:prstGeom>
          <a:solidFill>
            <a:srgbClr val="FFD700"/>
          </a:solidFill>
          <a:ln cap="flat" cmpd="sng" w="25400">
            <a:solidFill>
              <a:srgbClr val="000000">
                <a:alpha val="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" name="Google Shape;131;p7"/>
          <p:cNvSpPr/>
          <p:nvPr/>
        </p:nvSpPr>
        <p:spPr>
          <a:xfrm>
            <a:off x="3962403" y="3162300"/>
            <a:ext cx="741600" cy="783600"/>
          </a:xfrm>
          <a:prstGeom prst="rect">
            <a:avLst/>
          </a:prstGeom>
          <a:solidFill>
            <a:srgbClr val="FF7800"/>
          </a:solidFill>
          <a:ln cap="flat" cmpd="sng" w="25400">
            <a:solidFill>
              <a:srgbClr val="000000">
                <a:alpha val="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" name="Google Shape;132;p7"/>
          <p:cNvSpPr/>
          <p:nvPr/>
        </p:nvSpPr>
        <p:spPr>
          <a:xfrm>
            <a:off x="1619250" y="3133725"/>
            <a:ext cx="741600" cy="783600"/>
          </a:xfrm>
          <a:prstGeom prst="rect">
            <a:avLst/>
          </a:prstGeom>
          <a:solidFill>
            <a:srgbClr val="FFD700"/>
          </a:solidFill>
          <a:ln cap="flat" cmpd="sng" w="25400">
            <a:solidFill>
              <a:srgbClr val="000000">
                <a:alpha val="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" name="Google Shape;133;p7"/>
          <p:cNvSpPr/>
          <p:nvPr/>
        </p:nvSpPr>
        <p:spPr>
          <a:xfrm>
            <a:off x="2457445" y="3133725"/>
            <a:ext cx="741600" cy="783600"/>
          </a:xfrm>
          <a:prstGeom prst="rect">
            <a:avLst/>
          </a:prstGeom>
          <a:solidFill>
            <a:srgbClr val="FFD700"/>
          </a:solidFill>
          <a:ln cap="flat" cmpd="sng" w="25400">
            <a:solidFill>
              <a:srgbClr val="000000">
                <a:alpha val="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" name="Google Shape;134;p7"/>
          <p:cNvSpPr/>
          <p:nvPr/>
        </p:nvSpPr>
        <p:spPr>
          <a:xfrm>
            <a:off x="872959" y="3333006"/>
            <a:ext cx="481800" cy="433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21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00000"/>
                </a:solidFill>
                <a:latin typeface="Roboto Slab"/>
                <a:ea typeface="Roboto Slab"/>
                <a:cs typeface="Roboto Slab"/>
                <a:sym typeface="Roboto Slab"/>
              </a:rPr>
              <a:t>MCP</a:t>
            </a:r>
            <a:br>
              <a:rPr b="1" i="0" lang="en-US" sz="1200" u="none" cap="none" strike="noStrike">
                <a:solidFill>
                  <a:srgbClr val="000000"/>
                </a:solidFill>
                <a:latin typeface="Roboto Slab"/>
                <a:ea typeface="Roboto Slab"/>
                <a:cs typeface="Roboto Slab"/>
                <a:sym typeface="Roboto Slab"/>
              </a:rPr>
            </a:br>
            <a:r>
              <a:rPr b="1" i="0" lang="en-US" sz="1200" u="none" cap="none" strike="noStrike">
                <a:solidFill>
                  <a:srgbClr val="000000"/>
                </a:solidFill>
                <a:latin typeface="Roboto Slab"/>
                <a:ea typeface="Roboto Slab"/>
                <a:cs typeface="Roboto Slab"/>
                <a:sym typeface="Roboto Slab"/>
              </a:rPr>
              <a:t>Client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7"/>
          <p:cNvSpPr/>
          <p:nvPr/>
        </p:nvSpPr>
        <p:spPr>
          <a:xfrm>
            <a:off x="4053826" y="3361581"/>
            <a:ext cx="520800" cy="433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21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00000"/>
                </a:solidFill>
                <a:latin typeface="Roboto Slab"/>
                <a:ea typeface="Roboto Slab"/>
                <a:cs typeface="Roboto Slab"/>
                <a:sym typeface="Roboto Slab"/>
              </a:rPr>
              <a:t>MCP</a:t>
            </a:r>
            <a:br>
              <a:rPr b="1" i="0" lang="en-US" sz="1200" u="none" cap="none" strike="noStrike">
                <a:solidFill>
                  <a:srgbClr val="000000"/>
                </a:solidFill>
                <a:latin typeface="Roboto Slab"/>
                <a:ea typeface="Roboto Slab"/>
                <a:cs typeface="Roboto Slab"/>
                <a:sym typeface="Roboto Slab"/>
              </a:rPr>
            </a:br>
            <a:r>
              <a:rPr b="1" i="0" lang="en-US" sz="1200" u="none" cap="none" strike="noStrike">
                <a:solidFill>
                  <a:srgbClr val="000000"/>
                </a:solidFill>
                <a:latin typeface="Roboto Slab"/>
                <a:ea typeface="Roboto Slab"/>
                <a:cs typeface="Roboto Slab"/>
                <a:sym typeface="Roboto Slab"/>
              </a:rPr>
              <a:t>Server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7"/>
          <p:cNvSpPr/>
          <p:nvPr/>
        </p:nvSpPr>
        <p:spPr>
          <a:xfrm>
            <a:off x="1692109" y="3333006"/>
            <a:ext cx="481800" cy="433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21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00000"/>
                </a:solidFill>
                <a:latin typeface="Roboto Slab"/>
                <a:ea typeface="Roboto Slab"/>
                <a:cs typeface="Roboto Slab"/>
                <a:sym typeface="Roboto Slab"/>
              </a:rPr>
              <a:t>MCP</a:t>
            </a:r>
            <a:br>
              <a:rPr b="1" i="0" lang="en-US" sz="1200" u="none" cap="none" strike="noStrike">
                <a:solidFill>
                  <a:srgbClr val="000000"/>
                </a:solidFill>
                <a:latin typeface="Roboto Slab"/>
                <a:ea typeface="Roboto Slab"/>
                <a:cs typeface="Roboto Slab"/>
                <a:sym typeface="Roboto Slab"/>
              </a:rPr>
            </a:br>
            <a:r>
              <a:rPr b="1" i="0" lang="en-US" sz="1200" u="none" cap="none" strike="noStrike">
                <a:solidFill>
                  <a:srgbClr val="000000"/>
                </a:solidFill>
                <a:latin typeface="Roboto Slab"/>
                <a:ea typeface="Roboto Slab"/>
                <a:cs typeface="Roboto Slab"/>
                <a:sym typeface="Roboto Slab"/>
              </a:rPr>
              <a:t>Client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7"/>
          <p:cNvSpPr/>
          <p:nvPr/>
        </p:nvSpPr>
        <p:spPr>
          <a:xfrm>
            <a:off x="2530309" y="3333006"/>
            <a:ext cx="481800" cy="433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21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00000"/>
                </a:solidFill>
                <a:latin typeface="Roboto Slab"/>
                <a:ea typeface="Roboto Slab"/>
                <a:cs typeface="Roboto Slab"/>
                <a:sym typeface="Roboto Slab"/>
              </a:rPr>
              <a:t>MCP</a:t>
            </a:r>
            <a:br>
              <a:rPr b="1" i="0" lang="en-US" sz="1200" u="none" cap="none" strike="noStrike">
                <a:solidFill>
                  <a:srgbClr val="000000"/>
                </a:solidFill>
                <a:latin typeface="Roboto Slab"/>
                <a:ea typeface="Roboto Slab"/>
                <a:cs typeface="Roboto Slab"/>
                <a:sym typeface="Roboto Slab"/>
              </a:rPr>
            </a:br>
            <a:r>
              <a:rPr b="1" i="0" lang="en-US" sz="1200" u="none" cap="none" strike="noStrike">
                <a:solidFill>
                  <a:srgbClr val="000000"/>
                </a:solidFill>
                <a:latin typeface="Roboto Slab"/>
                <a:ea typeface="Roboto Slab"/>
                <a:cs typeface="Roboto Slab"/>
                <a:sym typeface="Roboto Slab"/>
              </a:rPr>
              <a:t>Client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38" name="Google Shape;138;p7"/>
          <p:cNvGrpSpPr/>
          <p:nvPr/>
        </p:nvGrpSpPr>
        <p:grpSpPr>
          <a:xfrm>
            <a:off x="762000" y="3856405"/>
            <a:ext cx="741600" cy="1518245"/>
            <a:chOff x="762000" y="3856405"/>
            <a:chExt cx="741600" cy="1518245"/>
          </a:xfrm>
        </p:grpSpPr>
        <p:sp>
          <p:nvSpPr>
            <p:cNvPr id="139" name="Google Shape;139;p7"/>
            <p:cNvSpPr/>
            <p:nvPr/>
          </p:nvSpPr>
          <p:spPr>
            <a:xfrm>
              <a:off x="762000" y="4591050"/>
              <a:ext cx="741600" cy="783600"/>
            </a:xfrm>
            <a:prstGeom prst="rect">
              <a:avLst/>
            </a:prstGeom>
            <a:solidFill>
              <a:srgbClr val="FF7800"/>
            </a:solidFill>
            <a:ln cap="flat" cmpd="sng" w="25400">
              <a:solidFill>
                <a:srgbClr val="000000">
                  <a:alpha val="0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0" name="Google Shape;140;p7"/>
            <p:cNvSpPr/>
            <p:nvPr/>
          </p:nvSpPr>
          <p:spPr>
            <a:xfrm>
              <a:off x="815326" y="4790331"/>
              <a:ext cx="520800" cy="433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42166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200" u="none" cap="none" strike="noStrike">
                  <a:solidFill>
                    <a:srgbClr val="000000"/>
                  </a:solidFill>
                  <a:latin typeface="Roboto Slab"/>
                  <a:ea typeface="Roboto Slab"/>
                  <a:cs typeface="Roboto Slab"/>
                  <a:sym typeface="Roboto Slab"/>
                </a:rPr>
                <a:t>MCP</a:t>
              </a:r>
              <a:br>
                <a:rPr b="1" i="0" lang="en-US" sz="1200" u="none" cap="none" strike="noStrike">
                  <a:solidFill>
                    <a:srgbClr val="000000"/>
                  </a:solidFill>
                  <a:latin typeface="Roboto Slab"/>
                  <a:ea typeface="Roboto Slab"/>
                  <a:cs typeface="Roboto Slab"/>
                  <a:sym typeface="Roboto Slab"/>
                </a:rPr>
              </a:br>
              <a:r>
                <a:rPr b="1" i="0" lang="en-US" sz="1200" u="none" cap="none" strike="noStrike">
                  <a:solidFill>
                    <a:srgbClr val="000000"/>
                  </a:solidFill>
                  <a:latin typeface="Roboto Slab"/>
                  <a:ea typeface="Roboto Slab"/>
                  <a:cs typeface="Roboto Slab"/>
                  <a:sym typeface="Roboto Slab"/>
                </a:rPr>
                <a:t>Server</a:t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141" name="Google Shape;141;p7"/>
            <p:cNvCxnSpPr/>
            <p:nvPr/>
          </p:nvCxnSpPr>
          <p:spPr>
            <a:xfrm rot="5400000">
              <a:off x="816859" y="4271306"/>
              <a:ext cx="639300" cy="0"/>
            </a:xfrm>
            <a:prstGeom prst="straightConnector1">
              <a:avLst/>
            </a:prstGeom>
            <a:noFill/>
            <a:ln cap="flat" cmpd="sng" w="25400">
              <a:solidFill>
                <a:srgbClr val="FFFFFF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sp>
          <p:nvSpPr>
            <p:cNvPr id="142" name="Google Shape;142;p7"/>
            <p:cNvSpPr/>
            <p:nvPr/>
          </p:nvSpPr>
          <p:spPr>
            <a:xfrm>
              <a:off x="1041259" y="3856405"/>
              <a:ext cx="190500" cy="190500"/>
            </a:xfrm>
            <a:prstGeom prst="triangle">
              <a:avLst>
                <a:gd fmla="val 50000" name="adj"/>
              </a:avLst>
            </a:pr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3" name="Google Shape;143;p7"/>
            <p:cNvSpPr/>
            <p:nvPr/>
          </p:nvSpPr>
          <p:spPr>
            <a:xfrm rot="10800000">
              <a:off x="1041259" y="4495800"/>
              <a:ext cx="190500" cy="190500"/>
            </a:xfrm>
            <a:prstGeom prst="triangle">
              <a:avLst>
                <a:gd fmla="val 50000" name="adj"/>
              </a:avLst>
            </a:pr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44" name="Google Shape;144;p7"/>
          <p:cNvGrpSpPr/>
          <p:nvPr/>
        </p:nvGrpSpPr>
        <p:grpSpPr>
          <a:xfrm>
            <a:off x="1619250" y="3819525"/>
            <a:ext cx="741600" cy="1555125"/>
            <a:chOff x="1619250" y="3819525"/>
            <a:chExt cx="741600" cy="1555125"/>
          </a:xfrm>
        </p:grpSpPr>
        <p:sp>
          <p:nvSpPr>
            <p:cNvPr id="145" name="Google Shape;145;p7"/>
            <p:cNvSpPr/>
            <p:nvPr/>
          </p:nvSpPr>
          <p:spPr>
            <a:xfrm>
              <a:off x="1619250" y="4591050"/>
              <a:ext cx="741600" cy="783600"/>
            </a:xfrm>
            <a:prstGeom prst="rect">
              <a:avLst/>
            </a:prstGeom>
            <a:solidFill>
              <a:srgbClr val="FF7800"/>
            </a:solidFill>
            <a:ln cap="flat" cmpd="sng" w="25400">
              <a:solidFill>
                <a:srgbClr val="000000">
                  <a:alpha val="0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6" name="Google Shape;146;p7"/>
            <p:cNvSpPr/>
            <p:nvPr/>
          </p:nvSpPr>
          <p:spPr>
            <a:xfrm>
              <a:off x="1672576" y="4790331"/>
              <a:ext cx="520800" cy="433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42166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200" u="none" cap="none" strike="noStrike">
                  <a:solidFill>
                    <a:srgbClr val="000000"/>
                  </a:solidFill>
                  <a:latin typeface="Roboto Slab"/>
                  <a:ea typeface="Roboto Slab"/>
                  <a:cs typeface="Roboto Slab"/>
                  <a:sym typeface="Roboto Slab"/>
                </a:rPr>
                <a:t>MCP</a:t>
              </a:r>
              <a:br>
                <a:rPr b="1" i="0" lang="en-US" sz="1200" u="none" cap="none" strike="noStrike">
                  <a:solidFill>
                    <a:srgbClr val="000000"/>
                  </a:solidFill>
                  <a:latin typeface="Roboto Slab"/>
                  <a:ea typeface="Roboto Slab"/>
                  <a:cs typeface="Roboto Slab"/>
                  <a:sym typeface="Roboto Slab"/>
                </a:rPr>
              </a:br>
              <a:r>
                <a:rPr b="1" i="0" lang="en-US" sz="1200" u="none" cap="none" strike="noStrike">
                  <a:solidFill>
                    <a:srgbClr val="000000"/>
                  </a:solidFill>
                  <a:latin typeface="Roboto Slab"/>
                  <a:ea typeface="Roboto Slab"/>
                  <a:cs typeface="Roboto Slab"/>
                  <a:sym typeface="Roboto Slab"/>
                </a:rPr>
                <a:t>Server</a:t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147" name="Google Shape;147;p7"/>
            <p:cNvCxnSpPr/>
            <p:nvPr/>
          </p:nvCxnSpPr>
          <p:spPr>
            <a:xfrm rot="5400000">
              <a:off x="1671076" y="4234426"/>
              <a:ext cx="639300" cy="0"/>
            </a:xfrm>
            <a:prstGeom prst="straightConnector1">
              <a:avLst/>
            </a:prstGeom>
            <a:noFill/>
            <a:ln cap="flat" cmpd="sng" w="25400">
              <a:solidFill>
                <a:srgbClr val="FFFFFF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sp>
          <p:nvSpPr>
            <p:cNvPr id="148" name="Google Shape;148;p7"/>
            <p:cNvSpPr/>
            <p:nvPr/>
          </p:nvSpPr>
          <p:spPr>
            <a:xfrm>
              <a:off x="1895475" y="3819525"/>
              <a:ext cx="190500" cy="190500"/>
            </a:xfrm>
            <a:prstGeom prst="triangle">
              <a:avLst>
                <a:gd fmla="val 50000" name="adj"/>
              </a:avLst>
            </a:pr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9" name="Google Shape;149;p7"/>
            <p:cNvSpPr/>
            <p:nvPr/>
          </p:nvSpPr>
          <p:spPr>
            <a:xfrm rot="10800000">
              <a:off x="1895475" y="4458920"/>
              <a:ext cx="190500" cy="190500"/>
            </a:xfrm>
            <a:prstGeom prst="triangle">
              <a:avLst>
                <a:gd fmla="val 50000" name="adj"/>
              </a:avLst>
            </a:pr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cxnSp>
        <p:nvCxnSpPr>
          <p:cNvPr id="150" name="Google Shape;150;p7"/>
          <p:cNvCxnSpPr/>
          <p:nvPr/>
        </p:nvCxnSpPr>
        <p:spPr>
          <a:xfrm>
            <a:off x="3207988" y="3538488"/>
            <a:ext cx="754500" cy="0"/>
          </a:xfrm>
          <a:prstGeom prst="straightConnector1">
            <a:avLst/>
          </a:prstGeom>
          <a:noFill/>
          <a:ln cap="flat" cmpd="sng" w="25400">
            <a:solidFill>
              <a:srgbClr val="FFFFFF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51" name="Google Shape;151;p7"/>
          <p:cNvSpPr/>
          <p:nvPr/>
        </p:nvSpPr>
        <p:spPr>
          <a:xfrm rot="-5400000">
            <a:off x="3112738" y="3443238"/>
            <a:ext cx="190500" cy="190500"/>
          </a:xfrm>
          <a:prstGeom prst="triangle">
            <a:avLst>
              <a:gd fmla="val 50000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" name="Google Shape;152;p7"/>
          <p:cNvSpPr/>
          <p:nvPr/>
        </p:nvSpPr>
        <p:spPr>
          <a:xfrm rot="5400000">
            <a:off x="3867150" y="3443238"/>
            <a:ext cx="190500" cy="190500"/>
          </a:xfrm>
          <a:prstGeom prst="triangle">
            <a:avLst>
              <a:gd fmla="val 50000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" name="Google Shape;153;p7"/>
          <p:cNvSpPr txBox="1"/>
          <p:nvPr/>
        </p:nvSpPr>
        <p:spPr>
          <a:xfrm>
            <a:off x="762000" y="6293400"/>
            <a:ext cx="2196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solidFill>
                  <a:srgbClr val="FF7800"/>
                </a:solidFill>
              </a:rPr>
              <a:t>1. List Tools 2. Call Tool</a:t>
            </a:r>
            <a:endParaRPr b="1">
              <a:solidFill>
                <a:srgbClr val="FF7800"/>
              </a:solidFill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8"/>
          <p:cNvSpPr/>
          <p:nvPr/>
        </p:nvSpPr>
        <p:spPr>
          <a:xfrm>
            <a:off x="800100" y="586160"/>
            <a:ext cx="10000500" cy="47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375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300" u="none" cap="none" strike="noStrike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rPr>
              <a:t>Architecture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8"/>
          <p:cNvSpPr/>
          <p:nvPr/>
        </p:nvSpPr>
        <p:spPr>
          <a:xfrm>
            <a:off x="390528" y="1676400"/>
            <a:ext cx="3163500" cy="4482900"/>
          </a:xfrm>
          <a:prstGeom prst="rect">
            <a:avLst/>
          </a:prstGeom>
          <a:solidFill>
            <a:srgbClr val="0C0C0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1" name="Google Shape;161;p8"/>
          <p:cNvSpPr/>
          <p:nvPr/>
        </p:nvSpPr>
        <p:spPr>
          <a:xfrm>
            <a:off x="3705222" y="1676400"/>
            <a:ext cx="1696500" cy="2484300"/>
          </a:xfrm>
          <a:prstGeom prst="rect">
            <a:avLst/>
          </a:prstGeom>
          <a:solidFill>
            <a:srgbClr val="0C0C0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" name="Google Shape;162;p8"/>
          <p:cNvSpPr/>
          <p:nvPr/>
        </p:nvSpPr>
        <p:spPr>
          <a:xfrm>
            <a:off x="3705222" y="4267200"/>
            <a:ext cx="1696500" cy="1892100"/>
          </a:xfrm>
          <a:prstGeom prst="rect">
            <a:avLst/>
          </a:prstGeom>
          <a:solidFill>
            <a:srgbClr val="0C0C0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3" name="Google Shape;163;p8"/>
          <p:cNvSpPr/>
          <p:nvPr/>
        </p:nvSpPr>
        <p:spPr>
          <a:xfrm>
            <a:off x="581025" y="1900684"/>
            <a:ext cx="2083500" cy="23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219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75" u="none" cap="none" strike="noStrike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rPr>
              <a:t>Your computer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8"/>
          <p:cNvSpPr/>
          <p:nvPr/>
        </p:nvSpPr>
        <p:spPr>
          <a:xfrm>
            <a:off x="885825" y="2557909"/>
            <a:ext cx="2083500" cy="23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219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75" u="none" cap="none" strike="noStrike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rPr>
              <a:t>Host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8"/>
          <p:cNvSpPr/>
          <p:nvPr/>
        </p:nvSpPr>
        <p:spPr>
          <a:xfrm>
            <a:off x="3952875" y="1900684"/>
            <a:ext cx="1293000" cy="23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219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75" u="none" cap="none" strike="noStrike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rPr>
              <a:t>Remote server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8"/>
          <p:cNvSpPr/>
          <p:nvPr/>
        </p:nvSpPr>
        <p:spPr>
          <a:xfrm>
            <a:off x="3886200" y="4386709"/>
            <a:ext cx="1293000" cy="23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219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75" u="none" cap="none" strike="noStrike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rPr>
              <a:t>Remote server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8"/>
          <p:cNvSpPr/>
          <p:nvPr/>
        </p:nvSpPr>
        <p:spPr>
          <a:xfrm>
            <a:off x="552445" y="2428875"/>
            <a:ext cx="2874000" cy="1731900"/>
          </a:xfrm>
          <a:prstGeom prst="rect">
            <a:avLst/>
          </a:prstGeom>
          <a:solidFill>
            <a:srgbClr val="00BFFF">
              <a:alpha val="34900"/>
            </a:srgbClr>
          </a:solidFill>
          <a:ln cap="flat" cmpd="sng" w="25400">
            <a:solidFill>
              <a:srgbClr val="00BFF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8" name="Google Shape;168;p8"/>
          <p:cNvSpPr/>
          <p:nvPr/>
        </p:nvSpPr>
        <p:spPr>
          <a:xfrm>
            <a:off x="800097" y="3133725"/>
            <a:ext cx="741600" cy="783600"/>
          </a:xfrm>
          <a:prstGeom prst="rect">
            <a:avLst/>
          </a:prstGeom>
          <a:solidFill>
            <a:srgbClr val="FFD700"/>
          </a:solidFill>
          <a:ln cap="flat" cmpd="sng" w="25400">
            <a:solidFill>
              <a:srgbClr val="000000">
                <a:alpha val="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" name="Google Shape;169;p8"/>
          <p:cNvSpPr/>
          <p:nvPr/>
        </p:nvSpPr>
        <p:spPr>
          <a:xfrm>
            <a:off x="762000" y="4591050"/>
            <a:ext cx="741600" cy="783600"/>
          </a:xfrm>
          <a:prstGeom prst="rect">
            <a:avLst/>
          </a:prstGeom>
          <a:solidFill>
            <a:srgbClr val="FF7800"/>
          </a:solidFill>
          <a:ln cap="flat" cmpd="sng" w="25400">
            <a:solidFill>
              <a:srgbClr val="000000">
                <a:alpha val="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0" name="Google Shape;170;p8"/>
          <p:cNvSpPr/>
          <p:nvPr/>
        </p:nvSpPr>
        <p:spPr>
          <a:xfrm>
            <a:off x="1619250" y="4591050"/>
            <a:ext cx="741600" cy="783600"/>
          </a:xfrm>
          <a:prstGeom prst="rect">
            <a:avLst/>
          </a:prstGeom>
          <a:solidFill>
            <a:srgbClr val="FF7800"/>
          </a:solidFill>
          <a:ln cap="flat" cmpd="sng" w="25400">
            <a:solidFill>
              <a:srgbClr val="000000">
                <a:alpha val="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1" name="Google Shape;171;p8"/>
          <p:cNvSpPr/>
          <p:nvPr/>
        </p:nvSpPr>
        <p:spPr>
          <a:xfrm>
            <a:off x="3962403" y="3162300"/>
            <a:ext cx="741600" cy="783600"/>
          </a:xfrm>
          <a:prstGeom prst="rect">
            <a:avLst/>
          </a:prstGeom>
          <a:solidFill>
            <a:srgbClr val="FF7800"/>
          </a:solidFill>
          <a:ln cap="flat" cmpd="sng" w="25400">
            <a:solidFill>
              <a:srgbClr val="000000">
                <a:alpha val="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" name="Google Shape;172;p8"/>
          <p:cNvSpPr/>
          <p:nvPr/>
        </p:nvSpPr>
        <p:spPr>
          <a:xfrm>
            <a:off x="1619250" y="3133725"/>
            <a:ext cx="741600" cy="783600"/>
          </a:xfrm>
          <a:prstGeom prst="rect">
            <a:avLst/>
          </a:prstGeom>
          <a:solidFill>
            <a:srgbClr val="FFD700"/>
          </a:solidFill>
          <a:ln cap="flat" cmpd="sng" w="25400">
            <a:solidFill>
              <a:srgbClr val="000000">
                <a:alpha val="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3" name="Google Shape;173;p8"/>
          <p:cNvSpPr/>
          <p:nvPr/>
        </p:nvSpPr>
        <p:spPr>
          <a:xfrm>
            <a:off x="2457445" y="3133725"/>
            <a:ext cx="741600" cy="783600"/>
          </a:xfrm>
          <a:prstGeom prst="rect">
            <a:avLst/>
          </a:prstGeom>
          <a:solidFill>
            <a:srgbClr val="FFD700"/>
          </a:solidFill>
          <a:ln cap="flat" cmpd="sng" w="25400">
            <a:solidFill>
              <a:srgbClr val="000000">
                <a:alpha val="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4" name="Google Shape;174;p8"/>
          <p:cNvSpPr/>
          <p:nvPr/>
        </p:nvSpPr>
        <p:spPr>
          <a:xfrm>
            <a:off x="872959" y="3333006"/>
            <a:ext cx="481800" cy="433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21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00000"/>
                </a:solidFill>
                <a:latin typeface="Roboto Slab"/>
                <a:ea typeface="Roboto Slab"/>
                <a:cs typeface="Roboto Slab"/>
                <a:sym typeface="Roboto Slab"/>
              </a:rPr>
              <a:t>MCP</a:t>
            </a:r>
            <a:br>
              <a:rPr b="1" i="0" lang="en-US" sz="1200" u="none" cap="none" strike="noStrike">
                <a:solidFill>
                  <a:srgbClr val="000000"/>
                </a:solidFill>
                <a:latin typeface="Roboto Slab"/>
                <a:ea typeface="Roboto Slab"/>
                <a:cs typeface="Roboto Slab"/>
                <a:sym typeface="Roboto Slab"/>
              </a:rPr>
            </a:br>
            <a:r>
              <a:rPr b="1" i="0" lang="en-US" sz="1200" u="none" cap="none" strike="noStrike">
                <a:solidFill>
                  <a:srgbClr val="000000"/>
                </a:solidFill>
                <a:latin typeface="Roboto Slab"/>
                <a:ea typeface="Roboto Slab"/>
                <a:cs typeface="Roboto Slab"/>
                <a:sym typeface="Roboto Slab"/>
              </a:rPr>
              <a:t>Client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8"/>
          <p:cNvSpPr/>
          <p:nvPr/>
        </p:nvSpPr>
        <p:spPr>
          <a:xfrm>
            <a:off x="815326" y="4790331"/>
            <a:ext cx="520800" cy="433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21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00000"/>
                </a:solidFill>
                <a:latin typeface="Roboto Slab"/>
                <a:ea typeface="Roboto Slab"/>
                <a:cs typeface="Roboto Slab"/>
                <a:sym typeface="Roboto Slab"/>
              </a:rPr>
              <a:t>MCP</a:t>
            </a:r>
            <a:br>
              <a:rPr b="1" i="0" lang="en-US" sz="1200" u="none" cap="none" strike="noStrike">
                <a:solidFill>
                  <a:srgbClr val="000000"/>
                </a:solidFill>
                <a:latin typeface="Roboto Slab"/>
                <a:ea typeface="Roboto Slab"/>
                <a:cs typeface="Roboto Slab"/>
                <a:sym typeface="Roboto Slab"/>
              </a:rPr>
            </a:br>
            <a:r>
              <a:rPr b="1" i="0" lang="en-US" sz="1200" u="none" cap="none" strike="noStrike">
                <a:solidFill>
                  <a:srgbClr val="000000"/>
                </a:solidFill>
                <a:latin typeface="Roboto Slab"/>
                <a:ea typeface="Roboto Slab"/>
                <a:cs typeface="Roboto Slab"/>
                <a:sym typeface="Roboto Slab"/>
              </a:rPr>
              <a:t>Server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p8"/>
          <p:cNvSpPr/>
          <p:nvPr/>
        </p:nvSpPr>
        <p:spPr>
          <a:xfrm>
            <a:off x="1672576" y="4790331"/>
            <a:ext cx="520800" cy="433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21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00000"/>
                </a:solidFill>
                <a:latin typeface="Roboto Slab"/>
                <a:ea typeface="Roboto Slab"/>
                <a:cs typeface="Roboto Slab"/>
                <a:sym typeface="Roboto Slab"/>
              </a:rPr>
              <a:t>MCP</a:t>
            </a:r>
            <a:br>
              <a:rPr b="1" i="0" lang="en-US" sz="1200" u="none" cap="none" strike="noStrike">
                <a:solidFill>
                  <a:srgbClr val="000000"/>
                </a:solidFill>
                <a:latin typeface="Roboto Slab"/>
                <a:ea typeface="Roboto Slab"/>
                <a:cs typeface="Roboto Slab"/>
                <a:sym typeface="Roboto Slab"/>
              </a:rPr>
            </a:br>
            <a:r>
              <a:rPr b="1" i="0" lang="en-US" sz="1200" u="none" cap="none" strike="noStrike">
                <a:solidFill>
                  <a:srgbClr val="000000"/>
                </a:solidFill>
                <a:latin typeface="Roboto Slab"/>
                <a:ea typeface="Roboto Slab"/>
                <a:cs typeface="Roboto Slab"/>
                <a:sym typeface="Roboto Slab"/>
              </a:rPr>
              <a:t>Server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8"/>
          <p:cNvSpPr/>
          <p:nvPr/>
        </p:nvSpPr>
        <p:spPr>
          <a:xfrm>
            <a:off x="4053826" y="3361581"/>
            <a:ext cx="520800" cy="433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21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00000"/>
                </a:solidFill>
                <a:latin typeface="Roboto Slab"/>
                <a:ea typeface="Roboto Slab"/>
                <a:cs typeface="Roboto Slab"/>
                <a:sym typeface="Roboto Slab"/>
              </a:rPr>
              <a:t>MCP</a:t>
            </a:r>
            <a:br>
              <a:rPr b="1" i="0" lang="en-US" sz="1200" u="none" cap="none" strike="noStrike">
                <a:solidFill>
                  <a:srgbClr val="000000"/>
                </a:solidFill>
                <a:latin typeface="Roboto Slab"/>
                <a:ea typeface="Roboto Slab"/>
                <a:cs typeface="Roboto Slab"/>
                <a:sym typeface="Roboto Slab"/>
              </a:rPr>
            </a:br>
            <a:r>
              <a:rPr b="1" i="0" lang="en-US" sz="1200" u="none" cap="none" strike="noStrike">
                <a:solidFill>
                  <a:srgbClr val="000000"/>
                </a:solidFill>
                <a:latin typeface="Roboto Slab"/>
                <a:ea typeface="Roboto Slab"/>
                <a:cs typeface="Roboto Slab"/>
                <a:sym typeface="Roboto Slab"/>
              </a:rPr>
              <a:t>Server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8"/>
          <p:cNvSpPr/>
          <p:nvPr/>
        </p:nvSpPr>
        <p:spPr>
          <a:xfrm>
            <a:off x="3962403" y="4848225"/>
            <a:ext cx="703800" cy="495300"/>
          </a:xfrm>
          <a:prstGeom prst="rect">
            <a:avLst/>
          </a:prstGeom>
          <a:solidFill>
            <a:srgbClr val="A6A6A6"/>
          </a:solidFill>
          <a:ln cap="flat" cmpd="sng" w="12700">
            <a:solidFill>
              <a:srgbClr val="000000">
                <a:alpha val="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" name="Google Shape;179;p8"/>
          <p:cNvSpPr/>
          <p:nvPr/>
        </p:nvSpPr>
        <p:spPr>
          <a:xfrm>
            <a:off x="4105275" y="4980831"/>
            <a:ext cx="417900" cy="216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21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00000"/>
                </a:solidFill>
                <a:latin typeface="Roboto Slab"/>
                <a:ea typeface="Roboto Slab"/>
                <a:cs typeface="Roboto Slab"/>
                <a:sym typeface="Roboto Slab"/>
              </a:rPr>
              <a:t>API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8"/>
          <p:cNvSpPr/>
          <p:nvPr/>
        </p:nvSpPr>
        <p:spPr>
          <a:xfrm>
            <a:off x="1692109" y="3333006"/>
            <a:ext cx="481800" cy="433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21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00000"/>
                </a:solidFill>
                <a:latin typeface="Roboto Slab"/>
                <a:ea typeface="Roboto Slab"/>
                <a:cs typeface="Roboto Slab"/>
                <a:sym typeface="Roboto Slab"/>
              </a:rPr>
              <a:t>MCP</a:t>
            </a:r>
            <a:br>
              <a:rPr b="1" i="0" lang="en-US" sz="1200" u="none" cap="none" strike="noStrike">
                <a:solidFill>
                  <a:srgbClr val="000000"/>
                </a:solidFill>
                <a:latin typeface="Roboto Slab"/>
                <a:ea typeface="Roboto Slab"/>
                <a:cs typeface="Roboto Slab"/>
                <a:sym typeface="Roboto Slab"/>
              </a:rPr>
            </a:br>
            <a:r>
              <a:rPr b="1" i="0" lang="en-US" sz="1200" u="none" cap="none" strike="noStrike">
                <a:solidFill>
                  <a:srgbClr val="000000"/>
                </a:solidFill>
                <a:latin typeface="Roboto Slab"/>
                <a:ea typeface="Roboto Slab"/>
                <a:cs typeface="Roboto Slab"/>
                <a:sym typeface="Roboto Slab"/>
              </a:rPr>
              <a:t>Client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8"/>
          <p:cNvSpPr/>
          <p:nvPr/>
        </p:nvSpPr>
        <p:spPr>
          <a:xfrm>
            <a:off x="2530309" y="3333006"/>
            <a:ext cx="481800" cy="433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21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00000"/>
                </a:solidFill>
                <a:latin typeface="Roboto Slab"/>
                <a:ea typeface="Roboto Slab"/>
                <a:cs typeface="Roboto Slab"/>
                <a:sym typeface="Roboto Slab"/>
              </a:rPr>
              <a:t>MCP</a:t>
            </a:r>
            <a:br>
              <a:rPr b="1" i="0" lang="en-US" sz="1200" u="none" cap="none" strike="noStrike">
                <a:solidFill>
                  <a:srgbClr val="000000"/>
                </a:solidFill>
                <a:latin typeface="Roboto Slab"/>
                <a:ea typeface="Roboto Slab"/>
                <a:cs typeface="Roboto Slab"/>
                <a:sym typeface="Roboto Slab"/>
              </a:rPr>
            </a:br>
            <a:r>
              <a:rPr b="1" i="0" lang="en-US" sz="1200" u="none" cap="none" strike="noStrike">
                <a:solidFill>
                  <a:srgbClr val="000000"/>
                </a:solidFill>
                <a:latin typeface="Roboto Slab"/>
                <a:ea typeface="Roboto Slab"/>
                <a:cs typeface="Roboto Slab"/>
                <a:sym typeface="Roboto Slab"/>
              </a:rPr>
              <a:t>Client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82" name="Google Shape;182;p8"/>
          <p:cNvCxnSpPr/>
          <p:nvPr/>
        </p:nvCxnSpPr>
        <p:spPr>
          <a:xfrm rot="5400000">
            <a:off x="816859" y="4271306"/>
            <a:ext cx="639300" cy="0"/>
          </a:xfrm>
          <a:prstGeom prst="straightConnector1">
            <a:avLst/>
          </a:prstGeom>
          <a:noFill/>
          <a:ln cap="flat" cmpd="sng" w="25400">
            <a:solidFill>
              <a:srgbClr val="FFFFFF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83" name="Google Shape;183;p8"/>
          <p:cNvSpPr/>
          <p:nvPr/>
        </p:nvSpPr>
        <p:spPr>
          <a:xfrm>
            <a:off x="1041259" y="3856405"/>
            <a:ext cx="190500" cy="190500"/>
          </a:xfrm>
          <a:prstGeom prst="triangle">
            <a:avLst>
              <a:gd fmla="val 50000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4" name="Google Shape;184;p8"/>
          <p:cNvSpPr/>
          <p:nvPr/>
        </p:nvSpPr>
        <p:spPr>
          <a:xfrm rot="10800000">
            <a:off x="1041259" y="4495800"/>
            <a:ext cx="190500" cy="190500"/>
          </a:xfrm>
          <a:prstGeom prst="triangle">
            <a:avLst>
              <a:gd fmla="val 50000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85" name="Google Shape;185;p8"/>
          <p:cNvCxnSpPr/>
          <p:nvPr/>
        </p:nvCxnSpPr>
        <p:spPr>
          <a:xfrm rot="5400000">
            <a:off x="1671076" y="4234426"/>
            <a:ext cx="639300" cy="0"/>
          </a:xfrm>
          <a:prstGeom prst="straightConnector1">
            <a:avLst/>
          </a:prstGeom>
          <a:noFill/>
          <a:ln cap="flat" cmpd="sng" w="25400">
            <a:solidFill>
              <a:srgbClr val="FFFFFF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86" name="Google Shape;186;p8"/>
          <p:cNvSpPr/>
          <p:nvPr/>
        </p:nvSpPr>
        <p:spPr>
          <a:xfrm>
            <a:off x="1895475" y="3819525"/>
            <a:ext cx="190500" cy="190500"/>
          </a:xfrm>
          <a:prstGeom prst="triangle">
            <a:avLst>
              <a:gd fmla="val 50000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7" name="Google Shape;187;p8"/>
          <p:cNvSpPr/>
          <p:nvPr/>
        </p:nvSpPr>
        <p:spPr>
          <a:xfrm rot="10800000">
            <a:off x="1895475" y="4458920"/>
            <a:ext cx="190500" cy="190500"/>
          </a:xfrm>
          <a:prstGeom prst="triangle">
            <a:avLst>
              <a:gd fmla="val 50000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88" name="Google Shape;188;p8"/>
          <p:cNvCxnSpPr/>
          <p:nvPr/>
        </p:nvCxnSpPr>
        <p:spPr>
          <a:xfrm>
            <a:off x="3207988" y="3538488"/>
            <a:ext cx="754500" cy="0"/>
          </a:xfrm>
          <a:prstGeom prst="straightConnector1">
            <a:avLst/>
          </a:prstGeom>
          <a:noFill/>
          <a:ln cap="flat" cmpd="sng" w="25400">
            <a:solidFill>
              <a:srgbClr val="FFFFFF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89" name="Google Shape;189;p8"/>
          <p:cNvSpPr/>
          <p:nvPr/>
        </p:nvSpPr>
        <p:spPr>
          <a:xfrm rot="-5400000">
            <a:off x="3112738" y="3443238"/>
            <a:ext cx="190500" cy="190500"/>
          </a:xfrm>
          <a:prstGeom prst="triangle">
            <a:avLst>
              <a:gd fmla="val 50000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0" name="Google Shape;190;p8"/>
          <p:cNvSpPr/>
          <p:nvPr/>
        </p:nvSpPr>
        <p:spPr>
          <a:xfrm rot="5400000">
            <a:off x="3867150" y="3443238"/>
            <a:ext cx="190500" cy="190500"/>
          </a:xfrm>
          <a:prstGeom prst="triangle">
            <a:avLst>
              <a:gd fmla="val 50000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91" name="Google Shape;191;p8"/>
          <p:cNvCxnSpPr/>
          <p:nvPr/>
        </p:nvCxnSpPr>
        <p:spPr>
          <a:xfrm>
            <a:off x="2371725" y="5105400"/>
            <a:ext cx="1590600" cy="0"/>
          </a:xfrm>
          <a:prstGeom prst="straightConnector1">
            <a:avLst/>
          </a:prstGeom>
          <a:noFill/>
          <a:ln cap="flat" cmpd="sng" w="25400">
            <a:solidFill>
              <a:srgbClr val="FFFFFF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92" name="Google Shape;192;p8"/>
          <p:cNvSpPr/>
          <p:nvPr/>
        </p:nvSpPr>
        <p:spPr>
          <a:xfrm rot="-5400000">
            <a:off x="2276475" y="5010150"/>
            <a:ext cx="190500" cy="190500"/>
          </a:xfrm>
          <a:prstGeom prst="triangle">
            <a:avLst>
              <a:gd fmla="val 50000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3" name="Google Shape;193;p8"/>
          <p:cNvSpPr/>
          <p:nvPr/>
        </p:nvSpPr>
        <p:spPr>
          <a:xfrm rot="5400000">
            <a:off x="3867150" y="5010150"/>
            <a:ext cx="190500" cy="190500"/>
          </a:xfrm>
          <a:prstGeom prst="triangle">
            <a:avLst>
              <a:gd fmla="val 50000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4" name="Google Shape;194;p8"/>
          <p:cNvSpPr txBox="1"/>
          <p:nvPr/>
        </p:nvSpPr>
        <p:spPr>
          <a:xfrm>
            <a:off x="762000" y="6293400"/>
            <a:ext cx="2196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solidFill>
                  <a:srgbClr val="FF7800"/>
                </a:solidFill>
              </a:rPr>
              <a:t>1. List Tools 2. Call Tool</a:t>
            </a:r>
            <a:endParaRPr b="1">
              <a:solidFill>
                <a:srgbClr val="FF7800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9"/>
          <p:cNvSpPr/>
          <p:nvPr/>
        </p:nvSpPr>
        <p:spPr>
          <a:xfrm>
            <a:off x="800100" y="586160"/>
            <a:ext cx="10000500" cy="47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375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300" u="none" cap="none" strike="noStrike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rPr>
              <a:t>MCP Servers most often run on your box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9"/>
          <p:cNvSpPr/>
          <p:nvPr/>
        </p:nvSpPr>
        <p:spPr>
          <a:xfrm>
            <a:off x="800100" y="1100361"/>
            <a:ext cx="10000500" cy="27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215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30" u="none" cap="none" strike="noStrike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rPr>
              <a:t>Download open-source MCP Servers, run them locally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p9"/>
          <p:cNvSpPr/>
          <p:nvPr/>
        </p:nvSpPr>
        <p:spPr>
          <a:xfrm>
            <a:off x="390528" y="1676400"/>
            <a:ext cx="3163500" cy="4482900"/>
          </a:xfrm>
          <a:prstGeom prst="rect">
            <a:avLst/>
          </a:prstGeom>
          <a:solidFill>
            <a:srgbClr val="0C0C0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3" name="Google Shape;203;p9"/>
          <p:cNvSpPr/>
          <p:nvPr/>
        </p:nvSpPr>
        <p:spPr>
          <a:xfrm>
            <a:off x="3705222" y="1676400"/>
            <a:ext cx="1696500" cy="2484300"/>
          </a:xfrm>
          <a:prstGeom prst="rect">
            <a:avLst/>
          </a:prstGeom>
          <a:solidFill>
            <a:srgbClr val="0C0C0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4" name="Google Shape;204;p9"/>
          <p:cNvSpPr/>
          <p:nvPr/>
        </p:nvSpPr>
        <p:spPr>
          <a:xfrm>
            <a:off x="3705222" y="4267200"/>
            <a:ext cx="1696500" cy="1892100"/>
          </a:xfrm>
          <a:prstGeom prst="rect">
            <a:avLst/>
          </a:prstGeom>
          <a:solidFill>
            <a:srgbClr val="0C0C0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5" name="Google Shape;205;p9"/>
          <p:cNvSpPr/>
          <p:nvPr/>
        </p:nvSpPr>
        <p:spPr>
          <a:xfrm>
            <a:off x="581025" y="1900684"/>
            <a:ext cx="2083500" cy="23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219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75" u="none" cap="none" strike="noStrike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rPr>
              <a:t>Your computer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" name="Google Shape;206;p9"/>
          <p:cNvSpPr/>
          <p:nvPr/>
        </p:nvSpPr>
        <p:spPr>
          <a:xfrm>
            <a:off x="885825" y="2557909"/>
            <a:ext cx="2083500" cy="23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219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75" u="none" cap="none" strike="noStrike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rPr>
              <a:t>Host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207;p9"/>
          <p:cNvSpPr/>
          <p:nvPr/>
        </p:nvSpPr>
        <p:spPr>
          <a:xfrm>
            <a:off x="3952875" y="1900684"/>
            <a:ext cx="1293000" cy="23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219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75" u="none" cap="none" strike="noStrike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rPr>
              <a:t>Remote server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p9"/>
          <p:cNvSpPr/>
          <p:nvPr/>
        </p:nvSpPr>
        <p:spPr>
          <a:xfrm>
            <a:off x="3886200" y="4386709"/>
            <a:ext cx="1293000" cy="23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219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75" u="none" cap="none" strike="noStrike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rPr>
              <a:t>Remote server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" name="Google Shape;209;p9"/>
          <p:cNvSpPr/>
          <p:nvPr/>
        </p:nvSpPr>
        <p:spPr>
          <a:xfrm>
            <a:off x="552445" y="2428875"/>
            <a:ext cx="2874000" cy="1731900"/>
          </a:xfrm>
          <a:prstGeom prst="rect">
            <a:avLst/>
          </a:prstGeom>
          <a:solidFill>
            <a:srgbClr val="00BFFF">
              <a:alpha val="34900"/>
            </a:srgbClr>
          </a:solidFill>
          <a:ln cap="flat" cmpd="sng" w="25400">
            <a:solidFill>
              <a:srgbClr val="00BFF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0" name="Google Shape;210;p9"/>
          <p:cNvSpPr/>
          <p:nvPr/>
        </p:nvSpPr>
        <p:spPr>
          <a:xfrm>
            <a:off x="800097" y="3133725"/>
            <a:ext cx="741600" cy="783600"/>
          </a:xfrm>
          <a:prstGeom prst="rect">
            <a:avLst/>
          </a:prstGeom>
          <a:solidFill>
            <a:srgbClr val="FFD700"/>
          </a:solidFill>
          <a:ln cap="flat" cmpd="sng" w="25400">
            <a:solidFill>
              <a:srgbClr val="000000">
                <a:alpha val="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1" name="Google Shape;211;p9"/>
          <p:cNvSpPr/>
          <p:nvPr/>
        </p:nvSpPr>
        <p:spPr>
          <a:xfrm>
            <a:off x="762000" y="4591050"/>
            <a:ext cx="741600" cy="783600"/>
          </a:xfrm>
          <a:prstGeom prst="rect">
            <a:avLst/>
          </a:prstGeom>
          <a:solidFill>
            <a:srgbClr val="FF7800"/>
          </a:solidFill>
          <a:ln cap="flat" cmpd="sng" w="25400">
            <a:solidFill>
              <a:srgbClr val="000000">
                <a:alpha val="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2" name="Google Shape;212;p9"/>
          <p:cNvSpPr/>
          <p:nvPr/>
        </p:nvSpPr>
        <p:spPr>
          <a:xfrm>
            <a:off x="1619250" y="4591050"/>
            <a:ext cx="741600" cy="783600"/>
          </a:xfrm>
          <a:prstGeom prst="rect">
            <a:avLst/>
          </a:prstGeom>
          <a:solidFill>
            <a:srgbClr val="FF7800"/>
          </a:solidFill>
          <a:ln cap="flat" cmpd="sng" w="25400">
            <a:solidFill>
              <a:srgbClr val="000000">
                <a:alpha val="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3" name="Google Shape;213;p9"/>
          <p:cNvSpPr/>
          <p:nvPr/>
        </p:nvSpPr>
        <p:spPr>
          <a:xfrm>
            <a:off x="3962403" y="3162300"/>
            <a:ext cx="741600" cy="783600"/>
          </a:xfrm>
          <a:prstGeom prst="rect">
            <a:avLst/>
          </a:prstGeom>
          <a:solidFill>
            <a:srgbClr val="FF7800"/>
          </a:solidFill>
          <a:ln cap="flat" cmpd="sng" w="25400">
            <a:solidFill>
              <a:srgbClr val="000000">
                <a:alpha val="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4" name="Google Shape;214;p9"/>
          <p:cNvSpPr/>
          <p:nvPr/>
        </p:nvSpPr>
        <p:spPr>
          <a:xfrm>
            <a:off x="1619250" y="3133725"/>
            <a:ext cx="741600" cy="783600"/>
          </a:xfrm>
          <a:prstGeom prst="rect">
            <a:avLst/>
          </a:prstGeom>
          <a:solidFill>
            <a:srgbClr val="FFD700"/>
          </a:solidFill>
          <a:ln cap="flat" cmpd="sng" w="25400">
            <a:solidFill>
              <a:srgbClr val="000000">
                <a:alpha val="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5" name="Google Shape;215;p9"/>
          <p:cNvSpPr/>
          <p:nvPr/>
        </p:nvSpPr>
        <p:spPr>
          <a:xfrm>
            <a:off x="2457445" y="3133725"/>
            <a:ext cx="741600" cy="783600"/>
          </a:xfrm>
          <a:prstGeom prst="rect">
            <a:avLst/>
          </a:prstGeom>
          <a:solidFill>
            <a:srgbClr val="FFD700"/>
          </a:solidFill>
          <a:ln cap="flat" cmpd="sng" w="25400">
            <a:solidFill>
              <a:srgbClr val="000000">
                <a:alpha val="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6" name="Google Shape;216;p9"/>
          <p:cNvSpPr/>
          <p:nvPr/>
        </p:nvSpPr>
        <p:spPr>
          <a:xfrm>
            <a:off x="872959" y="3333006"/>
            <a:ext cx="481800" cy="433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21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00000"/>
                </a:solidFill>
                <a:latin typeface="Roboto Slab"/>
                <a:ea typeface="Roboto Slab"/>
                <a:cs typeface="Roboto Slab"/>
                <a:sym typeface="Roboto Slab"/>
              </a:rPr>
              <a:t>MCP</a:t>
            </a:r>
            <a:br>
              <a:rPr b="1" i="0" lang="en-US" sz="1200" u="none" cap="none" strike="noStrike">
                <a:solidFill>
                  <a:srgbClr val="000000"/>
                </a:solidFill>
                <a:latin typeface="Roboto Slab"/>
                <a:ea typeface="Roboto Slab"/>
                <a:cs typeface="Roboto Slab"/>
                <a:sym typeface="Roboto Slab"/>
              </a:rPr>
            </a:br>
            <a:r>
              <a:rPr b="1" i="0" lang="en-US" sz="1200" u="none" cap="none" strike="noStrike">
                <a:solidFill>
                  <a:srgbClr val="000000"/>
                </a:solidFill>
                <a:latin typeface="Roboto Slab"/>
                <a:ea typeface="Roboto Slab"/>
                <a:cs typeface="Roboto Slab"/>
                <a:sym typeface="Roboto Slab"/>
              </a:rPr>
              <a:t>Client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" name="Google Shape;217;p9"/>
          <p:cNvSpPr/>
          <p:nvPr/>
        </p:nvSpPr>
        <p:spPr>
          <a:xfrm>
            <a:off x="815326" y="4790331"/>
            <a:ext cx="520800" cy="433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21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00000"/>
                </a:solidFill>
                <a:latin typeface="Roboto Slab"/>
                <a:ea typeface="Roboto Slab"/>
                <a:cs typeface="Roboto Slab"/>
                <a:sym typeface="Roboto Slab"/>
              </a:rPr>
              <a:t>MCP</a:t>
            </a:r>
            <a:br>
              <a:rPr b="1" i="0" lang="en-US" sz="1200" u="none" cap="none" strike="noStrike">
                <a:solidFill>
                  <a:srgbClr val="000000"/>
                </a:solidFill>
                <a:latin typeface="Roboto Slab"/>
                <a:ea typeface="Roboto Slab"/>
                <a:cs typeface="Roboto Slab"/>
                <a:sym typeface="Roboto Slab"/>
              </a:rPr>
            </a:br>
            <a:r>
              <a:rPr b="1" i="0" lang="en-US" sz="1200" u="none" cap="none" strike="noStrike">
                <a:solidFill>
                  <a:srgbClr val="000000"/>
                </a:solidFill>
                <a:latin typeface="Roboto Slab"/>
                <a:ea typeface="Roboto Slab"/>
                <a:cs typeface="Roboto Slab"/>
                <a:sym typeface="Roboto Slab"/>
              </a:rPr>
              <a:t>Server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" name="Google Shape;218;p9"/>
          <p:cNvSpPr/>
          <p:nvPr/>
        </p:nvSpPr>
        <p:spPr>
          <a:xfrm>
            <a:off x="1672576" y="4790331"/>
            <a:ext cx="520800" cy="433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21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00000"/>
                </a:solidFill>
                <a:latin typeface="Roboto Slab"/>
                <a:ea typeface="Roboto Slab"/>
                <a:cs typeface="Roboto Slab"/>
                <a:sym typeface="Roboto Slab"/>
              </a:rPr>
              <a:t>MCP</a:t>
            </a:r>
            <a:br>
              <a:rPr b="1" i="0" lang="en-US" sz="1200" u="none" cap="none" strike="noStrike">
                <a:solidFill>
                  <a:srgbClr val="000000"/>
                </a:solidFill>
                <a:latin typeface="Roboto Slab"/>
                <a:ea typeface="Roboto Slab"/>
                <a:cs typeface="Roboto Slab"/>
                <a:sym typeface="Roboto Slab"/>
              </a:rPr>
            </a:br>
            <a:r>
              <a:rPr b="1" i="0" lang="en-US" sz="1200" u="none" cap="none" strike="noStrike">
                <a:solidFill>
                  <a:srgbClr val="000000"/>
                </a:solidFill>
                <a:latin typeface="Roboto Slab"/>
                <a:ea typeface="Roboto Slab"/>
                <a:cs typeface="Roboto Slab"/>
                <a:sym typeface="Roboto Slab"/>
              </a:rPr>
              <a:t>Server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" name="Google Shape;219;p9"/>
          <p:cNvSpPr/>
          <p:nvPr/>
        </p:nvSpPr>
        <p:spPr>
          <a:xfrm>
            <a:off x="4053826" y="3361581"/>
            <a:ext cx="520800" cy="433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21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00000"/>
                </a:solidFill>
                <a:latin typeface="Roboto Slab"/>
                <a:ea typeface="Roboto Slab"/>
                <a:cs typeface="Roboto Slab"/>
                <a:sym typeface="Roboto Slab"/>
              </a:rPr>
              <a:t>MCP</a:t>
            </a:r>
            <a:br>
              <a:rPr b="1" i="0" lang="en-US" sz="1200" u="none" cap="none" strike="noStrike">
                <a:solidFill>
                  <a:srgbClr val="000000"/>
                </a:solidFill>
                <a:latin typeface="Roboto Slab"/>
                <a:ea typeface="Roboto Slab"/>
                <a:cs typeface="Roboto Slab"/>
                <a:sym typeface="Roboto Slab"/>
              </a:rPr>
            </a:br>
            <a:r>
              <a:rPr b="1" i="0" lang="en-US" sz="1200" u="none" cap="none" strike="noStrike">
                <a:solidFill>
                  <a:srgbClr val="000000"/>
                </a:solidFill>
                <a:latin typeface="Roboto Slab"/>
                <a:ea typeface="Roboto Slab"/>
                <a:cs typeface="Roboto Slab"/>
                <a:sym typeface="Roboto Slab"/>
              </a:rPr>
              <a:t>Server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" name="Google Shape;220;p9"/>
          <p:cNvSpPr/>
          <p:nvPr/>
        </p:nvSpPr>
        <p:spPr>
          <a:xfrm>
            <a:off x="3962403" y="4848225"/>
            <a:ext cx="703800" cy="495300"/>
          </a:xfrm>
          <a:prstGeom prst="rect">
            <a:avLst/>
          </a:prstGeom>
          <a:solidFill>
            <a:srgbClr val="A6A6A6"/>
          </a:solidFill>
          <a:ln cap="flat" cmpd="sng" w="12700">
            <a:solidFill>
              <a:srgbClr val="000000">
                <a:alpha val="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1" name="Google Shape;221;p9"/>
          <p:cNvSpPr/>
          <p:nvPr/>
        </p:nvSpPr>
        <p:spPr>
          <a:xfrm>
            <a:off x="4105275" y="4980831"/>
            <a:ext cx="417900" cy="216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21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00000"/>
                </a:solidFill>
                <a:latin typeface="Roboto Slab"/>
                <a:ea typeface="Roboto Slab"/>
                <a:cs typeface="Roboto Slab"/>
                <a:sym typeface="Roboto Slab"/>
              </a:rPr>
              <a:t>API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" name="Google Shape;222;p9"/>
          <p:cNvSpPr/>
          <p:nvPr/>
        </p:nvSpPr>
        <p:spPr>
          <a:xfrm>
            <a:off x="1692109" y="3333006"/>
            <a:ext cx="481800" cy="433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21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00000"/>
                </a:solidFill>
                <a:latin typeface="Roboto Slab"/>
                <a:ea typeface="Roboto Slab"/>
                <a:cs typeface="Roboto Slab"/>
                <a:sym typeface="Roboto Slab"/>
              </a:rPr>
              <a:t>MCP</a:t>
            </a:r>
            <a:br>
              <a:rPr b="1" i="0" lang="en-US" sz="1200" u="none" cap="none" strike="noStrike">
                <a:solidFill>
                  <a:srgbClr val="000000"/>
                </a:solidFill>
                <a:latin typeface="Roboto Slab"/>
                <a:ea typeface="Roboto Slab"/>
                <a:cs typeface="Roboto Slab"/>
                <a:sym typeface="Roboto Slab"/>
              </a:rPr>
            </a:br>
            <a:r>
              <a:rPr b="1" i="0" lang="en-US" sz="1200" u="none" cap="none" strike="noStrike">
                <a:solidFill>
                  <a:srgbClr val="000000"/>
                </a:solidFill>
                <a:latin typeface="Roboto Slab"/>
                <a:ea typeface="Roboto Slab"/>
                <a:cs typeface="Roboto Slab"/>
                <a:sym typeface="Roboto Slab"/>
              </a:rPr>
              <a:t>Client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" name="Google Shape;223;p9"/>
          <p:cNvSpPr/>
          <p:nvPr/>
        </p:nvSpPr>
        <p:spPr>
          <a:xfrm>
            <a:off x="2530309" y="3333006"/>
            <a:ext cx="481800" cy="433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21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00000"/>
                </a:solidFill>
                <a:latin typeface="Roboto Slab"/>
                <a:ea typeface="Roboto Slab"/>
                <a:cs typeface="Roboto Slab"/>
                <a:sym typeface="Roboto Slab"/>
              </a:rPr>
              <a:t>MCP</a:t>
            </a:r>
            <a:br>
              <a:rPr b="1" i="0" lang="en-US" sz="1200" u="none" cap="none" strike="noStrike">
                <a:solidFill>
                  <a:srgbClr val="000000"/>
                </a:solidFill>
                <a:latin typeface="Roboto Slab"/>
                <a:ea typeface="Roboto Slab"/>
                <a:cs typeface="Roboto Slab"/>
                <a:sym typeface="Roboto Slab"/>
              </a:rPr>
            </a:br>
            <a:r>
              <a:rPr b="1" i="0" lang="en-US" sz="1200" u="none" cap="none" strike="noStrike">
                <a:solidFill>
                  <a:srgbClr val="000000"/>
                </a:solidFill>
                <a:latin typeface="Roboto Slab"/>
                <a:ea typeface="Roboto Slab"/>
                <a:cs typeface="Roboto Slab"/>
                <a:sym typeface="Roboto Slab"/>
              </a:rPr>
              <a:t>Client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24" name="Google Shape;224;p9"/>
          <p:cNvCxnSpPr/>
          <p:nvPr/>
        </p:nvCxnSpPr>
        <p:spPr>
          <a:xfrm rot="5400000">
            <a:off x="816859" y="4271306"/>
            <a:ext cx="639300" cy="0"/>
          </a:xfrm>
          <a:prstGeom prst="straightConnector1">
            <a:avLst/>
          </a:prstGeom>
          <a:noFill/>
          <a:ln cap="flat" cmpd="sng" w="25400">
            <a:solidFill>
              <a:srgbClr val="FFFFFF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225" name="Google Shape;225;p9"/>
          <p:cNvSpPr/>
          <p:nvPr/>
        </p:nvSpPr>
        <p:spPr>
          <a:xfrm>
            <a:off x="1041259" y="3856405"/>
            <a:ext cx="190500" cy="190500"/>
          </a:xfrm>
          <a:prstGeom prst="triangle">
            <a:avLst>
              <a:gd fmla="val 50000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6" name="Google Shape;226;p9"/>
          <p:cNvSpPr/>
          <p:nvPr/>
        </p:nvSpPr>
        <p:spPr>
          <a:xfrm rot="10800000">
            <a:off x="1041259" y="4495800"/>
            <a:ext cx="190500" cy="190500"/>
          </a:xfrm>
          <a:prstGeom prst="triangle">
            <a:avLst>
              <a:gd fmla="val 50000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227" name="Google Shape;227;p9"/>
          <p:cNvCxnSpPr/>
          <p:nvPr/>
        </p:nvCxnSpPr>
        <p:spPr>
          <a:xfrm rot="5400000">
            <a:off x="1671076" y="4234426"/>
            <a:ext cx="639300" cy="0"/>
          </a:xfrm>
          <a:prstGeom prst="straightConnector1">
            <a:avLst/>
          </a:prstGeom>
          <a:noFill/>
          <a:ln cap="flat" cmpd="sng" w="25400">
            <a:solidFill>
              <a:srgbClr val="FFFFFF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228" name="Google Shape;228;p9"/>
          <p:cNvSpPr/>
          <p:nvPr/>
        </p:nvSpPr>
        <p:spPr>
          <a:xfrm>
            <a:off x="1895475" y="3819525"/>
            <a:ext cx="190500" cy="190500"/>
          </a:xfrm>
          <a:prstGeom prst="triangle">
            <a:avLst>
              <a:gd fmla="val 50000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9" name="Google Shape;229;p9"/>
          <p:cNvSpPr/>
          <p:nvPr/>
        </p:nvSpPr>
        <p:spPr>
          <a:xfrm rot="10800000">
            <a:off x="1895475" y="4458920"/>
            <a:ext cx="190500" cy="190500"/>
          </a:xfrm>
          <a:prstGeom prst="triangle">
            <a:avLst>
              <a:gd fmla="val 50000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230" name="Google Shape;230;p9"/>
          <p:cNvCxnSpPr/>
          <p:nvPr/>
        </p:nvCxnSpPr>
        <p:spPr>
          <a:xfrm>
            <a:off x="3207988" y="3538488"/>
            <a:ext cx="754500" cy="0"/>
          </a:xfrm>
          <a:prstGeom prst="straightConnector1">
            <a:avLst/>
          </a:prstGeom>
          <a:noFill/>
          <a:ln cap="flat" cmpd="sng" w="25400">
            <a:solidFill>
              <a:srgbClr val="FFFFFF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231" name="Google Shape;231;p9"/>
          <p:cNvSpPr/>
          <p:nvPr/>
        </p:nvSpPr>
        <p:spPr>
          <a:xfrm rot="-5400000">
            <a:off x="3112738" y="3443238"/>
            <a:ext cx="190500" cy="190500"/>
          </a:xfrm>
          <a:prstGeom prst="triangle">
            <a:avLst>
              <a:gd fmla="val 50000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2" name="Google Shape;232;p9"/>
          <p:cNvSpPr/>
          <p:nvPr/>
        </p:nvSpPr>
        <p:spPr>
          <a:xfrm rot="5400000">
            <a:off x="3867150" y="3443238"/>
            <a:ext cx="190500" cy="190500"/>
          </a:xfrm>
          <a:prstGeom prst="triangle">
            <a:avLst>
              <a:gd fmla="val 50000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233" name="Google Shape;233;p9"/>
          <p:cNvCxnSpPr/>
          <p:nvPr/>
        </p:nvCxnSpPr>
        <p:spPr>
          <a:xfrm>
            <a:off x="2371725" y="5105400"/>
            <a:ext cx="1590600" cy="0"/>
          </a:xfrm>
          <a:prstGeom prst="straightConnector1">
            <a:avLst/>
          </a:prstGeom>
          <a:noFill/>
          <a:ln cap="flat" cmpd="sng" w="25400">
            <a:solidFill>
              <a:srgbClr val="FFFFFF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234" name="Google Shape;234;p9"/>
          <p:cNvSpPr/>
          <p:nvPr/>
        </p:nvSpPr>
        <p:spPr>
          <a:xfrm rot="-5400000">
            <a:off x="2276475" y="5010150"/>
            <a:ext cx="190500" cy="190500"/>
          </a:xfrm>
          <a:prstGeom prst="triangle">
            <a:avLst>
              <a:gd fmla="val 50000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5" name="Google Shape;235;p9"/>
          <p:cNvSpPr/>
          <p:nvPr/>
        </p:nvSpPr>
        <p:spPr>
          <a:xfrm rot="5400000">
            <a:off x="3867150" y="5010150"/>
            <a:ext cx="190500" cy="190500"/>
          </a:xfrm>
          <a:prstGeom prst="triangle">
            <a:avLst>
              <a:gd fmla="val 50000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6" name="Google Shape;236;p9"/>
          <p:cNvSpPr txBox="1"/>
          <p:nvPr/>
        </p:nvSpPr>
        <p:spPr>
          <a:xfrm>
            <a:off x="762000" y="6293400"/>
            <a:ext cx="2196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solidFill>
                  <a:srgbClr val="FF7800"/>
                </a:solidFill>
              </a:rPr>
              <a:t>1. List Tools 2. Call Tool</a:t>
            </a:r>
            <a:endParaRPr b="1">
              <a:solidFill>
                <a:srgbClr val="FF7800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p10"/>
          <p:cNvSpPr/>
          <p:nvPr/>
        </p:nvSpPr>
        <p:spPr>
          <a:xfrm>
            <a:off x="800100" y="586160"/>
            <a:ext cx="10000500" cy="47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375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300" u="none" cap="none" strike="noStrike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rPr>
              <a:t>Two "Transport" mechanisms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3" name="Google Shape;243;p10"/>
          <p:cNvSpPr/>
          <p:nvPr/>
        </p:nvSpPr>
        <p:spPr>
          <a:xfrm>
            <a:off x="800100" y="1109067"/>
            <a:ext cx="10000500" cy="24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222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rPr>
              <a:t>Stdio spawns a process and communicates via standard input/output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4" name="Google Shape;244;p10"/>
          <p:cNvSpPr/>
          <p:nvPr/>
        </p:nvSpPr>
        <p:spPr>
          <a:xfrm>
            <a:off x="390528" y="1676400"/>
            <a:ext cx="3163500" cy="4482900"/>
          </a:xfrm>
          <a:prstGeom prst="rect">
            <a:avLst/>
          </a:prstGeom>
          <a:solidFill>
            <a:srgbClr val="0C0C0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5" name="Google Shape;245;p10"/>
          <p:cNvSpPr/>
          <p:nvPr/>
        </p:nvSpPr>
        <p:spPr>
          <a:xfrm>
            <a:off x="3705222" y="1676400"/>
            <a:ext cx="1696500" cy="2484300"/>
          </a:xfrm>
          <a:prstGeom prst="rect">
            <a:avLst/>
          </a:prstGeom>
          <a:solidFill>
            <a:srgbClr val="0C0C0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6" name="Google Shape;246;p10"/>
          <p:cNvSpPr/>
          <p:nvPr/>
        </p:nvSpPr>
        <p:spPr>
          <a:xfrm>
            <a:off x="3705222" y="4267200"/>
            <a:ext cx="1696500" cy="1892100"/>
          </a:xfrm>
          <a:prstGeom prst="rect">
            <a:avLst/>
          </a:prstGeom>
          <a:solidFill>
            <a:srgbClr val="0C0C0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7" name="Google Shape;247;p10"/>
          <p:cNvSpPr/>
          <p:nvPr/>
        </p:nvSpPr>
        <p:spPr>
          <a:xfrm>
            <a:off x="581025" y="1900684"/>
            <a:ext cx="2083500" cy="23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219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75" u="none" cap="none" strike="noStrike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rPr>
              <a:t>Your computer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8" name="Google Shape;248;p10"/>
          <p:cNvSpPr/>
          <p:nvPr/>
        </p:nvSpPr>
        <p:spPr>
          <a:xfrm>
            <a:off x="885825" y="2557909"/>
            <a:ext cx="2083500" cy="23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219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75" u="none" cap="none" strike="noStrike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rPr>
              <a:t>Host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9" name="Google Shape;249;p10"/>
          <p:cNvSpPr/>
          <p:nvPr/>
        </p:nvSpPr>
        <p:spPr>
          <a:xfrm>
            <a:off x="3952875" y="1900684"/>
            <a:ext cx="1293000" cy="23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219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75" u="none" cap="none" strike="noStrike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rPr>
              <a:t>Remote server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0" name="Google Shape;250;p10"/>
          <p:cNvSpPr/>
          <p:nvPr/>
        </p:nvSpPr>
        <p:spPr>
          <a:xfrm>
            <a:off x="3886200" y="4386709"/>
            <a:ext cx="1293000" cy="23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219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75" u="none" cap="none" strike="noStrike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rPr>
              <a:t>Remote server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1" name="Google Shape;251;p10"/>
          <p:cNvSpPr/>
          <p:nvPr/>
        </p:nvSpPr>
        <p:spPr>
          <a:xfrm>
            <a:off x="552445" y="2428875"/>
            <a:ext cx="2874000" cy="1731900"/>
          </a:xfrm>
          <a:prstGeom prst="rect">
            <a:avLst/>
          </a:prstGeom>
          <a:solidFill>
            <a:srgbClr val="00BFFF">
              <a:alpha val="34900"/>
            </a:srgbClr>
          </a:solidFill>
          <a:ln cap="flat" cmpd="sng" w="25400">
            <a:solidFill>
              <a:srgbClr val="00BFF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2" name="Google Shape;252;p10"/>
          <p:cNvSpPr/>
          <p:nvPr/>
        </p:nvSpPr>
        <p:spPr>
          <a:xfrm>
            <a:off x="800097" y="3133725"/>
            <a:ext cx="741600" cy="783600"/>
          </a:xfrm>
          <a:prstGeom prst="rect">
            <a:avLst/>
          </a:prstGeom>
          <a:solidFill>
            <a:srgbClr val="FFD700"/>
          </a:solidFill>
          <a:ln cap="flat" cmpd="sng" w="25400">
            <a:solidFill>
              <a:srgbClr val="000000">
                <a:alpha val="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3" name="Google Shape;253;p10"/>
          <p:cNvSpPr/>
          <p:nvPr/>
        </p:nvSpPr>
        <p:spPr>
          <a:xfrm>
            <a:off x="762000" y="4591050"/>
            <a:ext cx="741600" cy="783600"/>
          </a:xfrm>
          <a:prstGeom prst="rect">
            <a:avLst/>
          </a:prstGeom>
          <a:solidFill>
            <a:srgbClr val="FF7800"/>
          </a:solidFill>
          <a:ln cap="flat" cmpd="sng" w="25400">
            <a:solidFill>
              <a:srgbClr val="000000">
                <a:alpha val="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4" name="Google Shape;254;p10"/>
          <p:cNvSpPr/>
          <p:nvPr/>
        </p:nvSpPr>
        <p:spPr>
          <a:xfrm>
            <a:off x="1619250" y="4591050"/>
            <a:ext cx="741600" cy="783600"/>
          </a:xfrm>
          <a:prstGeom prst="rect">
            <a:avLst/>
          </a:prstGeom>
          <a:solidFill>
            <a:srgbClr val="FF7800"/>
          </a:solidFill>
          <a:ln cap="flat" cmpd="sng" w="25400">
            <a:solidFill>
              <a:srgbClr val="000000">
                <a:alpha val="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5" name="Google Shape;255;p10"/>
          <p:cNvSpPr/>
          <p:nvPr/>
        </p:nvSpPr>
        <p:spPr>
          <a:xfrm>
            <a:off x="3962403" y="3162300"/>
            <a:ext cx="741600" cy="783600"/>
          </a:xfrm>
          <a:prstGeom prst="rect">
            <a:avLst/>
          </a:prstGeom>
          <a:solidFill>
            <a:srgbClr val="FF7800"/>
          </a:solidFill>
          <a:ln cap="flat" cmpd="sng" w="25400">
            <a:solidFill>
              <a:srgbClr val="000000">
                <a:alpha val="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6" name="Google Shape;256;p10"/>
          <p:cNvSpPr/>
          <p:nvPr/>
        </p:nvSpPr>
        <p:spPr>
          <a:xfrm>
            <a:off x="1619250" y="3133725"/>
            <a:ext cx="741600" cy="783600"/>
          </a:xfrm>
          <a:prstGeom prst="rect">
            <a:avLst/>
          </a:prstGeom>
          <a:solidFill>
            <a:srgbClr val="FFD700"/>
          </a:solidFill>
          <a:ln cap="flat" cmpd="sng" w="25400">
            <a:solidFill>
              <a:srgbClr val="000000">
                <a:alpha val="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7" name="Google Shape;257;p10"/>
          <p:cNvSpPr/>
          <p:nvPr/>
        </p:nvSpPr>
        <p:spPr>
          <a:xfrm>
            <a:off x="2457445" y="3133725"/>
            <a:ext cx="741600" cy="783600"/>
          </a:xfrm>
          <a:prstGeom prst="rect">
            <a:avLst/>
          </a:prstGeom>
          <a:solidFill>
            <a:srgbClr val="FFD700"/>
          </a:solidFill>
          <a:ln cap="flat" cmpd="sng" w="25400">
            <a:solidFill>
              <a:srgbClr val="000000">
                <a:alpha val="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8" name="Google Shape;258;p10"/>
          <p:cNvSpPr/>
          <p:nvPr/>
        </p:nvSpPr>
        <p:spPr>
          <a:xfrm>
            <a:off x="872959" y="3333006"/>
            <a:ext cx="481800" cy="433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21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00000"/>
                </a:solidFill>
                <a:latin typeface="Roboto Slab"/>
                <a:ea typeface="Roboto Slab"/>
                <a:cs typeface="Roboto Slab"/>
                <a:sym typeface="Roboto Slab"/>
              </a:rPr>
              <a:t>MCP</a:t>
            </a:r>
            <a:br>
              <a:rPr b="1" i="0" lang="en-US" sz="1200" u="none" cap="none" strike="noStrike">
                <a:solidFill>
                  <a:srgbClr val="000000"/>
                </a:solidFill>
                <a:latin typeface="Roboto Slab"/>
                <a:ea typeface="Roboto Slab"/>
                <a:cs typeface="Roboto Slab"/>
                <a:sym typeface="Roboto Slab"/>
              </a:rPr>
            </a:br>
            <a:r>
              <a:rPr b="1" i="0" lang="en-US" sz="1200" u="none" cap="none" strike="noStrike">
                <a:solidFill>
                  <a:srgbClr val="000000"/>
                </a:solidFill>
                <a:latin typeface="Roboto Slab"/>
                <a:ea typeface="Roboto Slab"/>
                <a:cs typeface="Roboto Slab"/>
                <a:sym typeface="Roboto Slab"/>
              </a:rPr>
              <a:t>Client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9" name="Google Shape;259;p10"/>
          <p:cNvSpPr/>
          <p:nvPr/>
        </p:nvSpPr>
        <p:spPr>
          <a:xfrm>
            <a:off x="815326" y="4790331"/>
            <a:ext cx="520800" cy="433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21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00000"/>
                </a:solidFill>
                <a:latin typeface="Roboto Slab"/>
                <a:ea typeface="Roboto Slab"/>
                <a:cs typeface="Roboto Slab"/>
                <a:sym typeface="Roboto Slab"/>
              </a:rPr>
              <a:t>MCP</a:t>
            </a:r>
            <a:br>
              <a:rPr b="1" i="0" lang="en-US" sz="1200" u="none" cap="none" strike="noStrike">
                <a:solidFill>
                  <a:srgbClr val="000000"/>
                </a:solidFill>
                <a:latin typeface="Roboto Slab"/>
                <a:ea typeface="Roboto Slab"/>
                <a:cs typeface="Roboto Slab"/>
                <a:sym typeface="Roboto Slab"/>
              </a:rPr>
            </a:br>
            <a:r>
              <a:rPr b="1" i="0" lang="en-US" sz="1200" u="none" cap="none" strike="noStrike">
                <a:solidFill>
                  <a:srgbClr val="000000"/>
                </a:solidFill>
                <a:latin typeface="Roboto Slab"/>
                <a:ea typeface="Roboto Slab"/>
                <a:cs typeface="Roboto Slab"/>
                <a:sym typeface="Roboto Slab"/>
              </a:rPr>
              <a:t>Server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0" name="Google Shape;260;p10"/>
          <p:cNvSpPr/>
          <p:nvPr/>
        </p:nvSpPr>
        <p:spPr>
          <a:xfrm>
            <a:off x="1672576" y="4790331"/>
            <a:ext cx="520800" cy="433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21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00000"/>
                </a:solidFill>
                <a:latin typeface="Roboto Slab"/>
                <a:ea typeface="Roboto Slab"/>
                <a:cs typeface="Roboto Slab"/>
                <a:sym typeface="Roboto Slab"/>
              </a:rPr>
              <a:t>MCP</a:t>
            </a:r>
            <a:br>
              <a:rPr b="1" i="0" lang="en-US" sz="1200" u="none" cap="none" strike="noStrike">
                <a:solidFill>
                  <a:srgbClr val="000000"/>
                </a:solidFill>
                <a:latin typeface="Roboto Slab"/>
                <a:ea typeface="Roboto Slab"/>
                <a:cs typeface="Roboto Slab"/>
                <a:sym typeface="Roboto Slab"/>
              </a:rPr>
            </a:br>
            <a:r>
              <a:rPr b="1" i="0" lang="en-US" sz="1200" u="none" cap="none" strike="noStrike">
                <a:solidFill>
                  <a:srgbClr val="000000"/>
                </a:solidFill>
                <a:latin typeface="Roboto Slab"/>
                <a:ea typeface="Roboto Slab"/>
                <a:cs typeface="Roboto Slab"/>
                <a:sym typeface="Roboto Slab"/>
              </a:rPr>
              <a:t>Server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1" name="Google Shape;261;p10"/>
          <p:cNvSpPr/>
          <p:nvPr/>
        </p:nvSpPr>
        <p:spPr>
          <a:xfrm>
            <a:off x="4053826" y="3361581"/>
            <a:ext cx="520800" cy="433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21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00000"/>
                </a:solidFill>
                <a:latin typeface="Roboto Slab"/>
                <a:ea typeface="Roboto Slab"/>
                <a:cs typeface="Roboto Slab"/>
                <a:sym typeface="Roboto Slab"/>
              </a:rPr>
              <a:t>MCP</a:t>
            </a:r>
            <a:br>
              <a:rPr b="1" i="0" lang="en-US" sz="1200" u="none" cap="none" strike="noStrike">
                <a:solidFill>
                  <a:srgbClr val="000000"/>
                </a:solidFill>
                <a:latin typeface="Roboto Slab"/>
                <a:ea typeface="Roboto Slab"/>
                <a:cs typeface="Roboto Slab"/>
                <a:sym typeface="Roboto Slab"/>
              </a:rPr>
            </a:br>
            <a:r>
              <a:rPr b="1" i="0" lang="en-US" sz="1200" u="none" cap="none" strike="noStrike">
                <a:solidFill>
                  <a:srgbClr val="000000"/>
                </a:solidFill>
                <a:latin typeface="Roboto Slab"/>
                <a:ea typeface="Roboto Slab"/>
                <a:cs typeface="Roboto Slab"/>
                <a:sym typeface="Roboto Slab"/>
              </a:rPr>
              <a:t>Server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2" name="Google Shape;262;p10"/>
          <p:cNvSpPr/>
          <p:nvPr/>
        </p:nvSpPr>
        <p:spPr>
          <a:xfrm>
            <a:off x="3962403" y="4848225"/>
            <a:ext cx="703800" cy="495300"/>
          </a:xfrm>
          <a:prstGeom prst="rect">
            <a:avLst/>
          </a:prstGeom>
          <a:solidFill>
            <a:srgbClr val="A6A6A6"/>
          </a:solidFill>
          <a:ln cap="flat" cmpd="sng" w="12700">
            <a:solidFill>
              <a:srgbClr val="000000">
                <a:alpha val="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3" name="Google Shape;263;p10"/>
          <p:cNvSpPr/>
          <p:nvPr/>
        </p:nvSpPr>
        <p:spPr>
          <a:xfrm>
            <a:off x="4105275" y="4980831"/>
            <a:ext cx="417900" cy="216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21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00000"/>
                </a:solidFill>
                <a:latin typeface="Roboto Slab"/>
                <a:ea typeface="Roboto Slab"/>
                <a:cs typeface="Roboto Slab"/>
                <a:sym typeface="Roboto Slab"/>
              </a:rPr>
              <a:t>API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4" name="Google Shape;264;p10"/>
          <p:cNvSpPr/>
          <p:nvPr/>
        </p:nvSpPr>
        <p:spPr>
          <a:xfrm>
            <a:off x="1692109" y="3333006"/>
            <a:ext cx="481800" cy="433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21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00000"/>
                </a:solidFill>
                <a:latin typeface="Roboto Slab"/>
                <a:ea typeface="Roboto Slab"/>
                <a:cs typeface="Roboto Slab"/>
                <a:sym typeface="Roboto Slab"/>
              </a:rPr>
              <a:t>MCP</a:t>
            </a:r>
            <a:br>
              <a:rPr b="1" i="0" lang="en-US" sz="1200" u="none" cap="none" strike="noStrike">
                <a:solidFill>
                  <a:srgbClr val="000000"/>
                </a:solidFill>
                <a:latin typeface="Roboto Slab"/>
                <a:ea typeface="Roboto Slab"/>
                <a:cs typeface="Roboto Slab"/>
                <a:sym typeface="Roboto Slab"/>
              </a:rPr>
            </a:br>
            <a:r>
              <a:rPr b="1" i="0" lang="en-US" sz="1200" u="none" cap="none" strike="noStrike">
                <a:solidFill>
                  <a:srgbClr val="000000"/>
                </a:solidFill>
                <a:latin typeface="Roboto Slab"/>
                <a:ea typeface="Roboto Slab"/>
                <a:cs typeface="Roboto Slab"/>
                <a:sym typeface="Roboto Slab"/>
              </a:rPr>
              <a:t>Client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5" name="Google Shape;265;p10"/>
          <p:cNvSpPr/>
          <p:nvPr/>
        </p:nvSpPr>
        <p:spPr>
          <a:xfrm>
            <a:off x="2530309" y="3333006"/>
            <a:ext cx="481800" cy="433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21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00000"/>
                </a:solidFill>
                <a:latin typeface="Roboto Slab"/>
                <a:ea typeface="Roboto Slab"/>
                <a:cs typeface="Roboto Slab"/>
                <a:sym typeface="Roboto Slab"/>
              </a:rPr>
              <a:t>MCP</a:t>
            </a:r>
            <a:br>
              <a:rPr b="1" i="0" lang="en-US" sz="1200" u="none" cap="none" strike="noStrike">
                <a:solidFill>
                  <a:srgbClr val="000000"/>
                </a:solidFill>
                <a:latin typeface="Roboto Slab"/>
                <a:ea typeface="Roboto Slab"/>
                <a:cs typeface="Roboto Slab"/>
                <a:sym typeface="Roboto Slab"/>
              </a:rPr>
            </a:br>
            <a:r>
              <a:rPr b="1" i="0" lang="en-US" sz="1200" u="none" cap="none" strike="noStrike">
                <a:solidFill>
                  <a:srgbClr val="000000"/>
                </a:solidFill>
                <a:latin typeface="Roboto Slab"/>
                <a:ea typeface="Roboto Slab"/>
                <a:cs typeface="Roboto Slab"/>
                <a:sym typeface="Roboto Slab"/>
              </a:rPr>
              <a:t>Client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66" name="Google Shape;266;p10"/>
          <p:cNvCxnSpPr/>
          <p:nvPr/>
        </p:nvCxnSpPr>
        <p:spPr>
          <a:xfrm rot="5400000">
            <a:off x="816859" y="4271306"/>
            <a:ext cx="639300" cy="0"/>
          </a:xfrm>
          <a:prstGeom prst="straightConnector1">
            <a:avLst/>
          </a:prstGeom>
          <a:noFill/>
          <a:ln cap="flat" cmpd="sng" w="25400">
            <a:solidFill>
              <a:srgbClr val="FFFFFF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267" name="Google Shape;267;p10"/>
          <p:cNvSpPr/>
          <p:nvPr/>
        </p:nvSpPr>
        <p:spPr>
          <a:xfrm>
            <a:off x="1041259" y="3856405"/>
            <a:ext cx="190500" cy="190500"/>
          </a:xfrm>
          <a:prstGeom prst="triangle">
            <a:avLst>
              <a:gd fmla="val 50000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8" name="Google Shape;268;p10"/>
          <p:cNvSpPr/>
          <p:nvPr/>
        </p:nvSpPr>
        <p:spPr>
          <a:xfrm rot="10800000">
            <a:off x="1041259" y="4495800"/>
            <a:ext cx="190500" cy="190500"/>
          </a:xfrm>
          <a:prstGeom prst="triangle">
            <a:avLst>
              <a:gd fmla="val 50000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269" name="Google Shape;269;p10"/>
          <p:cNvCxnSpPr/>
          <p:nvPr/>
        </p:nvCxnSpPr>
        <p:spPr>
          <a:xfrm rot="5400000">
            <a:off x="1671076" y="4234426"/>
            <a:ext cx="639300" cy="0"/>
          </a:xfrm>
          <a:prstGeom prst="straightConnector1">
            <a:avLst/>
          </a:prstGeom>
          <a:noFill/>
          <a:ln cap="flat" cmpd="sng" w="25400">
            <a:solidFill>
              <a:srgbClr val="FFFFFF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270" name="Google Shape;270;p10"/>
          <p:cNvSpPr/>
          <p:nvPr/>
        </p:nvSpPr>
        <p:spPr>
          <a:xfrm>
            <a:off x="1895475" y="3819525"/>
            <a:ext cx="190500" cy="190500"/>
          </a:xfrm>
          <a:prstGeom prst="triangle">
            <a:avLst>
              <a:gd fmla="val 50000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1" name="Google Shape;271;p10"/>
          <p:cNvSpPr/>
          <p:nvPr/>
        </p:nvSpPr>
        <p:spPr>
          <a:xfrm rot="10800000">
            <a:off x="1895475" y="4458920"/>
            <a:ext cx="190500" cy="190500"/>
          </a:xfrm>
          <a:prstGeom prst="triangle">
            <a:avLst>
              <a:gd fmla="val 50000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272" name="Google Shape;272;p10"/>
          <p:cNvCxnSpPr/>
          <p:nvPr/>
        </p:nvCxnSpPr>
        <p:spPr>
          <a:xfrm>
            <a:off x="3207988" y="3538488"/>
            <a:ext cx="754500" cy="0"/>
          </a:xfrm>
          <a:prstGeom prst="straightConnector1">
            <a:avLst/>
          </a:prstGeom>
          <a:noFill/>
          <a:ln cap="flat" cmpd="sng" w="25400">
            <a:solidFill>
              <a:srgbClr val="FFFFFF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273" name="Google Shape;273;p10"/>
          <p:cNvSpPr/>
          <p:nvPr/>
        </p:nvSpPr>
        <p:spPr>
          <a:xfrm rot="-5400000">
            <a:off x="3112738" y="3443238"/>
            <a:ext cx="190500" cy="190500"/>
          </a:xfrm>
          <a:prstGeom prst="triangle">
            <a:avLst>
              <a:gd fmla="val 50000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4" name="Google Shape;274;p10"/>
          <p:cNvSpPr/>
          <p:nvPr/>
        </p:nvSpPr>
        <p:spPr>
          <a:xfrm rot="5400000">
            <a:off x="3867150" y="3443238"/>
            <a:ext cx="190500" cy="190500"/>
          </a:xfrm>
          <a:prstGeom prst="triangle">
            <a:avLst>
              <a:gd fmla="val 50000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275" name="Google Shape;275;p10"/>
          <p:cNvCxnSpPr/>
          <p:nvPr/>
        </p:nvCxnSpPr>
        <p:spPr>
          <a:xfrm>
            <a:off x="2371725" y="5105400"/>
            <a:ext cx="1590600" cy="0"/>
          </a:xfrm>
          <a:prstGeom prst="straightConnector1">
            <a:avLst/>
          </a:prstGeom>
          <a:noFill/>
          <a:ln cap="flat" cmpd="sng" w="25400">
            <a:solidFill>
              <a:srgbClr val="FFFFFF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276" name="Google Shape;276;p10"/>
          <p:cNvSpPr/>
          <p:nvPr/>
        </p:nvSpPr>
        <p:spPr>
          <a:xfrm rot="-5400000">
            <a:off x="2276475" y="5010150"/>
            <a:ext cx="190500" cy="190500"/>
          </a:xfrm>
          <a:prstGeom prst="triangle">
            <a:avLst>
              <a:gd fmla="val 50000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7" name="Google Shape;277;p10"/>
          <p:cNvSpPr/>
          <p:nvPr/>
        </p:nvSpPr>
        <p:spPr>
          <a:xfrm rot="5400000">
            <a:off x="3867150" y="5010150"/>
            <a:ext cx="190500" cy="190500"/>
          </a:xfrm>
          <a:prstGeom prst="triangle">
            <a:avLst>
              <a:gd fmla="val 50000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8" name="Google Shape;278;p10"/>
          <p:cNvSpPr/>
          <p:nvPr/>
        </p:nvSpPr>
        <p:spPr>
          <a:xfrm>
            <a:off x="1181100" y="4203427"/>
            <a:ext cx="387300" cy="20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222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rPr>
              <a:t>Stdio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9" name="Google Shape;279;p10"/>
          <p:cNvSpPr/>
          <p:nvPr/>
        </p:nvSpPr>
        <p:spPr>
          <a:xfrm>
            <a:off x="2057400" y="4184377"/>
            <a:ext cx="387300" cy="20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222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rPr>
              <a:t>Stdio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0" name="Google Shape;280;p10"/>
          <p:cNvSpPr txBox="1"/>
          <p:nvPr/>
        </p:nvSpPr>
        <p:spPr>
          <a:xfrm>
            <a:off x="762000" y="6293400"/>
            <a:ext cx="2196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solidFill>
                  <a:srgbClr val="FF7800"/>
                </a:solidFill>
              </a:rPr>
              <a:t>1. List Tools 2. Call Tool</a:t>
            </a:r>
            <a:endParaRPr b="1">
              <a:solidFill>
                <a:srgbClr val="FF7800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285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p11"/>
          <p:cNvSpPr/>
          <p:nvPr/>
        </p:nvSpPr>
        <p:spPr>
          <a:xfrm>
            <a:off x="800100" y="586160"/>
            <a:ext cx="10000500" cy="47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375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300" u="none" cap="none" strike="noStrike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rPr>
              <a:t>Two "Transport" mechanisms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7" name="Google Shape;287;p11"/>
          <p:cNvSpPr/>
          <p:nvPr/>
        </p:nvSpPr>
        <p:spPr>
          <a:xfrm>
            <a:off x="800100" y="1109067"/>
            <a:ext cx="10000500" cy="24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222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rPr>
              <a:t>..while Streamable HTTP uses HTTP (replaces the older SSE)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8" name="Google Shape;288;p11"/>
          <p:cNvSpPr/>
          <p:nvPr/>
        </p:nvSpPr>
        <p:spPr>
          <a:xfrm>
            <a:off x="390528" y="1676400"/>
            <a:ext cx="3163500" cy="4482900"/>
          </a:xfrm>
          <a:prstGeom prst="rect">
            <a:avLst/>
          </a:prstGeom>
          <a:solidFill>
            <a:srgbClr val="0C0C0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9" name="Google Shape;289;p11"/>
          <p:cNvSpPr/>
          <p:nvPr/>
        </p:nvSpPr>
        <p:spPr>
          <a:xfrm>
            <a:off x="3705222" y="1676400"/>
            <a:ext cx="1696500" cy="2484300"/>
          </a:xfrm>
          <a:prstGeom prst="rect">
            <a:avLst/>
          </a:prstGeom>
          <a:solidFill>
            <a:srgbClr val="0C0C0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0" name="Google Shape;290;p11"/>
          <p:cNvSpPr/>
          <p:nvPr/>
        </p:nvSpPr>
        <p:spPr>
          <a:xfrm>
            <a:off x="3705222" y="4267200"/>
            <a:ext cx="1696500" cy="1892100"/>
          </a:xfrm>
          <a:prstGeom prst="rect">
            <a:avLst/>
          </a:prstGeom>
          <a:solidFill>
            <a:srgbClr val="0C0C0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1" name="Google Shape;291;p11"/>
          <p:cNvSpPr/>
          <p:nvPr/>
        </p:nvSpPr>
        <p:spPr>
          <a:xfrm>
            <a:off x="581025" y="1900684"/>
            <a:ext cx="2083500" cy="23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219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75" u="none" cap="none" strike="noStrike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rPr>
              <a:t>Your computer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2" name="Google Shape;292;p11"/>
          <p:cNvSpPr/>
          <p:nvPr/>
        </p:nvSpPr>
        <p:spPr>
          <a:xfrm>
            <a:off x="885825" y="2557909"/>
            <a:ext cx="2083500" cy="23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219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75" u="none" cap="none" strike="noStrike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rPr>
              <a:t>Host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3" name="Google Shape;293;p11"/>
          <p:cNvSpPr/>
          <p:nvPr/>
        </p:nvSpPr>
        <p:spPr>
          <a:xfrm>
            <a:off x="3952875" y="1900684"/>
            <a:ext cx="1293000" cy="23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219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75" u="none" cap="none" strike="noStrike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rPr>
              <a:t>Remote server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4" name="Google Shape;294;p11"/>
          <p:cNvSpPr/>
          <p:nvPr/>
        </p:nvSpPr>
        <p:spPr>
          <a:xfrm>
            <a:off x="3886200" y="4386709"/>
            <a:ext cx="1293000" cy="23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219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75" u="none" cap="none" strike="noStrike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rPr>
              <a:t>Remote server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5" name="Google Shape;295;p11"/>
          <p:cNvSpPr/>
          <p:nvPr/>
        </p:nvSpPr>
        <p:spPr>
          <a:xfrm>
            <a:off x="552445" y="2428875"/>
            <a:ext cx="2874000" cy="1731900"/>
          </a:xfrm>
          <a:prstGeom prst="rect">
            <a:avLst/>
          </a:prstGeom>
          <a:solidFill>
            <a:srgbClr val="00BFFF">
              <a:alpha val="34900"/>
            </a:srgbClr>
          </a:solidFill>
          <a:ln cap="flat" cmpd="sng" w="25400">
            <a:solidFill>
              <a:srgbClr val="00BFF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6" name="Google Shape;296;p11"/>
          <p:cNvSpPr/>
          <p:nvPr/>
        </p:nvSpPr>
        <p:spPr>
          <a:xfrm>
            <a:off x="800097" y="3133725"/>
            <a:ext cx="741600" cy="783600"/>
          </a:xfrm>
          <a:prstGeom prst="rect">
            <a:avLst/>
          </a:prstGeom>
          <a:solidFill>
            <a:srgbClr val="FFD700"/>
          </a:solidFill>
          <a:ln cap="flat" cmpd="sng" w="25400">
            <a:solidFill>
              <a:srgbClr val="000000">
                <a:alpha val="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7" name="Google Shape;297;p11"/>
          <p:cNvSpPr/>
          <p:nvPr/>
        </p:nvSpPr>
        <p:spPr>
          <a:xfrm>
            <a:off x="762000" y="4591050"/>
            <a:ext cx="741600" cy="783600"/>
          </a:xfrm>
          <a:prstGeom prst="rect">
            <a:avLst/>
          </a:prstGeom>
          <a:solidFill>
            <a:srgbClr val="FF7800"/>
          </a:solidFill>
          <a:ln cap="flat" cmpd="sng" w="25400">
            <a:solidFill>
              <a:srgbClr val="000000">
                <a:alpha val="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8" name="Google Shape;298;p11"/>
          <p:cNvSpPr/>
          <p:nvPr/>
        </p:nvSpPr>
        <p:spPr>
          <a:xfrm>
            <a:off x="1619250" y="4591050"/>
            <a:ext cx="741600" cy="783600"/>
          </a:xfrm>
          <a:prstGeom prst="rect">
            <a:avLst/>
          </a:prstGeom>
          <a:solidFill>
            <a:srgbClr val="FF7800"/>
          </a:solidFill>
          <a:ln cap="flat" cmpd="sng" w="25400">
            <a:solidFill>
              <a:srgbClr val="000000">
                <a:alpha val="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9" name="Google Shape;299;p11"/>
          <p:cNvSpPr/>
          <p:nvPr/>
        </p:nvSpPr>
        <p:spPr>
          <a:xfrm>
            <a:off x="3962403" y="3162300"/>
            <a:ext cx="741600" cy="783600"/>
          </a:xfrm>
          <a:prstGeom prst="rect">
            <a:avLst/>
          </a:prstGeom>
          <a:solidFill>
            <a:srgbClr val="FF7800"/>
          </a:solidFill>
          <a:ln cap="flat" cmpd="sng" w="25400">
            <a:solidFill>
              <a:srgbClr val="000000">
                <a:alpha val="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0" name="Google Shape;300;p11"/>
          <p:cNvSpPr/>
          <p:nvPr/>
        </p:nvSpPr>
        <p:spPr>
          <a:xfrm>
            <a:off x="1619250" y="3133725"/>
            <a:ext cx="741600" cy="783600"/>
          </a:xfrm>
          <a:prstGeom prst="rect">
            <a:avLst/>
          </a:prstGeom>
          <a:solidFill>
            <a:srgbClr val="FFD700"/>
          </a:solidFill>
          <a:ln cap="flat" cmpd="sng" w="25400">
            <a:solidFill>
              <a:srgbClr val="000000">
                <a:alpha val="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1" name="Google Shape;301;p11"/>
          <p:cNvSpPr/>
          <p:nvPr/>
        </p:nvSpPr>
        <p:spPr>
          <a:xfrm>
            <a:off x="2457445" y="3133725"/>
            <a:ext cx="741600" cy="783600"/>
          </a:xfrm>
          <a:prstGeom prst="rect">
            <a:avLst/>
          </a:prstGeom>
          <a:solidFill>
            <a:srgbClr val="FFD700"/>
          </a:solidFill>
          <a:ln cap="flat" cmpd="sng" w="25400">
            <a:solidFill>
              <a:srgbClr val="000000">
                <a:alpha val="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2" name="Google Shape;302;p11"/>
          <p:cNvSpPr/>
          <p:nvPr/>
        </p:nvSpPr>
        <p:spPr>
          <a:xfrm>
            <a:off x="872959" y="3333006"/>
            <a:ext cx="481800" cy="433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21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00000"/>
                </a:solidFill>
                <a:latin typeface="Roboto Slab"/>
                <a:ea typeface="Roboto Slab"/>
                <a:cs typeface="Roboto Slab"/>
                <a:sym typeface="Roboto Slab"/>
              </a:rPr>
              <a:t>MCP</a:t>
            </a:r>
            <a:br>
              <a:rPr b="1" i="0" lang="en-US" sz="1200" u="none" cap="none" strike="noStrike">
                <a:solidFill>
                  <a:srgbClr val="000000"/>
                </a:solidFill>
                <a:latin typeface="Roboto Slab"/>
                <a:ea typeface="Roboto Slab"/>
                <a:cs typeface="Roboto Slab"/>
                <a:sym typeface="Roboto Slab"/>
              </a:rPr>
            </a:br>
            <a:r>
              <a:rPr b="1" i="0" lang="en-US" sz="1200" u="none" cap="none" strike="noStrike">
                <a:solidFill>
                  <a:srgbClr val="000000"/>
                </a:solidFill>
                <a:latin typeface="Roboto Slab"/>
                <a:ea typeface="Roboto Slab"/>
                <a:cs typeface="Roboto Slab"/>
                <a:sym typeface="Roboto Slab"/>
              </a:rPr>
              <a:t>Client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3" name="Google Shape;303;p11"/>
          <p:cNvSpPr/>
          <p:nvPr/>
        </p:nvSpPr>
        <p:spPr>
          <a:xfrm>
            <a:off x="815326" y="4790331"/>
            <a:ext cx="520800" cy="433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21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00000"/>
                </a:solidFill>
                <a:latin typeface="Roboto Slab"/>
                <a:ea typeface="Roboto Slab"/>
                <a:cs typeface="Roboto Slab"/>
                <a:sym typeface="Roboto Slab"/>
              </a:rPr>
              <a:t>MCP</a:t>
            </a:r>
            <a:br>
              <a:rPr b="1" i="0" lang="en-US" sz="1200" u="none" cap="none" strike="noStrike">
                <a:solidFill>
                  <a:srgbClr val="000000"/>
                </a:solidFill>
                <a:latin typeface="Roboto Slab"/>
                <a:ea typeface="Roboto Slab"/>
                <a:cs typeface="Roboto Slab"/>
                <a:sym typeface="Roboto Slab"/>
              </a:rPr>
            </a:br>
            <a:r>
              <a:rPr b="1" i="0" lang="en-US" sz="1200" u="none" cap="none" strike="noStrike">
                <a:solidFill>
                  <a:srgbClr val="000000"/>
                </a:solidFill>
                <a:latin typeface="Roboto Slab"/>
                <a:ea typeface="Roboto Slab"/>
                <a:cs typeface="Roboto Slab"/>
                <a:sym typeface="Roboto Slab"/>
              </a:rPr>
              <a:t>Server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4" name="Google Shape;304;p11"/>
          <p:cNvSpPr/>
          <p:nvPr/>
        </p:nvSpPr>
        <p:spPr>
          <a:xfrm>
            <a:off x="1672576" y="4790331"/>
            <a:ext cx="520800" cy="433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21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00000"/>
                </a:solidFill>
                <a:latin typeface="Roboto Slab"/>
                <a:ea typeface="Roboto Slab"/>
                <a:cs typeface="Roboto Slab"/>
                <a:sym typeface="Roboto Slab"/>
              </a:rPr>
              <a:t>MCP</a:t>
            </a:r>
            <a:br>
              <a:rPr b="1" i="0" lang="en-US" sz="1200" u="none" cap="none" strike="noStrike">
                <a:solidFill>
                  <a:srgbClr val="000000"/>
                </a:solidFill>
                <a:latin typeface="Roboto Slab"/>
                <a:ea typeface="Roboto Slab"/>
                <a:cs typeface="Roboto Slab"/>
                <a:sym typeface="Roboto Slab"/>
              </a:rPr>
            </a:br>
            <a:r>
              <a:rPr b="1" i="0" lang="en-US" sz="1200" u="none" cap="none" strike="noStrike">
                <a:solidFill>
                  <a:srgbClr val="000000"/>
                </a:solidFill>
                <a:latin typeface="Roboto Slab"/>
                <a:ea typeface="Roboto Slab"/>
                <a:cs typeface="Roboto Slab"/>
                <a:sym typeface="Roboto Slab"/>
              </a:rPr>
              <a:t>Server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5" name="Google Shape;305;p11"/>
          <p:cNvSpPr/>
          <p:nvPr/>
        </p:nvSpPr>
        <p:spPr>
          <a:xfrm>
            <a:off x="4053826" y="3361581"/>
            <a:ext cx="520800" cy="433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21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00000"/>
                </a:solidFill>
                <a:latin typeface="Roboto Slab"/>
                <a:ea typeface="Roboto Slab"/>
                <a:cs typeface="Roboto Slab"/>
                <a:sym typeface="Roboto Slab"/>
              </a:rPr>
              <a:t>MCP</a:t>
            </a:r>
            <a:br>
              <a:rPr b="1" i="0" lang="en-US" sz="1200" u="none" cap="none" strike="noStrike">
                <a:solidFill>
                  <a:srgbClr val="000000"/>
                </a:solidFill>
                <a:latin typeface="Roboto Slab"/>
                <a:ea typeface="Roboto Slab"/>
                <a:cs typeface="Roboto Slab"/>
                <a:sym typeface="Roboto Slab"/>
              </a:rPr>
            </a:br>
            <a:r>
              <a:rPr b="1" i="0" lang="en-US" sz="1200" u="none" cap="none" strike="noStrike">
                <a:solidFill>
                  <a:srgbClr val="000000"/>
                </a:solidFill>
                <a:latin typeface="Roboto Slab"/>
                <a:ea typeface="Roboto Slab"/>
                <a:cs typeface="Roboto Slab"/>
                <a:sym typeface="Roboto Slab"/>
              </a:rPr>
              <a:t>Server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6" name="Google Shape;306;p11"/>
          <p:cNvSpPr/>
          <p:nvPr/>
        </p:nvSpPr>
        <p:spPr>
          <a:xfrm>
            <a:off x="3962403" y="4848225"/>
            <a:ext cx="703800" cy="495300"/>
          </a:xfrm>
          <a:prstGeom prst="rect">
            <a:avLst/>
          </a:prstGeom>
          <a:solidFill>
            <a:srgbClr val="A6A6A6"/>
          </a:solidFill>
          <a:ln cap="flat" cmpd="sng" w="12700">
            <a:solidFill>
              <a:srgbClr val="000000">
                <a:alpha val="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7" name="Google Shape;307;p11"/>
          <p:cNvSpPr/>
          <p:nvPr/>
        </p:nvSpPr>
        <p:spPr>
          <a:xfrm>
            <a:off x="4105275" y="4980831"/>
            <a:ext cx="417900" cy="216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21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00000"/>
                </a:solidFill>
                <a:latin typeface="Roboto Slab"/>
                <a:ea typeface="Roboto Slab"/>
                <a:cs typeface="Roboto Slab"/>
                <a:sym typeface="Roboto Slab"/>
              </a:rPr>
              <a:t>API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8" name="Google Shape;308;p11"/>
          <p:cNvSpPr/>
          <p:nvPr/>
        </p:nvSpPr>
        <p:spPr>
          <a:xfrm>
            <a:off x="1692109" y="3333006"/>
            <a:ext cx="481800" cy="433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21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00000"/>
                </a:solidFill>
                <a:latin typeface="Roboto Slab"/>
                <a:ea typeface="Roboto Slab"/>
                <a:cs typeface="Roboto Slab"/>
                <a:sym typeface="Roboto Slab"/>
              </a:rPr>
              <a:t>MCP</a:t>
            </a:r>
            <a:br>
              <a:rPr b="1" i="0" lang="en-US" sz="1200" u="none" cap="none" strike="noStrike">
                <a:solidFill>
                  <a:srgbClr val="000000"/>
                </a:solidFill>
                <a:latin typeface="Roboto Slab"/>
                <a:ea typeface="Roboto Slab"/>
                <a:cs typeface="Roboto Slab"/>
                <a:sym typeface="Roboto Slab"/>
              </a:rPr>
            </a:br>
            <a:r>
              <a:rPr b="1" i="0" lang="en-US" sz="1200" u="none" cap="none" strike="noStrike">
                <a:solidFill>
                  <a:srgbClr val="000000"/>
                </a:solidFill>
                <a:latin typeface="Roboto Slab"/>
                <a:ea typeface="Roboto Slab"/>
                <a:cs typeface="Roboto Slab"/>
                <a:sym typeface="Roboto Slab"/>
              </a:rPr>
              <a:t>Client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9" name="Google Shape;309;p11"/>
          <p:cNvSpPr/>
          <p:nvPr/>
        </p:nvSpPr>
        <p:spPr>
          <a:xfrm>
            <a:off x="2530309" y="3333006"/>
            <a:ext cx="481800" cy="433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21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00000"/>
                </a:solidFill>
                <a:latin typeface="Roboto Slab"/>
                <a:ea typeface="Roboto Slab"/>
                <a:cs typeface="Roboto Slab"/>
                <a:sym typeface="Roboto Slab"/>
              </a:rPr>
              <a:t>MCP</a:t>
            </a:r>
            <a:br>
              <a:rPr b="1" i="0" lang="en-US" sz="1200" u="none" cap="none" strike="noStrike">
                <a:solidFill>
                  <a:srgbClr val="000000"/>
                </a:solidFill>
                <a:latin typeface="Roboto Slab"/>
                <a:ea typeface="Roboto Slab"/>
                <a:cs typeface="Roboto Slab"/>
                <a:sym typeface="Roboto Slab"/>
              </a:rPr>
            </a:br>
            <a:r>
              <a:rPr b="1" i="0" lang="en-US" sz="1200" u="none" cap="none" strike="noStrike">
                <a:solidFill>
                  <a:srgbClr val="000000"/>
                </a:solidFill>
                <a:latin typeface="Roboto Slab"/>
                <a:ea typeface="Roboto Slab"/>
                <a:cs typeface="Roboto Slab"/>
                <a:sym typeface="Roboto Slab"/>
              </a:rPr>
              <a:t>Client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10" name="Google Shape;310;p11"/>
          <p:cNvCxnSpPr/>
          <p:nvPr/>
        </p:nvCxnSpPr>
        <p:spPr>
          <a:xfrm rot="5400000">
            <a:off x="816859" y="4271306"/>
            <a:ext cx="639300" cy="0"/>
          </a:xfrm>
          <a:prstGeom prst="straightConnector1">
            <a:avLst/>
          </a:prstGeom>
          <a:noFill/>
          <a:ln cap="flat" cmpd="sng" w="25400">
            <a:solidFill>
              <a:srgbClr val="FFFFFF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311" name="Google Shape;311;p11"/>
          <p:cNvSpPr/>
          <p:nvPr/>
        </p:nvSpPr>
        <p:spPr>
          <a:xfrm>
            <a:off x="1041259" y="3856405"/>
            <a:ext cx="190500" cy="190500"/>
          </a:xfrm>
          <a:prstGeom prst="triangle">
            <a:avLst>
              <a:gd fmla="val 50000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2" name="Google Shape;312;p11"/>
          <p:cNvSpPr/>
          <p:nvPr/>
        </p:nvSpPr>
        <p:spPr>
          <a:xfrm rot="10800000">
            <a:off x="1041259" y="4495800"/>
            <a:ext cx="190500" cy="190500"/>
          </a:xfrm>
          <a:prstGeom prst="triangle">
            <a:avLst>
              <a:gd fmla="val 50000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313" name="Google Shape;313;p11"/>
          <p:cNvCxnSpPr/>
          <p:nvPr/>
        </p:nvCxnSpPr>
        <p:spPr>
          <a:xfrm rot="5400000">
            <a:off x="1671076" y="4234426"/>
            <a:ext cx="639300" cy="0"/>
          </a:xfrm>
          <a:prstGeom prst="straightConnector1">
            <a:avLst/>
          </a:prstGeom>
          <a:noFill/>
          <a:ln cap="flat" cmpd="sng" w="25400">
            <a:solidFill>
              <a:srgbClr val="FFFFFF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314" name="Google Shape;314;p11"/>
          <p:cNvSpPr/>
          <p:nvPr/>
        </p:nvSpPr>
        <p:spPr>
          <a:xfrm>
            <a:off x="1895475" y="3819525"/>
            <a:ext cx="190500" cy="190500"/>
          </a:xfrm>
          <a:prstGeom prst="triangle">
            <a:avLst>
              <a:gd fmla="val 50000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5" name="Google Shape;315;p11"/>
          <p:cNvSpPr/>
          <p:nvPr/>
        </p:nvSpPr>
        <p:spPr>
          <a:xfrm rot="10800000">
            <a:off x="1895475" y="4458920"/>
            <a:ext cx="190500" cy="190500"/>
          </a:xfrm>
          <a:prstGeom prst="triangle">
            <a:avLst>
              <a:gd fmla="val 50000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316" name="Google Shape;316;p11"/>
          <p:cNvCxnSpPr/>
          <p:nvPr/>
        </p:nvCxnSpPr>
        <p:spPr>
          <a:xfrm>
            <a:off x="3207988" y="3538488"/>
            <a:ext cx="754500" cy="0"/>
          </a:xfrm>
          <a:prstGeom prst="straightConnector1">
            <a:avLst/>
          </a:prstGeom>
          <a:noFill/>
          <a:ln cap="flat" cmpd="sng" w="25400">
            <a:solidFill>
              <a:srgbClr val="FFFFFF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317" name="Google Shape;317;p11"/>
          <p:cNvSpPr/>
          <p:nvPr/>
        </p:nvSpPr>
        <p:spPr>
          <a:xfrm rot="-5400000">
            <a:off x="3112738" y="3443238"/>
            <a:ext cx="190500" cy="190500"/>
          </a:xfrm>
          <a:prstGeom prst="triangle">
            <a:avLst>
              <a:gd fmla="val 50000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8" name="Google Shape;318;p11"/>
          <p:cNvSpPr/>
          <p:nvPr/>
        </p:nvSpPr>
        <p:spPr>
          <a:xfrm rot="5400000">
            <a:off x="3867150" y="3443238"/>
            <a:ext cx="190500" cy="190500"/>
          </a:xfrm>
          <a:prstGeom prst="triangle">
            <a:avLst>
              <a:gd fmla="val 50000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319" name="Google Shape;319;p11"/>
          <p:cNvCxnSpPr/>
          <p:nvPr/>
        </p:nvCxnSpPr>
        <p:spPr>
          <a:xfrm>
            <a:off x="2371725" y="5105400"/>
            <a:ext cx="1590600" cy="0"/>
          </a:xfrm>
          <a:prstGeom prst="straightConnector1">
            <a:avLst/>
          </a:prstGeom>
          <a:noFill/>
          <a:ln cap="flat" cmpd="sng" w="25400">
            <a:solidFill>
              <a:srgbClr val="FFFFFF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320" name="Google Shape;320;p11"/>
          <p:cNvSpPr/>
          <p:nvPr/>
        </p:nvSpPr>
        <p:spPr>
          <a:xfrm rot="-5400000">
            <a:off x="2276475" y="5010150"/>
            <a:ext cx="190500" cy="190500"/>
          </a:xfrm>
          <a:prstGeom prst="triangle">
            <a:avLst>
              <a:gd fmla="val 50000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1" name="Google Shape;321;p11"/>
          <p:cNvSpPr/>
          <p:nvPr/>
        </p:nvSpPr>
        <p:spPr>
          <a:xfrm rot="5400000">
            <a:off x="3867150" y="5010150"/>
            <a:ext cx="190500" cy="190500"/>
          </a:xfrm>
          <a:prstGeom prst="triangle">
            <a:avLst>
              <a:gd fmla="val 50000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2" name="Google Shape;322;p11"/>
          <p:cNvSpPr/>
          <p:nvPr/>
        </p:nvSpPr>
        <p:spPr>
          <a:xfrm>
            <a:off x="1181100" y="4203427"/>
            <a:ext cx="387300" cy="20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222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rPr>
              <a:t>Stdio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3" name="Google Shape;323;p11"/>
          <p:cNvSpPr/>
          <p:nvPr/>
        </p:nvSpPr>
        <p:spPr>
          <a:xfrm>
            <a:off x="2057400" y="4184377"/>
            <a:ext cx="387300" cy="20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222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rPr>
              <a:t>Stdio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4" name="Google Shape;324;p11"/>
          <p:cNvSpPr/>
          <p:nvPr/>
        </p:nvSpPr>
        <p:spPr>
          <a:xfrm>
            <a:off x="3474720" y="2777490"/>
            <a:ext cx="1890000" cy="36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222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rPr>
              <a:t>Streamable HTTP</a:t>
            </a:r>
            <a:endParaRPr i="0" sz="1125" u="none" cap="none" strike="noStrike">
              <a:solidFill>
                <a:srgbClr val="FFFFFF"/>
              </a:solidFill>
              <a:latin typeface="Roboto Slab"/>
              <a:ea typeface="Roboto Slab"/>
              <a:cs typeface="Roboto Slab"/>
              <a:sym typeface="Roboto Slab"/>
            </a:endParaRPr>
          </a:p>
        </p:txBody>
      </p:sp>
      <p:sp>
        <p:nvSpPr>
          <p:cNvPr id="325" name="Google Shape;325;p11"/>
          <p:cNvSpPr txBox="1"/>
          <p:nvPr/>
        </p:nvSpPr>
        <p:spPr>
          <a:xfrm>
            <a:off x="762000" y="6293400"/>
            <a:ext cx="2196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solidFill>
                  <a:srgbClr val="FF7800"/>
                </a:solidFill>
              </a:rPr>
              <a:t>1. List Tools 2. Call Tool</a:t>
            </a:r>
            <a:endParaRPr b="1">
              <a:solidFill>
                <a:srgbClr val="FF7800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330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Google Shape;331;p12"/>
          <p:cNvSpPr txBox="1"/>
          <p:nvPr/>
        </p:nvSpPr>
        <p:spPr>
          <a:xfrm>
            <a:off x="573024" y="582930"/>
            <a:ext cx="9070800" cy="48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rPr>
              <a:t>Connecting to MCP servers</a:t>
            </a:r>
            <a:endParaRPr sz="3300">
              <a:solidFill>
                <a:srgbClr val="FFFFFF"/>
              </a:solidFill>
              <a:latin typeface="Roboto Slab"/>
              <a:ea typeface="Roboto Slab"/>
              <a:cs typeface="Roboto Slab"/>
              <a:sym typeface="Roboto Slab"/>
            </a:endParaRPr>
          </a:p>
        </p:txBody>
      </p:sp>
      <p:sp>
        <p:nvSpPr>
          <p:cNvPr id="332" name="Google Shape;332;p12"/>
          <p:cNvSpPr txBox="1"/>
          <p:nvPr/>
        </p:nvSpPr>
        <p:spPr>
          <a:xfrm>
            <a:off x="585216" y="1152144"/>
            <a:ext cx="57303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BFFF"/>
                </a:solidFill>
                <a:latin typeface="Montserrat"/>
                <a:ea typeface="Montserrat"/>
                <a:cs typeface="Montserrat"/>
                <a:sym typeface="Montserrat"/>
              </a:rPr>
              <a:t>A server is just a set of parameters</a:t>
            </a:r>
            <a:endParaRPr sz="1800">
              <a:solidFill>
                <a:srgbClr val="00B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33" name="Google Shape;333;p12"/>
          <p:cNvSpPr txBox="1"/>
          <p:nvPr/>
        </p:nvSpPr>
        <p:spPr>
          <a:xfrm>
            <a:off x="182880" y="2407158"/>
            <a:ext cx="12192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rgbClr val="C7C7C7"/>
                </a:solidFill>
                <a:latin typeface="Roboto Slab"/>
                <a:ea typeface="Roboto Slab"/>
                <a:cs typeface="Roboto Slab"/>
                <a:sym typeface="Roboto Slab"/>
              </a:rPr>
              <a:t>fetch</a:t>
            </a:r>
            <a:endParaRPr sz="1300">
              <a:solidFill>
                <a:srgbClr val="C7C7C7"/>
              </a:solidFill>
              <a:latin typeface="Roboto Slab"/>
              <a:ea typeface="Roboto Slab"/>
              <a:cs typeface="Roboto Slab"/>
              <a:sym typeface="Roboto Slab"/>
            </a:endParaRPr>
          </a:p>
        </p:txBody>
      </p:sp>
      <p:sp>
        <p:nvSpPr>
          <p:cNvPr id="334" name="Google Shape;334;p12"/>
          <p:cNvSpPr/>
          <p:nvPr/>
        </p:nvSpPr>
        <p:spPr>
          <a:xfrm>
            <a:off x="1584960" y="2297430"/>
            <a:ext cx="4755000" cy="480000"/>
          </a:xfrm>
          <a:prstGeom prst="roundRect">
            <a:avLst>
              <a:gd fmla="val 16667" name="adj"/>
            </a:avLst>
          </a:prstGeom>
          <a:solidFill>
            <a:srgbClr val="0C0C0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>
                <a:solidFill>
                  <a:srgbClr val="D9D9D9"/>
                </a:solidFill>
                <a:latin typeface="Roboto Mono"/>
                <a:ea typeface="Roboto Mono"/>
                <a:cs typeface="Roboto Mono"/>
                <a:sym typeface="Roboto Mono"/>
              </a:rPr>
              <a:t>{"command": "uvx", "args": ["mcp-server-fetch"]}</a:t>
            </a:r>
            <a:endParaRPr sz="1050">
              <a:solidFill>
                <a:srgbClr val="D9D9D9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335" name="Google Shape;335;p12"/>
          <p:cNvSpPr txBox="1"/>
          <p:nvPr/>
        </p:nvSpPr>
        <p:spPr>
          <a:xfrm>
            <a:off x="182880" y="3024378"/>
            <a:ext cx="12192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rgbClr val="C7C7C7"/>
                </a:solidFill>
                <a:latin typeface="Roboto Slab"/>
                <a:ea typeface="Roboto Slab"/>
                <a:cs typeface="Roboto Slab"/>
                <a:sym typeface="Roboto Slab"/>
              </a:rPr>
              <a:t>playwright</a:t>
            </a:r>
            <a:endParaRPr sz="1300">
              <a:solidFill>
                <a:srgbClr val="C7C7C7"/>
              </a:solidFill>
              <a:latin typeface="Roboto Slab"/>
              <a:ea typeface="Roboto Slab"/>
              <a:cs typeface="Roboto Slab"/>
              <a:sym typeface="Roboto Slab"/>
            </a:endParaRPr>
          </a:p>
        </p:txBody>
      </p:sp>
      <p:sp>
        <p:nvSpPr>
          <p:cNvPr id="336" name="Google Shape;336;p12"/>
          <p:cNvSpPr/>
          <p:nvPr/>
        </p:nvSpPr>
        <p:spPr>
          <a:xfrm>
            <a:off x="1584960" y="2914650"/>
            <a:ext cx="4755000" cy="480000"/>
          </a:xfrm>
          <a:prstGeom prst="roundRect">
            <a:avLst>
              <a:gd fmla="val 16667" name="adj"/>
            </a:avLst>
          </a:prstGeom>
          <a:solidFill>
            <a:srgbClr val="0C0C0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>
                <a:solidFill>
                  <a:srgbClr val="D9D9D9"/>
                </a:solidFill>
                <a:latin typeface="Roboto Mono"/>
                <a:ea typeface="Roboto Mono"/>
                <a:cs typeface="Roboto Mono"/>
                <a:sym typeface="Roboto Mono"/>
              </a:rPr>
              <a:t>{"command": "npx", "args": ["@playwright/mcp@latest"]}</a:t>
            </a:r>
            <a:endParaRPr sz="1050">
              <a:solidFill>
                <a:srgbClr val="D9D9D9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337" name="Google Shape;337;p12"/>
          <p:cNvSpPr txBox="1"/>
          <p:nvPr/>
        </p:nvSpPr>
        <p:spPr>
          <a:xfrm>
            <a:off x="182880" y="4601718"/>
            <a:ext cx="12192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rgbClr val="C7C7C7"/>
                </a:solidFill>
                <a:latin typeface="Roboto Slab"/>
                <a:ea typeface="Roboto Slab"/>
                <a:cs typeface="Roboto Slab"/>
                <a:sym typeface="Roboto Slab"/>
              </a:rPr>
              <a:t>context7</a:t>
            </a:r>
            <a:endParaRPr sz="1300">
              <a:solidFill>
                <a:srgbClr val="C7C7C7"/>
              </a:solidFill>
              <a:latin typeface="Roboto Slab"/>
              <a:ea typeface="Roboto Slab"/>
              <a:cs typeface="Roboto Slab"/>
              <a:sym typeface="Roboto Slab"/>
            </a:endParaRPr>
          </a:p>
        </p:txBody>
      </p:sp>
      <p:sp>
        <p:nvSpPr>
          <p:cNvPr id="338" name="Google Shape;338;p12"/>
          <p:cNvSpPr/>
          <p:nvPr/>
        </p:nvSpPr>
        <p:spPr>
          <a:xfrm>
            <a:off x="1584960" y="4491990"/>
            <a:ext cx="4755000" cy="480000"/>
          </a:xfrm>
          <a:prstGeom prst="roundRect">
            <a:avLst>
              <a:gd fmla="val 16667" name="adj"/>
            </a:avLst>
          </a:prstGeom>
          <a:solidFill>
            <a:srgbClr val="0C0C0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>
                <a:solidFill>
                  <a:srgbClr val="D9D9D9"/>
                </a:solidFill>
                <a:latin typeface="Roboto Mono"/>
                <a:ea typeface="Roboto Mono"/>
                <a:cs typeface="Roboto Mono"/>
                <a:sym typeface="Roboto Mono"/>
              </a:rPr>
              <a:t>{"url": "https://mcp.context7.com/mcp", "timeout": 60}</a:t>
            </a:r>
            <a:endParaRPr sz="1050">
              <a:solidFill>
                <a:srgbClr val="D9D9D9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grpSp>
        <p:nvGrpSpPr>
          <p:cNvPr id="339" name="Google Shape;339;p12"/>
          <p:cNvGrpSpPr/>
          <p:nvPr/>
        </p:nvGrpSpPr>
        <p:grpSpPr>
          <a:xfrm>
            <a:off x="871728" y="1742313"/>
            <a:ext cx="5651052" cy="390144"/>
            <a:chOff x="871728" y="1742313"/>
            <a:chExt cx="5651052" cy="390144"/>
          </a:xfrm>
        </p:grpSpPr>
        <p:sp>
          <p:nvSpPr>
            <p:cNvPr id="340" name="Google Shape;340;p12"/>
            <p:cNvSpPr txBox="1"/>
            <p:nvPr/>
          </p:nvSpPr>
          <p:spPr>
            <a:xfrm>
              <a:off x="1402080" y="1783080"/>
              <a:ext cx="5120700" cy="308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900">
                  <a:solidFill>
                    <a:srgbClr val="00BFFF"/>
                  </a:solidFill>
                  <a:latin typeface="Roboto Slab"/>
                  <a:ea typeface="Roboto Slab"/>
                  <a:cs typeface="Roboto Slab"/>
                  <a:sym typeface="Roboto Slab"/>
                </a:rPr>
                <a:t>STDIO</a:t>
              </a:r>
              <a:r>
                <a:rPr lang="en-US" sz="1500">
                  <a:solidFill>
                    <a:srgbClr val="FFFFFF"/>
                  </a:solidFill>
                  <a:latin typeface="Roboto Slab"/>
                  <a:ea typeface="Roboto Slab"/>
                  <a:cs typeface="Roboto Slab"/>
                  <a:sym typeface="Roboto Slab"/>
                </a:rPr>
                <a:t>   a local process to spawn</a:t>
              </a:r>
              <a:endParaRPr sz="1500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endParaRPr>
            </a:p>
          </p:txBody>
        </p:sp>
        <p:pic>
          <p:nvPicPr>
            <p:cNvPr id="341" name="Google Shape;341;p12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871728" y="1742313"/>
              <a:ext cx="390144" cy="390144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342" name="Google Shape;342;p12"/>
          <p:cNvGrpSpPr/>
          <p:nvPr/>
        </p:nvGrpSpPr>
        <p:grpSpPr>
          <a:xfrm>
            <a:off x="871728" y="3936873"/>
            <a:ext cx="5651052" cy="390144"/>
            <a:chOff x="871728" y="3936873"/>
            <a:chExt cx="5651052" cy="390144"/>
          </a:xfrm>
        </p:grpSpPr>
        <p:sp>
          <p:nvSpPr>
            <p:cNvPr id="343" name="Google Shape;343;p12"/>
            <p:cNvSpPr txBox="1"/>
            <p:nvPr/>
          </p:nvSpPr>
          <p:spPr>
            <a:xfrm>
              <a:off x="1402080" y="3977640"/>
              <a:ext cx="5120700" cy="308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900">
                  <a:solidFill>
                    <a:srgbClr val="FFD700"/>
                  </a:solidFill>
                  <a:latin typeface="Roboto Slab"/>
                  <a:ea typeface="Roboto Slab"/>
                  <a:cs typeface="Roboto Slab"/>
                  <a:sym typeface="Roboto Slab"/>
                </a:rPr>
                <a:t>Streamable HTTP</a:t>
              </a:r>
              <a:r>
                <a:rPr lang="en-US" sz="1500">
                  <a:solidFill>
                    <a:srgbClr val="FFFFFF"/>
                  </a:solidFill>
                  <a:latin typeface="Roboto Slab"/>
                  <a:ea typeface="Roboto Slab"/>
                  <a:cs typeface="Roboto Slab"/>
                  <a:sym typeface="Roboto Slab"/>
                </a:rPr>
                <a:t>   a remote URL</a:t>
              </a:r>
              <a:endParaRPr sz="1500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endParaRPr>
            </a:p>
          </p:txBody>
        </p:sp>
        <p:pic>
          <p:nvPicPr>
            <p:cNvPr id="344" name="Google Shape;344;p1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871728" y="3936873"/>
              <a:ext cx="390144" cy="390144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349" name="Shape 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" name="Google Shape;350;p13"/>
          <p:cNvSpPr txBox="1"/>
          <p:nvPr/>
        </p:nvSpPr>
        <p:spPr>
          <a:xfrm>
            <a:off x="573024" y="582930"/>
            <a:ext cx="9070800" cy="48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rPr>
              <a:t>Spawning a local server</a:t>
            </a:r>
            <a:endParaRPr sz="3300">
              <a:solidFill>
                <a:srgbClr val="FFFFFF"/>
              </a:solidFill>
              <a:latin typeface="Roboto Slab"/>
              <a:ea typeface="Roboto Slab"/>
              <a:cs typeface="Roboto Slab"/>
              <a:sym typeface="Roboto Slab"/>
            </a:endParaRPr>
          </a:p>
        </p:txBody>
      </p:sp>
      <p:sp>
        <p:nvSpPr>
          <p:cNvPr id="351" name="Google Shape;351;p13"/>
          <p:cNvSpPr txBox="1"/>
          <p:nvPr/>
        </p:nvSpPr>
        <p:spPr>
          <a:xfrm>
            <a:off x="585216" y="1152144"/>
            <a:ext cx="57303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BFFF"/>
                </a:solidFill>
                <a:latin typeface="Montserrat"/>
                <a:ea typeface="Montserrat"/>
                <a:cs typeface="Montserrat"/>
                <a:sym typeface="Montserrat"/>
              </a:rPr>
              <a:t>The command tells the client how to launch it</a:t>
            </a:r>
            <a:endParaRPr sz="1800">
              <a:solidFill>
                <a:srgbClr val="00B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grpSp>
        <p:nvGrpSpPr>
          <p:cNvPr id="352" name="Google Shape;352;p13"/>
          <p:cNvGrpSpPr/>
          <p:nvPr/>
        </p:nvGrpSpPr>
        <p:grpSpPr>
          <a:xfrm>
            <a:off x="890016" y="2125980"/>
            <a:ext cx="5510664" cy="617100"/>
            <a:chOff x="890016" y="2125980"/>
            <a:chExt cx="5510664" cy="617100"/>
          </a:xfrm>
        </p:grpSpPr>
        <p:sp>
          <p:nvSpPr>
            <p:cNvPr id="353" name="Google Shape;353;p13"/>
            <p:cNvSpPr txBox="1"/>
            <p:nvPr/>
          </p:nvSpPr>
          <p:spPr>
            <a:xfrm>
              <a:off x="1402080" y="2125980"/>
              <a:ext cx="4998600" cy="617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650">
                  <a:solidFill>
                    <a:srgbClr val="00BFFF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uvx</a:t>
              </a:r>
              <a:r>
                <a:rPr lang="en-US" sz="1650">
                  <a:solidFill>
                    <a:srgbClr val="FFFFFF"/>
                  </a:solidFill>
                  <a:latin typeface="Roboto Slab"/>
                  <a:ea typeface="Roboto Slab"/>
                  <a:cs typeface="Roboto Slab"/>
                  <a:sym typeface="Roboto Slab"/>
                </a:rPr>
                <a:t>    for Python MCP servers</a:t>
              </a:r>
              <a:endParaRPr sz="1650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endParaRPr>
            </a:p>
          </p:txBody>
        </p:sp>
        <p:pic>
          <p:nvPicPr>
            <p:cNvPr id="354" name="Google Shape;354;p13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890016" y="2189226"/>
              <a:ext cx="353568" cy="353568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355" name="Google Shape;355;p13"/>
          <p:cNvGrpSpPr/>
          <p:nvPr/>
        </p:nvGrpSpPr>
        <p:grpSpPr>
          <a:xfrm>
            <a:off x="890016" y="3223260"/>
            <a:ext cx="5510664" cy="617100"/>
            <a:chOff x="890016" y="3223260"/>
            <a:chExt cx="5510664" cy="617100"/>
          </a:xfrm>
        </p:grpSpPr>
        <p:sp>
          <p:nvSpPr>
            <p:cNvPr id="356" name="Google Shape;356;p13"/>
            <p:cNvSpPr txBox="1"/>
            <p:nvPr/>
          </p:nvSpPr>
          <p:spPr>
            <a:xfrm>
              <a:off x="1402080" y="3223260"/>
              <a:ext cx="4998600" cy="617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650">
                  <a:solidFill>
                    <a:srgbClr val="00BFFF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npx</a:t>
              </a:r>
              <a:r>
                <a:rPr lang="en-US" sz="1650">
                  <a:solidFill>
                    <a:srgbClr val="FFFFFF"/>
                  </a:solidFill>
                  <a:latin typeface="Roboto Slab"/>
                  <a:ea typeface="Roboto Slab"/>
                  <a:cs typeface="Roboto Slab"/>
                  <a:sym typeface="Roboto Slab"/>
                </a:rPr>
                <a:t>    for Node and JavaScript servers</a:t>
              </a:r>
              <a:endParaRPr sz="1650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endParaRPr>
            </a:p>
          </p:txBody>
        </p:sp>
        <p:pic>
          <p:nvPicPr>
            <p:cNvPr id="357" name="Google Shape;357;p1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890016" y="3286506"/>
              <a:ext cx="353568" cy="353568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358" name="Google Shape;358;p13"/>
          <p:cNvGrpSpPr/>
          <p:nvPr/>
        </p:nvGrpSpPr>
        <p:grpSpPr>
          <a:xfrm>
            <a:off x="890016" y="4320540"/>
            <a:ext cx="5510664" cy="617100"/>
            <a:chOff x="890016" y="4320540"/>
            <a:chExt cx="5510664" cy="617100"/>
          </a:xfrm>
        </p:grpSpPr>
        <p:sp>
          <p:nvSpPr>
            <p:cNvPr id="359" name="Google Shape;359;p13"/>
            <p:cNvSpPr txBox="1"/>
            <p:nvPr/>
          </p:nvSpPr>
          <p:spPr>
            <a:xfrm>
              <a:off x="1402080" y="4320540"/>
              <a:ext cx="4998600" cy="617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650">
                  <a:solidFill>
                    <a:srgbClr val="00BFFF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docker</a:t>
              </a:r>
              <a:r>
                <a:rPr lang="en-US" sz="1650">
                  <a:solidFill>
                    <a:srgbClr val="FFFFFF"/>
                  </a:solidFill>
                  <a:latin typeface="Roboto Slab"/>
                  <a:ea typeface="Roboto Slab"/>
                  <a:cs typeface="Roboto Slab"/>
                  <a:sym typeface="Roboto Slab"/>
                </a:rPr>
                <a:t>    for servers packaged as a container</a:t>
              </a:r>
              <a:endParaRPr sz="1650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endParaRPr>
            </a:p>
          </p:txBody>
        </p:sp>
        <p:pic>
          <p:nvPicPr>
            <p:cNvPr id="360" name="Google Shape;360;p13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890016" y="4383786"/>
              <a:ext cx="353568" cy="353568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365" name="Shape 3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6" name="Google Shape;366;p14"/>
          <p:cNvSpPr/>
          <p:nvPr/>
        </p:nvSpPr>
        <p:spPr>
          <a:xfrm>
            <a:off x="800100" y="586160"/>
            <a:ext cx="10000506" cy="4766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375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300" u="none" cap="none" strike="noStrike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rPr>
              <a:t>Making an MCP Server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7" name="Google Shape;367;p14"/>
          <p:cNvSpPr/>
          <p:nvPr/>
        </p:nvSpPr>
        <p:spPr>
          <a:xfrm>
            <a:off x="571500" y="1537692"/>
            <a:ext cx="4575721" cy="29988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250" u="none" cap="none" strike="noStrike">
                <a:solidFill>
                  <a:srgbClr val="FF7800"/>
                </a:solidFill>
                <a:latin typeface="Arial"/>
                <a:ea typeface="Arial"/>
                <a:cs typeface="Arial"/>
                <a:sym typeface="Arial"/>
              </a:rPr>
              <a:t>Why make an MCP Server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8" name="Google Shape;368;p14"/>
          <p:cNvSpPr/>
          <p:nvPr/>
        </p:nvSpPr>
        <p:spPr>
          <a:xfrm>
            <a:off x="571500" y="4124410"/>
            <a:ext cx="4808637" cy="29988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250" u="none" cap="none" strike="noStrike">
                <a:solidFill>
                  <a:srgbClr val="FFD700"/>
                </a:solidFill>
                <a:latin typeface="Arial"/>
                <a:ea typeface="Arial"/>
                <a:cs typeface="Arial"/>
                <a:sym typeface="Arial"/>
              </a:rPr>
              <a:t>Reasons not to make an MCP Server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9" name="Google Shape;369;p14"/>
          <p:cNvSpPr/>
          <p:nvPr/>
        </p:nvSpPr>
        <p:spPr>
          <a:xfrm>
            <a:off x="990600" y="2151534"/>
            <a:ext cx="6371927" cy="3250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21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FF7800"/>
                </a:solidFill>
                <a:latin typeface="Roboto Slab"/>
                <a:ea typeface="Roboto Slab"/>
                <a:cs typeface="Roboto Slab"/>
                <a:sym typeface="Roboto Slab"/>
              </a:rPr>
              <a:t>Allow others to incorporate tool</a:t>
            </a:r>
            <a:r>
              <a:rPr lang="en-US" sz="1800">
                <a:solidFill>
                  <a:srgbClr val="FF7800"/>
                </a:solidFill>
                <a:latin typeface="Roboto Slab"/>
                <a:ea typeface="Roboto Slab"/>
                <a:cs typeface="Roboto Slab"/>
                <a:sym typeface="Roboto Slab"/>
              </a:rPr>
              <a:t>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0" name="Google Shape;370;p14"/>
          <p:cNvSpPr/>
          <p:nvPr/>
        </p:nvSpPr>
        <p:spPr>
          <a:xfrm>
            <a:off x="990600" y="2761134"/>
            <a:ext cx="6081713" cy="3250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21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FF7800"/>
                </a:solidFill>
                <a:latin typeface="Roboto Slab"/>
                <a:ea typeface="Roboto Slab"/>
                <a:cs typeface="Roboto Slab"/>
                <a:sym typeface="Roboto Slab"/>
              </a:rPr>
              <a:t>Consistently incorporate all our MCP Servers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1" name="Google Shape;371;p14"/>
          <p:cNvSpPr/>
          <p:nvPr/>
        </p:nvSpPr>
        <p:spPr>
          <a:xfrm>
            <a:off x="990600" y="3370734"/>
            <a:ext cx="6081713" cy="3250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21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FF7800"/>
                </a:solidFill>
                <a:latin typeface="Roboto Slab"/>
                <a:ea typeface="Roboto Slab"/>
                <a:cs typeface="Roboto Slab"/>
                <a:sym typeface="Roboto Slab"/>
              </a:rPr>
              <a:t>Understand the plumbing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2" name="Google Shape;372;p14"/>
          <p:cNvSpPr/>
          <p:nvPr/>
        </p:nvSpPr>
        <p:spPr>
          <a:xfrm>
            <a:off x="990600" y="4885209"/>
            <a:ext cx="6462713" cy="97512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21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FFD700"/>
                </a:solidFill>
                <a:latin typeface="Roboto Slab"/>
                <a:ea typeface="Roboto Slab"/>
                <a:cs typeface="Roboto Slab"/>
                <a:sym typeface="Roboto Slab"/>
              </a:rPr>
              <a:t>If it's only for us, then we could just make tools -</a:t>
            </a:r>
            <a:br>
              <a:rPr b="0" i="0" lang="en-US" sz="1800" u="none" cap="none" strike="noStrike">
                <a:solidFill>
                  <a:srgbClr val="FFD700"/>
                </a:solidFill>
                <a:latin typeface="Roboto Slab"/>
                <a:ea typeface="Roboto Slab"/>
                <a:cs typeface="Roboto Slab"/>
                <a:sym typeface="Roboto Slab"/>
              </a:rPr>
            </a:br>
            <a:r>
              <a:rPr b="0" i="0" lang="en-US" sz="1800" u="none" cap="none" strike="noStrike">
                <a:solidFill>
                  <a:srgbClr val="FFD700"/>
                </a:solidFill>
                <a:latin typeface="Roboto Slab"/>
                <a:ea typeface="Roboto Slab"/>
                <a:cs typeface="Roboto Slab"/>
                <a:sym typeface="Roboto Slab"/>
              </a:rPr>
              <a:t>the @function_tool decorator can make any function</a:t>
            </a:r>
            <a:br>
              <a:rPr b="0" i="0" lang="en-US" sz="1800" u="none" cap="none" strike="noStrike">
                <a:solidFill>
                  <a:srgbClr val="FFD700"/>
                </a:solidFill>
                <a:latin typeface="Roboto Slab"/>
                <a:ea typeface="Roboto Slab"/>
                <a:cs typeface="Roboto Slab"/>
                <a:sym typeface="Roboto Slab"/>
              </a:rPr>
            </a:br>
            <a:r>
              <a:rPr b="0" i="0" lang="en-US" sz="1800" u="none" cap="none" strike="noStrike">
                <a:solidFill>
                  <a:srgbClr val="FFD700"/>
                </a:solidFill>
                <a:latin typeface="Roboto Slab"/>
                <a:ea typeface="Roboto Slab"/>
                <a:cs typeface="Roboto Slab"/>
                <a:sym typeface="Roboto Slab"/>
              </a:rPr>
              <a:t>into a tool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73" name="Google Shape;373;p14"/>
          <p:cNvCxnSpPr/>
          <p:nvPr/>
        </p:nvCxnSpPr>
        <p:spPr>
          <a:xfrm rot="5400000">
            <a:off x="-150228" y="2973542"/>
            <a:ext cx="1606789" cy="0"/>
          </a:xfrm>
          <a:prstGeom prst="straightConnector1">
            <a:avLst/>
          </a:prstGeom>
          <a:noFill/>
          <a:ln cap="flat" cmpd="sng" w="76200">
            <a:solidFill>
              <a:srgbClr val="FF7800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374" name="Google Shape;374;p14"/>
          <p:cNvCxnSpPr/>
          <p:nvPr/>
        </p:nvCxnSpPr>
        <p:spPr>
          <a:xfrm rot="5400000">
            <a:off x="-146169" y="5584945"/>
            <a:ext cx="1606789" cy="0"/>
          </a:xfrm>
          <a:prstGeom prst="straightConnector1">
            <a:avLst/>
          </a:prstGeom>
          <a:noFill/>
          <a:ln cap="flat" cmpd="sng" w="76200">
            <a:solidFill>
              <a:srgbClr val="FFD700"/>
            </a:solidFill>
            <a:prstDash val="solid"/>
            <a:miter lim="800000"/>
            <a:headEnd len="sm" w="sm" type="none"/>
            <a:tailEnd len="sm" w="sm" type="none"/>
          </a:ln>
        </p:spPr>
      </p:cxn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379" name="Shape 3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0" name="Google Shape;380;p15"/>
          <p:cNvSpPr/>
          <p:nvPr/>
        </p:nvSpPr>
        <p:spPr>
          <a:xfrm>
            <a:off x="257180" y="5695950"/>
            <a:ext cx="5936927" cy="1011761"/>
          </a:xfrm>
          <a:prstGeom prst="rect">
            <a:avLst/>
          </a:prstGeom>
          <a:solidFill>
            <a:srgbClr val="0C0C0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1" name="Google Shape;381;p15"/>
          <p:cNvSpPr/>
          <p:nvPr/>
        </p:nvSpPr>
        <p:spPr>
          <a:xfrm>
            <a:off x="257180" y="2466975"/>
            <a:ext cx="5936927" cy="1011761"/>
          </a:xfrm>
          <a:prstGeom prst="rect">
            <a:avLst/>
          </a:prstGeom>
          <a:solidFill>
            <a:srgbClr val="0C0C0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2" name="Google Shape;382;p15"/>
          <p:cNvSpPr/>
          <p:nvPr/>
        </p:nvSpPr>
        <p:spPr>
          <a:xfrm>
            <a:off x="257180" y="4619625"/>
            <a:ext cx="5936927" cy="1011761"/>
          </a:xfrm>
          <a:prstGeom prst="rect">
            <a:avLst/>
          </a:prstGeom>
          <a:solidFill>
            <a:srgbClr val="0C0C0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3" name="Google Shape;383;p15"/>
          <p:cNvSpPr/>
          <p:nvPr/>
        </p:nvSpPr>
        <p:spPr>
          <a:xfrm>
            <a:off x="257180" y="1390650"/>
            <a:ext cx="5936927" cy="1011761"/>
          </a:xfrm>
          <a:prstGeom prst="rect">
            <a:avLst/>
          </a:prstGeom>
          <a:solidFill>
            <a:srgbClr val="0C0C0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4" name="Google Shape;384;p15"/>
          <p:cNvSpPr/>
          <p:nvPr/>
        </p:nvSpPr>
        <p:spPr>
          <a:xfrm>
            <a:off x="257180" y="3543300"/>
            <a:ext cx="5936927" cy="1011761"/>
          </a:xfrm>
          <a:prstGeom prst="rect">
            <a:avLst/>
          </a:prstGeom>
          <a:solidFill>
            <a:srgbClr val="0C0C0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5" name="Google Shape;385;p15"/>
          <p:cNvSpPr/>
          <p:nvPr/>
        </p:nvSpPr>
        <p:spPr>
          <a:xfrm>
            <a:off x="257180" y="314325"/>
            <a:ext cx="5936927" cy="1011761"/>
          </a:xfrm>
          <a:prstGeom prst="rect">
            <a:avLst/>
          </a:prstGeom>
          <a:solidFill>
            <a:srgbClr val="0C0C0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6" name="Google Shape;386;p15"/>
          <p:cNvSpPr/>
          <p:nvPr/>
        </p:nvSpPr>
        <p:spPr>
          <a:xfrm>
            <a:off x="361950" y="5753695"/>
            <a:ext cx="2048247" cy="17606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215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rPr>
              <a:t>Week 1: Foundations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7" name="Google Shape;387;p15"/>
          <p:cNvSpPr/>
          <p:nvPr/>
        </p:nvSpPr>
        <p:spPr>
          <a:xfrm>
            <a:off x="361950" y="2524720"/>
            <a:ext cx="2048247" cy="17606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215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rPr>
              <a:t>Week 4: LangGraph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8" name="Google Shape;388;p15"/>
          <p:cNvSpPr/>
          <p:nvPr/>
        </p:nvSpPr>
        <p:spPr>
          <a:xfrm>
            <a:off x="361950" y="4677370"/>
            <a:ext cx="2048247" cy="17606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215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rPr>
              <a:t>Week 2: OpenAI Agents SDK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9" name="Google Shape;389;p15"/>
          <p:cNvSpPr/>
          <p:nvPr/>
        </p:nvSpPr>
        <p:spPr>
          <a:xfrm>
            <a:off x="361950" y="1448395"/>
            <a:ext cx="2048247" cy="17606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215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rPr>
              <a:t>Week 5: Agent Frameworks</a:t>
            </a:r>
            <a:endParaRPr i="0" sz="975" u="none" cap="none" strike="noStrike">
              <a:solidFill>
                <a:srgbClr val="FFFFFF"/>
              </a:solidFill>
              <a:latin typeface="Roboto Slab"/>
              <a:ea typeface="Roboto Slab"/>
              <a:cs typeface="Roboto Slab"/>
              <a:sym typeface="Roboto Slab"/>
            </a:endParaRPr>
          </a:p>
        </p:txBody>
      </p:sp>
      <p:sp>
        <p:nvSpPr>
          <p:cNvPr id="390" name="Google Shape;390;p15"/>
          <p:cNvSpPr/>
          <p:nvPr/>
        </p:nvSpPr>
        <p:spPr>
          <a:xfrm>
            <a:off x="361950" y="3601045"/>
            <a:ext cx="2048247" cy="17606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215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rPr>
              <a:t>Week 3: CrewAI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1" name="Google Shape;391;p15"/>
          <p:cNvSpPr/>
          <p:nvPr/>
        </p:nvSpPr>
        <p:spPr>
          <a:xfrm>
            <a:off x="361950" y="372070"/>
            <a:ext cx="2048247" cy="17606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215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rPr>
              <a:t>Week 6: MCP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2" name="Google Shape;392;p15"/>
          <p:cNvSpPr/>
          <p:nvPr/>
        </p:nvSpPr>
        <p:spPr>
          <a:xfrm>
            <a:off x="447680" y="6010275"/>
            <a:ext cx="1002969" cy="610230"/>
          </a:xfrm>
          <a:prstGeom prst="rect">
            <a:avLst/>
          </a:prstGeom>
          <a:solidFill>
            <a:srgbClr val="FF7800"/>
          </a:solidFill>
          <a:ln cap="flat" cmpd="sng" w="25400">
            <a:solidFill>
              <a:srgbClr val="000000">
                <a:alpha val="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3" name="Google Shape;393;p15"/>
          <p:cNvSpPr/>
          <p:nvPr/>
        </p:nvSpPr>
        <p:spPr>
          <a:xfrm>
            <a:off x="447675" y="6084111"/>
            <a:ext cx="1002953" cy="449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Make an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Agentic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Workflow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4" name="Google Shape;394;p15"/>
          <p:cNvSpPr/>
          <p:nvPr/>
        </p:nvSpPr>
        <p:spPr>
          <a:xfrm>
            <a:off x="447680" y="2781300"/>
            <a:ext cx="1002969" cy="610230"/>
          </a:xfrm>
          <a:prstGeom prst="rect">
            <a:avLst/>
          </a:prstGeom>
          <a:solidFill>
            <a:srgbClr val="00BFFF"/>
          </a:solidFill>
          <a:ln cap="flat" cmpd="sng" w="25400">
            <a:solidFill>
              <a:srgbClr val="000000">
                <a:alpha val="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5" name="Google Shape;395;p15"/>
          <p:cNvSpPr/>
          <p:nvPr/>
        </p:nvSpPr>
        <p:spPr>
          <a:xfrm>
            <a:off x="447675" y="2855136"/>
            <a:ext cx="1002953" cy="449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/>
              <a:t>LangChain</a:t>
            </a:r>
            <a:br>
              <a:rPr lang="en-US" sz="1125"/>
            </a:br>
            <a:r>
              <a:rPr lang="en-US" sz="1125"/>
              <a:t>Core</a:t>
            </a:r>
            <a:endParaRPr i="0" sz="1125" u="none" cap="none" strike="noStrike"/>
          </a:p>
        </p:txBody>
      </p:sp>
      <p:sp>
        <p:nvSpPr>
          <p:cNvPr id="396" name="Google Shape;396;p15"/>
          <p:cNvSpPr/>
          <p:nvPr/>
        </p:nvSpPr>
        <p:spPr>
          <a:xfrm>
            <a:off x="447680" y="4933950"/>
            <a:ext cx="1002969" cy="610230"/>
          </a:xfrm>
          <a:prstGeom prst="rect">
            <a:avLst/>
          </a:prstGeom>
          <a:solidFill>
            <a:srgbClr val="00BFFF"/>
          </a:solidFill>
          <a:ln cap="flat" cmpd="sng" w="25400">
            <a:solidFill>
              <a:srgbClr val="000000">
                <a:alpha val="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7" name="Google Shape;397;p15"/>
          <p:cNvSpPr/>
          <p:nvPr/>
        </p:nvSpPr>
        <p:spPr>
          <a:xfrm>
            <a:off x="447675" y="5007786"/>
            <a:ext cx="1002953" cy="449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Understand</a:t>
            </a:r>
            <a:b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OpenAI Agents</a:t>
            </a:r>
            <a:b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SDK concepts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8" name="Google Shape;398;p15"/>
          <p:cNvSpPr/>
          <p:nvPr/>
        </p:nvSpPr>
        <p:spPr>
          <a:xfrm>
            <a:off x="447680" y="1704975"/>
            <a:ext cx="1002969" cy="610230"/>
          </a:xfrm>
          <a:prstGeom prst="rect">
            <a:avLst/>
          </a:prstGeom>
          <a:solidFill>
            <a:srgbClr val="00BFFF"/>
          </a:solidFill>
          <a:ln cap="flat" cmpd="sng" w="25400">
            <a:solidFill>
              <a:srgbClr val="000000">
                <a:alpha val="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9" name="Google Shape;399;p15"/>
          <p:cNvSpPr/>
          <p:nvPr/>
        </p:nvSpPr>
        <p:spPr>
          <a:xfrm>
            <a:off x="447675" y="1778811"/>
            <a:ext cx="1002953" cy="449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/>
              <a:t>Google ADK</a:t>
            </a:r>
            <a:br>
              <a:rPr lang="en-US" sz="1125"/>
            </a:br>
            <a:r>
              <a:rPr lang="en-US" sz="1125"/>
              <a:t>and A2A</a:t>
            </a:r>
            <a:endParaRPr i="0" sz="1125" u="none" cap="none" strike="noStrike"/>
          </a:p>
        </p:txBody>
      </p:sp>
      <p:sp>
        <p:nvSpPr>
          <p:cNvPr id="400" name="Google Shape;400;p15"/>
          <p:cNvSpPr/>
          <p:nvPr/>
        </p:nvSpPr>
        <p:spPr>
          <a:xfrm>
            <a:off x="447680" y="3857625"/>
            <a:ext cx="1002969" cy="610231"/>
          </a:xfrm>
          <a:prstGeom prst="rect">
            <a:avLst/>
          </a:prstGeom>
          <a:solidFill>
            <a:srgbClr val="00BFFF"/>
          </a:solidFill>
          <a:ln cap="flat" cmpd="sng" w="25400">
            <a:solidFill>
              <a:srgbClr val="000000">
                <a:alpha val="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1" name="Google Shape;401;p15"/>
          <p:cNvSpPr/>
          <p:nvPr/>
        </p:nvSpPr>
        <p:spPr>
          <a:xfrm>
            <a:off x="447675" y="3931461"/>
            <a:ext cx="1002953" cy="449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Understand</a:t>
            </a:r>
            <a:b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Crew AI</a:t>
            </a:r>
            <a:b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Concepts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2" name="Google Shape;402;p15"/>
          <p:cNvSpPr/>
          <p:nvPr/>
        </p:nvSpPr>
        <p:spPr>
          <a:xfrm>
            <a:off x="447680" y="628650"/>
            <a:ext cx="1002969" cy="610230"/>
          </a:xfrm>
          <a:prstGeom prst="rect">
            <a:avLst/>
          </a:prstGeom>
          <a:solidFill>
            <a:srgbClr val="FF7800"/>
          </a:solidFill>
          <a:ln cap="flat" cmpd="sng" w="25400">
            <a:solidFill>
              <a:srgbClr val="000000">
                <a:alpha val="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3" name="Google Shape;403;p15"/>
          <p:cNvSpPr/>
          <p:nvPr/>
        </p:nvSpPr>
        <p:spPr>
          <a:xfrm>
            <a:off x="447675" y="702486"/>
            <a:ext cx="1002953" cy="449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Agentic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Architecture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and MCP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4" name="Google Shape;404;p15"/>
          <p:cNvSpPr/>
          <p:nvPr/>
        </p:nvSpPr>
        <p:spPr>
          <a:xfrm>
            <a:off x="1562097" y="6010275"/>
            <a:ext cx="1002982" cy="610230"/>
          </a:xfrm>
          <a:prstGeom prst="rect">
            <a:avLst/>
          </a:prstGeom>
          <a:solidFill>
            <a:srgbClr val="FF7800"/>
          </a:solidFill>
          <a:ln cap="flat" cmpd="sng" w="25400">
            <a:solidFill>
              <a:srgbClr val="000000">
                <a:alpha val="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5" name="Google Shape;405;p15"/>
          <p:cNvSpPr/>
          <p:nvPr/>
        </p:nvSpPr>
        <p:spPr>
          <a:xfrm>
            <a:off x="1562100" y="6084111"/>
            <a:ext cx="1002953" cy="449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Agents and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Agentic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Patterns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6" name="Google Shape;406;p15"/>
          <p:cNvSpPr/>
          <p:nvPr/>
        </p:nvSpPr>
        <p:spPr>
          <a:xfrm>
            <a:off x="1562097" y="2781300"/>
            <a:ext cx="1002982" cy="610230"/>
          </a:xfrm>
          <a:prstGeom prst="rect">
            <a:avLst/>
          </a:prstGeom>
          <a:solidFill>
            <a:srgbClr val="00BFFF"/>
          </a:solidFill>
          <a:ln cap="flat" cmpd="sng" w="25400">
            <a:solidFill>
              <a:srgbClr val="000000">
                <a:alpha val="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7" name="Google Shape;407;p15"/>
          <p:cNvSpPr/>
          <p:nvPr/>
        </p:nvSpPr>
        <p:spPr>
          <a:xfrm>
            <a:off x="1562100" y="2855136"/>
            <a:ext cx="1002953" cy="449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/>
              <a:t>LangGraph</a:t>
            </a:r>
            <a:endParaRPr i="0" sz="1125" u="none" cap="none" strike="noStrike"/>
          </a:p>
        </p:txBody>
      </p:sp>
      <p:sp>
        <p:nvSpPr>
          <p:cNvPr id="408" name="Google Shape;408;p15"/>
          <p:cNvSpPr/>
          <p:nvPr/>
        </p:nvSpPr>
        <p:spPr>
          <a:xfrm>
            <a:off x="1562097" y="4933950"/>
            <a:ext cx="1002982" cy="610230"/>
          </a:xfrm>
          <a:prstGeom prst="rect">
            <a:avLst/>
          </a:prstGeom>
          <a:solidFill>
            <a:srgbClr val="FFD700"/>
          </a:solidFill>
          <a:ln cap="flat" cmpd="sng" w="25400">
            <a:solidFill>
              <a:srgbClr val="000000">
                <a:alpha val="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9" name="Google Shape;409;p15"/>
          <p:cNvSpPr/>
          <p:nvPr/>
        </p:nvSpPr>
        <p:spPr>
          <a:xfrm>
            <a:off x="1562100" y="5083986"/>
            <a:ext cx="1002953" cy="29988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Project 2: an</a:t>
            </a:r>
            <a:b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SDR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0" name="Google Shape;410;p15"/>
          <p:cNvSpPr/>
          <p:nvPr/>
        </p:nvSpPr>
        <p:spPr>
          <a:xfrm>
            <a:off x="1562097" y="1704975"/>
            <a:ext cx="1002982" cy="610230"/>
          </a:xfrm>
          <a:prstGeom prst="rect">
            <a:avLst/>
          </a:prstGeom>
          <a:solidFill>
            <a:srgbClr val="00BFFF"/>
          </a:solidFill>
          <a:ln cap="flat" cmpd="sng" w="25400">
            <a:solidFill>
              <a:srgbClr val="000000">
                <a:alpha val="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1" name="Google Shape;411;p15"/>
          <p:cNvSpPr/>
          <p:nvPr/>
        </p:nvSpPr>
        <p:spPr>
          <a:xfrm>
            <a:off x="1562100" y="1778811"/>
            <a:ext cx="1002953" cy="449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/>
              <a:t>Strands and</a:t>
            </a:r>
            <a:br>
              <a:rPr lang="en-US" sz="1125"/>
            </a:br>
            <a:r>
              <a:rPr lang="en-US" sz="1125"/>
              <a:t>Pydantic AI</a:t>
            </a:r>
            <a:endParaRPr i="0" sz="1125" u="none" cap="none" strike="noStrike"/>
          </a:p>
        </p:txBody>
      </p:sp>
      <p:sp>
        <p:nvSpPr>
          <p:cNvPr id="412" name="Google Shape;412;p15"/>
          <p:cNvSpPr/>
          <p:nvPr/>
        </p:nvSpPr>
        <p:spPr>
          <a:xfrm>
            <a:off x="1562097" y="3857625"/>
            <a:ext cx="1002982" cy="610231"/>
          </a:xfrm>
          <a:prstGeom prst="rect">
            <a:avLst/>
          </a:prstGeom>
          <a:solidFill>
            <a:srgbClr val="00BFFF"/>
          </a:solidFill>
          <a:ln cap="flat" cmpd="sng" w="25400">
            <a:solidFill>
              <a:srgbClr val="000000">
                <a:alpha val="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3" name="Google Shape;413;p15"/>
          <p:cNvSpPr/>
          <p:nvPr/>
        </p:nvSpPr>
        <p:spPr>
          <a:xfrm>
            <a:off x="1562100" y="4007661"/>
            <a:ext cx="1002953" cy="29988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Build a Crew</a:t>
            </a:r>
            <a:b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Agent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4" name="Google Shape;414;p15"/>
          <p:cNvSpPr/>
          <p:nvPr/>
        </p:nvSpPr>
        <p:spPr>
          <a:xfrm>
            <a:off x="1562097" y="628650"/>
            <a:ext cx="1002982" cy="610230"/>
          </a:xfrm>
          <a:prstGeom prst="rect">
            <a:avLst/>
          </a:prstGeom>
          <a:solidFill>
            <a:srgbClr val="00BFFF"/>
          </a:solidFill>
          <a:ln cap="flat" cmpd="sng" w="25400">
            <a:solidFill>
              <a:srgbClr val="000000">
                <a:alpha val="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5" name="Google Shape;415;p15"/>
          <p:cNvSpPr/>
          <p:nvPr/>
        </p:nvSpPr>
        <p:spPr>
          <a:xfrm>
            <a:off x="1562100" y="702486"/>
            <a:ext cx="1002953" cy="449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>
                <a:solidFill>
                  <a:srgbClr val="FFFFFF"/>
                </a:solidFill>
              </a:rPr>
              <a:t>Building</a:t>
            </a:r>
            <a:br>
              <a:rPr lang="en-US" sz="1125">
                <a:solidFill>
                  <a:srgbClr val="FFFFFF"/>
                </a:solidFill>
              </a:rPr>
            </a:br>
            <a:r>
              <a:rPr lang="en-US" sz="1125">
                <a:solidFill>
                  <a:srgbClr val="FFFFFF"/>
                </a:solidFill>
              </a:rPr>
              <a:t>MCP Server</a:t>
            </a:r>
            <a:endParaRPr i="0" sz="1125" u="none" cap="none" strike="noStrike">
              <a:solidFill>
                <a:srgbClr val="FFFFFF"/>
              </a:solidFill>
            </a:endParaRPr>
          </a:p>
        </p:txBody>
      </p:sp>
      <p:sp>
        <p:nvSpPr>
          <p:cNvPr id="416" name="Google Shape;416;p15"/>
          <p:cNvSpPr/>
          <p:nvPr/>
        </p:nvSpPr>
        <p:spPr>
          <a:xfrm>
            <a:off x="2676528" y="6010275"/>
            <a:ext cx="1002969" cy="610230"/>
          </a:xfrm>
          <a:prstGeom prst="rect">
            <a:avLst/>
          </a:prstGeom>
          <a:solidFill>
            <a:srgbClr val="FF7800"/>
          </a:solidFill>
          <a:ln cap="flat" cmpd="sng" w="25400">
            <a:solidFill>
              <a:srgbClr val="000000">
                <a:alpha val="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7" name="Google Shape;417;p15"/>
          <p:cNvSpPr/>
          <p:nvPr/>
        </p:nvSpPr>
        <p:spPr>
          <a:xfrm>
            <a:off x="2676525" y="6160311"/>
            <a:ext cx="1002953" cy="29988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Orchestrating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LLMs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8" name="Google Shape;418;p15"/>
          <p:cNvSpPr/>
          <p:nvPr/>
        </p:nvSpPr>
        <p:spPr>
          <a:xfrm>
            <a:off x="2676528" y="2781300"/>
            <a:ext cx="1002969" cy="610230"/>
          </a:xfrm>
          <a:prstGeom prst="rect">
            <a:avLst/>
          </a:prstGeom>
          <a:solidFill>
            <a:srgbClr val="00BFFF"/>
          </a:solidFill>
          <a:ln cap="flat" cmpd="sng" w="25400">
            <a:solidFill>
              <a:srgbClr val="000000">
                <a:alpha val="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9" name="Google Shape;419;p15"/>
          <p:cNvSpPr/>
          <p:nvPr/>
        </p:nvSpPr>
        <p:spPr>
          <a:xfrm>
            <a:off x="2676525" y="2931336"/>
            <a:ext cx="1002953" cy="29988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/>
              <a:t>LangChain</a:t>
            </a:r>
            <a:br>
              <a:rPr lang="en-US" sz="1125"/>
            </a:br>
            <a:r>
              <a:rPr lang="en-US" sz="1125"/>
              <a:t>create_agent</a:t>
            </a:r>
            <a:endParaRPr i="0" sz="1125" u="none" cap="none" strike="noStrike"/>
          </a:p>
        </p:txBody>
      </p:sp>
      <p:sp>
        <p:nvSpPr>
          <p:cNvPr id="420" name="Google Shape;420;p15"/>
          <p:cNvSpPr/>
          <p:nvPr/>
        </p:nvSpPr>
        <p:spPr>
          <a:xfrm>
            <a:off x="2667000" y="4933950"/>
            <a:ext cx="1002982" cy="610230"/>
          </a:xfrm>
          <a:prstGeom prst="rect">
            <a:avLst/>
          </a:prstGeom>
          <a:solidFill>
            <a:srgbClr val="00BFFF"/>
          </a:solidFill>
          <a:ln cap="flat" cmpd="sng" w="25400">
            <a:solidFill>
              <a:srgbClr val="000000">
                <a:alpha val="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1" name="Google Shape;421;p15"/>
          <p:cNvSpPr/>
          <p:nvPr/>
        </p:nvSpPr>
        <p:spPr>
          <a:xfrm>
            <a:off x="2667000" y="5083986"/>
            <a:ext cx="1002953" cy="29988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Tools vs Agents</a:t>
            </a:r>
            <a:b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Guardrails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2" name="Google Shape;422;p15"/>
          <p:cNvSpPr/>
          <p:nvPr/>
        </p:nvSpPr>
        <p:spPr>
          <a:xfrm>
            <a:off x="2676528" y="1704975"/>
            <a:ext cx="1002969" cy="610230"/>
          </a:xfrm>
          <a:prstGeom prst="rect">
            <a:avLst/>
          </a:prstGeom>
          <a:solidFill>
            <a:srgbClr val="00BFFF"/>
          </a:solidFill>
          <a:ln cap="flat" cmpd="sng" w="25400">
            <a:solidFill>
              <a:srgbClr val="000000">
                <a:alpha val="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3" name="Google Shape;423;p15"/>
          <p:cNvSpPr/>
          <p:nvPr/>
        </p:nvSpPr>
        <p:spPr>
          <a:xfrm>
            <a:off x="2676525" y="1855011"/>
            <a:ext cx="1002953" cy="29988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/>
              <a:t>MAF and</a:t>
            </a:r>
            <a:br>
              <a:rPr lang="en-US" sz="1125"/>
            </a:br>
            <a:r>
              <a:rPr lang="en-US" sz="1125"/>
              <a:t>Agno</a:t>
            </a:r>
            <a:endParaRPr i="0" sz="1125" u="none" cap="none" strike="noStrike"/>
          </a:p>
        </p:txBody>
      </p:sp>
      <p:sp>
        <p:nvSpPr>
          <p:cNvPr id="424" name="Google Shape;424;p15"/>
          <p:cNvSpPr/>
          <p:nvPr/>
        </p:nvSpPr>
        <p:spPr>
          <a:xfrm>
            <a:off x="2676528" y="3857625"/>
            <a:ext cx="1002969" cy="610231"/>
          </a:xfrm>
          <a:prstGeom prst="rect">
            <a:avLst/>
          </a:prstGeom>
          <a:solidFill>
            <a:srgbClr val="FFD700"/>
          </a:solidFill>
          <a:ln cap="flat" cmpd="sng" w="25400">
            <a:solidFill>
              <a:srgbClr val="000000">
                <a:alpha val="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5" name="Google Shape;425;p15"/>
          <p:cNvSpPr/>
          <p:nvPr/>
        </p:nvSpPr>
        <p:spPr>
          <a:xfrm>
            <a:off x="2676525" y="4007661"/>
            <a:ext cx="1002953" cy="29988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Project 4: Stock</a:t>
            </a:r>
            <a:b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Picker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6" name="Google Shape;426;p15"/>
          <p:cNvSpPr/>
          <p:nvPr/>
        </p:nvSpPr>
        <p:spPr>
          <a:xfrm>
            <a:off x="2676528" y="628650"/>
            <a:ext cx="1002969" cy="610230"/>
          </a:xfrm>
          <a:prstGeom prst="rect">
            <a:avLst/>
          </a:prstGeom>
          <a:solidFill>
            <a:srgbClr val="00BFFF">
              <a:alpha val="34902"/>
            </a:srgbClr>
          </a:solidFill>
          <a:ln cap="flat" cmpd="sng" w="25400">
            <a:solidFill>
              <a:srgbClr val="00BFF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7" name="Google Shape;427;p15"/>
          <p:cNvSpPr/>
          <p:nvPr/>
        </p:nvSpPr>
        <p:spPr>
          <a:xfrm>
            <a:off x="2676525" y="702486"/>
            <a:ext cx="1002953" cy="449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>
                <a:solidFill>
                  <a:srgbClr val="FFFFFF"/>
                </a:solidFill>
              </a:rPr>
              <a:t>Context</a:t>
            </a:r>
            <a:br>
              <a:rPr lang="en-US" sz="1125">
                <a:solidFill>
                  <a:srgbClr val="FFFFFF"/>
                </a:solidFill>
              </a:rPr>
            </a:br>
            <a:r>
              <a:rPr lang="en-US" sz="1125">
                <a:solidFill>
                  <a:srgbClr val="FFFFFF"/>
                </a:solidFill>
              </a:rPr>
              <a:t>Engineering</a:t>
            </a:r>
            <a:br>
              <a:rPr lang="en-US" sz="1125">
                <a:solidFill>
                  <a:srgbClr val="FFFFFF"/>
                </a:solidFill>
              </a:rPr>
            </a:br>
            <a:r>
              <a:rPr lang="en-US" sz="1125">
                <a:solidFill>
                  <a:srgbClr val="FFFFFF"/>
                </a:solidFill>
              </a:rPr>
              <a:t>with MCP</a:t>
            </a:r>
            <a:endParaRPr i="0" sz="1125" u="none" cap="none" strike="noStrike">
              <a:solidFill>
                <a:srgbClr val="FFFFFF"/>
              </a:solidFill>
            </a:endParaRPr>
          </a:p>
        </p:txBody>
      </p:sp>
      <p:sp>
        <p:nvSpPr>
          <p:cNvPr id="428" name="Google Shape;428;p15"/>
          <p:cNvSpPr/>
          <p:nvPr/>
        </p:nvSpPr>
        <p:spPr>
          <a:xfrm>
            <a:off x="3819528" y="6010275"/>
            <a:ext cx="1002969" cy="610230"/>
          </a:xfrm>
          <a:prstGeom prst="rect">
            <a:avLst/>
          </a:prstGeom>
          <a:solidFill>
            <a:srgbClr val="FF7800"/>
          </a:solidFill>
          <a:ln cap="flat" cmpd="sng" w="25400">
            <a:solidFill>
              <a:srgbClr val="000000">
                <a:alpha val="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9" name="Google Shape;429;p15"/>
          <p:cNvSpPr/>
          <p:nvPr/>
        </p:nvSpPr>
        <p:spPr>
          <a:xfrm>
            <a:off x="3819525" y="6160311"/>
            <a:ext cx="1002953" cy="29988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Autonomy and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Tools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0" name="Google Shape;430;p15"/>
          <p:cNvSpPr/>
          <p:nvPr/>
        </p:nvSpPr>
        <p:spPr>
          <a:xfrm>
            <a:off x="3819528" y="2781300"/>
            <a:ext cx="1002969" cy="610230"/>
          </a:xfrm>
          <a:prstGeom prst="rect">
            <a:avLst/>
          </a:prstGeom>
          <a:solidFill>
            <a:srgbClr val="00BFFF"/>
          </a:solidFill>
          <a:ln cap="flat" cmpd="sng" w="25400">
            <a:solidFill>
              <a:srgbClr val="000000">
                <a:alpha val="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1" name="Google Shape;431;p15"/>
          <p:cNvSpPr/>
          <p:nvPr/>
        </p:nvSpPr>
        <p:spPr>
          <a:xfrm>
            <a:off x="3819525" y="2931336"/>
            <a:ext cx="1002953" cy="29988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/>
              <a:t>Deep Agents</a:t>
            </a:r>
            <a:endParaRPr i="0" sz="1125" u="none" cap="none" strike="noStrike"/>
          </a:p>
        </p:txBody>
      </p:sp>
      <p:sp>
        <p:nvSpPr>
          <p:cNvPr id="432" name="Google Shape;432;p15"/>
          <p:cNvSpPr/>
          <p:nvPr/>
        </p:nvSpPr>
        <p:spPr>
          <a:xfrm>
            <a:off x="3819528" y="4933950"/>
            <a:ext cx="1002969" cy="610230"/>
          </a:xfrm>
          <a:prstGeom prst="rect">
            <a:avLst/>
          </a:prstGeom>
          <a:solidFill>
            <a:srgbClr val="FFD700"/>
          </a:solidFill>
          <a:ln cap="flat" cmpd="sng" w="25400">
            <a:solidFill>
              <a:srgbClr val="000000">
                <a:alpha val="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3" name="Google Shape;433;p15"/>
          <p:cNvSpPr/>
          <p:nvPr/>
        </p:nvSpPr>
        <p:spPr>
          <a:xfrm>
            <a:off x="3819525" y="5083986"/>
            <a:ext cx="1002953" cy="29988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Project 3: Deep</a:t>
            </a:r>
            <a:b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Research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4" name="Google Shape;434;p15"/>
          <p:cNvSpPr/>
          <p:nvPr/>
        </p:nvSpPr>
        <p:spPr>
          <a:xfrm>
            <a:off x="3819528" y="1704975"/>
            <a:ext cx="1002969" cy="610230"/>
          </a:xfrm>
          <a:prstGeom prst="rect">
            <a:avLst/>
          </a:prstGeom>
          <a:solidFill>
            <a:srgbClr val="00BFFF"/>
          </a:solidFill>
          <a:ln cap="flat" cmpd="sng" w="25400">
            <a:solidFill>
              <a:srgbClr val="000000">
                <a:alpha val="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5" name="Google Shape;435;p15"/>
          <p:cNvSpPr/>
          <p:nvPr/>
        </p:nvSpPr>
        <p:spPr>
          <a:xfrm>
            <a:off x="3819525" y="1855011"/>
            <a:ext cx="1002953" cy="29988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/>
              <a:t>Mastra</a:t>
            </a:r>
            <a:endParaRPr i="0" sz="1125" u="none" cap="none" strike="noStrike"/>
          </a:p>
        </p:txBody>
      </p:sp>
      <p:sp>
        <p:nvSpPr>
          <p:cNvPr id="436" name="Google Shape;436;p15"/>
          <p:cNvSpPr/>
          <p:nvPr/>
        </p:nvSpPr>
        <p:spPr>
          <a:xfrm>
            <a:off x="3819528" y="3857625"/>
            <a:ext cx="1002969" cy="610231"/>
          </a:xfrm>
          <a:prstGeom prst="rect">
            <a:avLst/>
          </a:prstGeom>
          <a:solidFill>
            <a:srgbClr val="FFD700"/>
          </a:solidFill>
          <a:ln cap="flat" cmpd="sng" w="25400">
            <a:solidFill>
              <a:srgbClr val="000000">
                <a:alpha val="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7" name="Google Shape;437;p15"/>
          <p:cNvSpPr/>
          <p:nvPr/>
        </p:nvSpPr>
        <p:spPr>
          <a:xfrm>
            <a:off x="3819525" y="3931461"/>
            <a:ext cx="1002953" cy="449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Project 5:</a:t>
            </a:r>
            <a:b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Developer</a:t>
            </a:r>
            <a:b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Agent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8" name="Google Shape;438;p15"/>
          <p:cNvSpPr/>
          <p:nvPr/>
        </p:nvSpPr>
        <p:spPr>
          <a:xfrm>
            <a:off x="3819528" y="628650"/>
            <a:ext cx="1002969" cy="610230"/>
          </a:xfrm>
          <a:prstGeom prst="rect">
            <a:avLst/>
          </a:prstGeom>
          <a:noFill/>
          <a:ln cap="flat" cmpd="sng" w="25400">
            <a:solidFill>
              <a:srgbClr val="FFD7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9" name="Google Shape;439;p15"/>
          <p:cNvSpPr/>
          <p:nvPr/>
        </p:nvSpPr>
        <p:spPr>
          <a:xfrm>
            <a:off x="3819525" y="778686"/>
            <a:ext cx="1002953" cy="29988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Project 8: AI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Equity Traders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0" name="Google Shape;440;p15"/>
          <p:cNvSpPr/>
          <p:nvPr/>
        </p:nvSpPr>
        <p:spPr>
          <a:xfrm>
            <a:off x="4953000" y="6010275"/>
            <a:ext cx="1002982" cy="610230"/>
          </a:xfrm>
          <a:prstGeom prst="rect">
            <a:avLst/>
          </a:prstGeom>
          <a:solidFill>
            <a:srgbClr val="FFD700"/>
          </a:solidFill>
          <a:ln cap="flat" cmpd="sng" w="25400">
            <a:solidFill>
              <a:srgbClr val="000000">
                <a:alpha val="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1" name="Google Shape;441;p15"/>
          <p:cNvSpPr/>
          <p:nvPr/>
        </p:nvSpPr>
        <p:spPr>
          <a:xfrm>
            <a:off x="4953000" y="6084111"/>
            <a:ext cx="1002953" cy="449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Project 1:</a:t>
            </a:r>
            <a:b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Your personal</a:t>
            </a:r>
            <a:b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career agent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2" name="Google Shape;442;p15"/>
          <p:cNvSpPr/>
          <p:nvPr/>
        </p:nvSpPr>
        <p:spPr>
          <a:xfrm>
            <a:off x="4953000" y="2781300"/>
            <a:ext cx="1002982" cy="610230"/>
          </a:xfrm>
          <a:prstGeom prst="rect">
            <a:avLst/>
          </a:prstGeom>
          <a:solidFill>
            <a:srgbClr val="FFD700"/>
          </a:solidFill>
          <a:ln cap="flat" cmpd="sng" w="25400">
            <a:solidFill>
              <a:srgbClr val="000000">
                <a:alpha val="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3" name="Google Shape;443;p15"/>
          <p:cNvSpPr/>
          <p:nvPr/>
        </p:nvSpPr>
        <p:spPr>
          <a:xfrm>
            <a:off x="4953000" y="2855136"/>
            <a:ext cx="1002953" cy="449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/>
              <a:t>Project 6:</a:t>
            </a:r>
            <a:br>
              <a:rPr lang="en-US" sz="1125"/>
            </a:br>
            <a:r>
              <a:rPr lang="en-US" sz="1125"/>
              <a:t>Sidekick</a:t>
            </a:r>
            <a:endParaRPr i="0" sz="1125" u="none" cap="none" strike="noStrike"/>
          </a:p>
        </p:txBody>
      </p:sp>
      <p:sp>
        <p:nvSpPr>
          <p:cNvPr id="444" name="Google Shape;444;p15"/>
          <p:cNvSpPr/>
          <p:nvPr/>
        </p:nvSpPr>
        <p:spPr>
          <a:xfrm>
            <a:off x="4953000" y="4933950"/>
            <a:ext cx="1002982" cy="610230"/>
          </a:xfrm>
          <a:prstGeom prst="rect">
            <a:avLst/>
          </a:prstGeom>
          <a:solidFill>
            <a:srgbClr val="FFD700"/>
          </a:solidFill>
          <a:ln cap="flat" cmpd="sng" w="25400">
            <a:solidFill>
              <a:srgbClr val="000000">
                <a:alpha val="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5" name="Google Shape;445;p15"/>
          <p:cNvSpPr/>
          <p:nvPr/>
        </p:nvSpPr>
        <p:spPr>
          <a:xfrm>
            <a:off x="4953000" y="5083986"/>
            <a:ext cx="1002953" cy="29988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Project 3: Deep</a:t>
            </a:r>
            <a:b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Research app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6" name="Google Shape;446;p15"/>
          <p:cNvSpPr/>
          <p:nvPr/>
        </p:nvSpPr>
        <p:spPr>
          <a:xfrm>
            <a:off x="4953000" y="1704975"/>
            <a:ext cx="1002982" cy="610230"/>
          </a:xfrm>
          <a:prstGeom prst="rect">
            <a:avLst/>
          </a:prstGeom>
          <a:solidFill>
            <a:srgbClr val="FFD700"/>
          </a:solidFill>
          <a:ln cap="flat" cmpd="sng" w="25400">
            <a:solidFill>
              <a:srgbClr val="000000">
                <a:alpha val="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7" name="Google Shape;447;p15"/>
          <p:cNvSpPr/>
          <p:nvPr/>
        </p:nvSpPr>
        <p:spPr>
          <a:xfrm>
            <a:off x="4953000" y="1778811"/>
            <a:ext cx="1002953" cy="449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/>
              <a:t>Project 7:</a:t>
            </a:r>
            <a:br>
              <a:rPr lang="en-US" sz="1125"/>
            </a:br>
            <a:r>
              <a:rPr lang="en-US" sz="1125"/>
              <a:t>Agent Loop</a:t>
            </a:r>
            <a:endParaRPr i="0" sz="1125" u="none" cap="none" strike="noStrike"/>
          </a:p>
        </p:txBody>
      </p:sp>
      <p:sp>
        <p:nvSpPr>
          <p:cNvPr id="448" name="Google Shape;448;p15"/>
          <p:cNvSpPr/>
          <p:nvPr/>
        </p:nvSpPr>
        <p:spPr>
          <a:xfrm>
            <a:off x="4953000" y="3857625"/>
            <a:ext cx="1002982" cy="610231"/>
          </a:xfrm>
          <a:prstGeom prst="rect">
            <a:avLst/>
          </a:prstGeom>
          <a:solidFill>
            <a:srgbClr val="FFD700"/>
          </a:solidFill>
          <a:ln cap="flat" cmpd="sng" w="25400">
            <a:solidFill>
              <a:srgbClr val="000000">
                <a:alpha val="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9" name="Google Shape;449;p15"/>
          <p:cNvSpPr/>
          <p:nvPr/>
        </p:nvSpPr>
        <p:spPr>
          <a:xfrm>
            <a:off x="4953000" y="3931461"/>
            <a:ext cx="1002953" cy="449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Project 5:</a:t>
            </a:r>
            <a:b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Engineering</a:t>
            </a:r>
            <a:b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Team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0" name="Google Shape;450;p15"/>
          <p:cNvSpPr/>
          <p:nvPr/>
        </p:nvSpPr>
        <p:spPr>
          <a:xfrm>
            <a:off x="4953000" y="628650"/>
            <a:ext cx="1002982" cy="610230"/>
          </a:xfrm>
          <a:prstGeom prst="rect">
            <a:avLst/>
          </a:prstGeom>
          <a:noFill/>
          <a:ln cap="flat" cmpd="sng" w="25400">
            <a:solidFill>
              <a:srgbClr val="FFD7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1" name="Google Shape;451;p15"/>
          <p:cNvSpPr/>
          <p:nvPr/>
        </p:nvSpPr>
        <p:spPr>
          <a:xfrm>
            <a:off x="4953000" y="702486"/>
            <a:ext cx="1002953" cy="449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Project 8: AI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Equity Traders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In Action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456" name="Shape 4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7" name="Google Shape;457;p16"/>
          <p:cNvSpPr/>
          <p:nvPr/>
        </p:nvSpPr>
        <p:spPr>
          <a:xfrm>
            <a:off x="4572000" y="0"/>
            <a:ext cx="2609100" cy="6858000"/>
          </a:xfrm>
          <a:prstGeom prst="rect">
            <a:avLst/>
          </a:prstGeom>
          <a:solidFill>
            <a:srgbClr val="00BFFF">
              <a:alpha val="349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8" name="Google Shape;458;p16"/>
          <p:cNvSpPr txBox="1"/>
          <p:nvPr/>
        </p:nvSpPr>
        <p:spPr>
          <a:xfrm>
            <a:off x="4730495" y="260604"/>
            <a:ext cx="2450700" cy="627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AI Engineer Agentic Track</a:t>
            </a:r>
            <a:endParaRPr b="1" sz="240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solidFill>
                <a:srgbClr val="FFFFF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The Complete</a:t>
            </a:r>
            <a:endParaRPr sz="2100">
              <a:solidFill>
                <a:srgbClr val="FFFFF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Agent &amp; MCP</a:t>
            </a:r>
            <a:endParaRPr sz="2100">
              <a:solidFill>
                <a:srgbClr val="FFFFF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Course</a:t>
            </a:r>
            <a:endParaRPr sz="2100">
              <a:solidFill>
                <a:srgbClr val="FFFFF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solidFill>
                <a:srgbClr val="FFFFF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solidFill>
                <a:srgbClr val="FFFFF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solidFill>
                <a:srgbClr val="FFFFF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solidFill>
                <a:srgbClr val="FFFFF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solidFill>
                <a:srgbClr val="FFFFF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solidFill>
                <a:srgbClr val="FFFFF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solidFill>
                <a:srgbClr val="FFFFF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solidFill>
                <a:srgbClr val="FFFFF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500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90%</a:t>
            </a:r>
            <a:endParaRPr sz="6500">
              <a:solidFill>
                <a:srgbClr val="FFFFF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Complete</a:t>
            </a:r>
            <a:endParaRPr sz="2000">
              <a:solidFill>
                <a:srgbClr val="FFFFF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FFFFF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459" name="Google Shape;459;p16" title="04_wX_2-2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4572001" cy="685800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11A9E2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11A9E2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