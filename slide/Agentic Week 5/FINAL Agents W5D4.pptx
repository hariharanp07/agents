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embeddedFontLst>
    <p:embeddedFont>
      <p:font typeface="Roboto Slab"/>
      <p:regular r:id="rId13"/>
      <p:bold r:id="rId14"/>
    </p:embeddedFont>
    <p:embeddedFont>
      <p:font typeface="Montserrat SemiBold"/>
      <p:regular r:id="rId15"/>
      <p:bold r:id="rId16"/>
      <p:italic r:id="rId17"/>
      <p:boldItalic r:id="rId18"/>
    </p:embeddedFont>
    <p:embeddedFont>
      <p:font typeface="Montserra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11" Type="http://schemas.openxmlformats.org/officeDocument/2006/relationships/slide" Target="slides/slide7.xml"/><Relationship Id="rId22" Type="http://schemas.openxmlformats.org/officeDocument/2006/relationships/font" Target="fonts/Montserrat-boldItalic.fntdata"/><Relationship Id="rId10" Type="http://schemas.openxmlformats.org/officeDocument/2006/relationships/slide" Target="slides/slide6.xml"/><Relationship Id="rId21" Type="http://schemas.openxmlformats.org/officeDocument/2006/relationships/font" Target="fonts/Montserrat-italic.fntdata"/><Relationship Id="rId13" Type="http://schemas.openxmlformats.org/officeDocument/2006/relationships/font" Target="fonts/RobotoSlab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SemiBold-regular.fntdata"/><Relationship Id="rId14" Type="http://schemas.openxmlformats.org/officeDocument/2006/relationships/font" Target="fonts/RobotoSlab-bold.fntdata"/><Relationship Id="rId17" Type="http://schemas.openxmlformats.org/officeDocument/2006/relationships/font" Target="fonts/MontserratSemiBold-italic.fntdata"/><Relationship Id="rId16" Type="http://schemas.openxmlformats.org/officeDocument/2006/relationships/font" Target="fonts/MontserratSemiBold-bold.fntdata"/><Relationship Id="rId5" Type="http://schemas.openxmlformats.org/officeDocument/2006/relationships/slide" Target="slides/slide1.xml"/><Relationship Id="rId19" Type="http://schemas.openxmlformats.org/officeDocument/2006/relationships/font" Target="fonts/Montserrat-regular.fntdata"/><Relationship Id="rId6" Type="http://schemas.openxmlformats.org/officeDocument/2006/relationships/slide" Target="slides/slide2.xml"/><Relationship Id="rId18" Type="http://schemas.openxmlformats.org/officeDocument/2006/relationships/font" Target="fonts/MontserratSemiBold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coverIn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" name="Google Shape;13;coverIn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coverIn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ec6bbbda5d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g3ec6bbbda5d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g3ec6bbbda5d_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w5d4_slide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w5d4_slide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w5d4_slide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w5d4_slide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w5d4_slide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w5d4_slide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w5d4_slide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w5d4_slide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w5d4_slide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w5d4_slide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w5d4_slide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w5d4_slide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enmap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enmap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enmap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coverOut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coverOut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coverOut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4730496" y="260604"/>
            <a:ext cx="24510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5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4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" name="Google Shape;18;p3" title="w5d4_intr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1999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80" y="569595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80" y="46196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80" y="354330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80" y="3143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361950" y="575369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61950" y="46773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1950" y="360104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3720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47680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47675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768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7675" y="50077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80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8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562097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15621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562097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15621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62097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562100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62097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5621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2676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2676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266700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2667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2676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2676525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6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67652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819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3819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819528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3819525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819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381952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3819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3819525" y="7786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953000" y="601027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49530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953000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4953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953000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953000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95300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49530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257174" y="246697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61950" y="252472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4767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47675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 Core</a:t>
            </a:r>
            <a:endParaRPr sz="1125"/>
          </a:p>
        </p:txBody>
      </p:sp>
      <p:sp>
        <p:nvSpPr>
          <p:cNvPr id="76" name="Google Shape;76;p4"/>
          <p:cNvSpPr/>
          <p:nvPr/>
        </p:nvSpPr>
        <p:spPr>
          <a:xfrm>
            <a:off x="1562101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15621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267652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2676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endParaRPr sz="1125"/>
          </a:p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create_agent</a:t>
            </a:r>
            <a:endParaRPr sz="1125"/>
          </a:p>
        </p:txBody>
      </p:sp>
      <p:sp>
        <p:nvSpPr>
          <p:cNvPr id="80" name="Google Shape;80;p4"/>
          <p:cNvSpPr/>
          <p:nvPr/>
        </p:nvSpPr>
        <p:spPr>
          <a:xfrm>
            <a:off x="3819524" y="2781300"/>
            <a:ext cx="1002900" cy="610200"/>
          </a:xfrm>
          <a:prstGeom prst="rect">
            <a:avLst/>
          </a:prstGeom>
          <a:solidFill>
            <a:srgbClr val="00BE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819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sz="1125"/>
          </a:p>
        </p:txBody>
      </p:sp>
      <p:sp>
        <p:nvSpPr>
          <p:cNvPr id="82" name="Google Shape;82;p4"/>
          <p:cNvSpPr/>
          <p:nvPr/>
        </p:nvSpPr>
        <p:spPr>
          <a:xfrm>
            <a:off x="4953000" y="278130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530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5" name="Google Shape;85;p4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Google ADK and A2A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Strands and Pydantic AI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MAF and</a:t>
              </a:r>
              <a:endParaRPr sz="1125"/>
            </a:p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Agno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Mastra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Introducing Mastra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The TypeScript-native agent framework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963168" y="2095119"/>
            <a:ext cx="36600" cy="29832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" name="Google Shape;105;p5"/>
          <p:cNvGrpSpPr/>
          <p:nvPr/>
        </p:nvGrpSpPr>
        <p:grpSpPr>
          <a:xfrm>
            <a:off x="890016" y="1851660"/>
            <a:ext cx="5510664" cy="617100"/>
            <a:chOff x="890016" y="1851660"/>
            <a:chExt cx="5510664" cy="617100"/>
          </a:xfrm>
        </p:grpSpPr>
        <p:sp>
          <p:nvSpPr>
            <p:cNvPr id="106" name="Google Shape;106;p5"/>
            <p:cNvSpPr txBox="1"/>
            <p:nvPr/>
          </p:nvSpPr>
          <p:spPr>
            <a:xfrm>
              <a:off x="1402080" y="185166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What it is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agents in TS/JS, open source from the Gatsby team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890016" y="200939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" name="Google Shape;108;p5"/>
          <p:cNvGrpSpPr/>
          <p:nvPr/>
        </p:nvGrpSpPr>
        <p:grpSpPr>
          <a:xfrm>
            <a:off x="890016" y="2846070"/>
            <a:ext cx="5510664" cy="617100"/>
            <a:chOff x="890016" y="2846070"/>
            <a:chExt cx="5510664" cy="617100"/>
          </a:xfrm>
        </p:grpSpPr>
        <p:sp>
          <p:nvSpPr>
            <p:cNvPr id="109" name="Google Shape;109;p5"/>
            <p:cNvSpPr txBox="1"/>
            <p:nvPr/>
          </p:nvSpPr>
          <p:spPr>
            <a:xfrm>
              <a:off x="1402080" y="284607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Standout trait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local dev experience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890016" y="3003804"/>
              <a:ext cx="170700" cy="171600"/>
            </a:xfrm>
            <a:prstGeom prst="ellipse">
              <a:avLst/>
            </a:prstGeom>
            <a:solidFill>
              <a:srgbClr val="FFD7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" name="Google Shape;111;p5"/>
          <p:cNvGrpSpPr/>
          <p:nvPr/>
        </p:nvGrpSpPr>
        <p:grpSpPr>
          <a:xfrm>
            <a:off x="890016" y="3840480"/>
            <a:ext cx="5510664" cy="617100"/>
            <a:chOff x="890016" y="3840480"/>
            <a:chExt cx="5510664" cy="617100"/>
          </a:xfrm>
        </p:grpSpPr>
        <p:sp>
          <p:nvSpPr>
            <p:cNvPr id="112" name="Google Shape;112;p5"/>
            <p:cNvSpPr txBox="1"/>
            <p:nvPr/>
          </p:nvSpPr>
          <p:spPr>
            <a:xfrm>
              <a:off x="1402080" y="384048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Language and model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TypeScript on Node 24, model openai/gpt-5.4-mini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890016" y="399821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" name="Google Shape;114;p5"/>
          <p:cNvGrpSpPr/>
          <p:nvPr/>
        </p:nvGrpSpPr>
        <p:grpSpPr>
          <a:xfrm>
            <a:off x="890016" y="4834890"/>
            <a:ext cx="5510664" cy="617100"/>
            <a:chOff x="890016" y="4834890"/>
            <a:chExt cx="5510664" cy="617100"/>
          </a:xfrm>
        </p:grpSpPr>
        <p:sp>
          <p:nvSpPr>
            <p:cNvPr id="115" name="Google Shape;115;p5"/>
            <p:cNvSpPr txBox="1"/>
            <p:nvPr/>
          </p:nvSpPr>
          <p:spPr>
            <a:xfrm>
              <a:off x="1402080" y="483489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Maturity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@mastra/core 1.42, stable since v1.0 in January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890016" y="499262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Mastra: key features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23" name="Google Shape;123;p6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What stands out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4" name="Google Shape;124;p6"/>
          <p:cNvGrpSpPr/>
          <p:nvPr/>
        </p:nvGrpSpPr>
        <p:grpSpPr>
          <a:xfrm>
            <a:off x="896112" y="1714500"/>
            <a:ext cx="5504568" cy="617100"/>
            <a:chOff x="896112" y="1714500"/>
            <a:chExt cx="5504568" cy="617100"/>
          </a:xfrm>
        </p:grpSpPr>
        <p:sp>
          <p:nvSpPr>
            <p:cNvPr id="125" name="Google Shape;125;p6"/>
            <p:cNvSpPr txBox="1"/>
            <p:nvPr/>
          </p:nvSpPr>
          <p:spPr>
            <a:xfrm>
              <a:off x="1402080" y="17145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Tools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createTool with zod input and output schemas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26" name="Google Shape;126;p6" title="wrench_b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6112" y="178384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" name="Google Shape;127;p6"/>
          <p:cNvGrpSpPr/>
          <p:nvPr/>
        </p:nvGrpSpPr>
        <p:grpSpPr>
          <a:xfrm>
            <a:off x="896112" y="2571750"/>
            <a:ext cx="5504568" cy="617100"/>
            <a:chOff x="896112" y="2571750"/>
            <a:chExt cx="5504568" cy="617100"/>
          </a:xfrm>
        </p:grpSpPr>
        <p:sp>
          <p:nvSpPr>
            <p:cNvPr id="128" name="Google Shape;128;p6"/>
            <p:cNvSpPr txBox="1"/>
            <p:nvPr/>
          </p:nvSpPr>
          <p:spPr>
            <a:xfrm>
              <a:off x="1402080" y="257175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MCP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MCPClient servers map, mcp.listTools() onto the agent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29" name="Google Shape;129;p6" title="plug_b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6112" y="264109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" name="Google Shape;130;p6"/>
          <p:cNvGrpSpPr/>
          <p:nvPr/>
        </p:nvGrpSpPr>
        <p:grpSpPr>
          <a:xfrm>
            <a:off x="896112" y="3429000"/>
            <a:ext cx="5504568" cy="617100"/>
            <a:chOff x="896112" y="3429000"/>
            <a:chExt cx="5504568" cy="617100"/>
          </a:xfrm>
        </p:grpSpPr>
        <p:sp>
          <p:nvSpPr>
            <p:cNvPr id="131" name="Google Shape;131;p6"/>
            <p:cNvSpPr txBox="1"/>
            <p:nvPr/>
          </p:nvSpPr>
          <p:spPr>
            <a:xfrm>
              <a:off x="1402080" y="34290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loop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agent.generate() runs the tool loop to completion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32" name="Google Shape;132;p6" title="loop_b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96112" y="349834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3" name="Google Shape;133;p6"/>
          <p:cNvGrpSpPr/>
          <p:nvPr/>
        </p:nvGrpSpPr>
        <p:grpSpPr>
          <a:xfrm>
            <a:off x="896112" y="4286250"/>
            <a:ext cx="5504568" cy="617100"/>
            <a:chOff x="896112" y="4286250"/>
            <a:chExt cx="5504568" cy="617100"/>
          </a:xfrm>
        </p:grpSpPr>
        <p:sp>
          <p:nvSpPr>
            <p:cNvPr id="134" name="Google Shape;134;p6"/>
            <p:cNvSpPr txBox="1"/>
            <p:nvPr/>
          </p:nvSpPr>
          <p:spPr>
            <a:xfrm>
              <a:off x="1402080" y="428625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Studio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mastra dev opens a UI to watch tool calls live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35" name="Google Shape;135;p6" title="browser_g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96112" y="435559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" name="Google Shape;136;p6"/>
          <p:cNvGrpSpPr/>
          <p:nvPr/>
        </p:nvGrpSpPr>
        <p:grpSpPr>
          <a:xfrm>
            <a:off x="896112" y="5143500"/>
            <a:ext cx="5504568" cy="617100"/>
            <a:chOff x="896112" y="5143500"/>
            <a:chExt cx="5504568" cy="617100"/>
          </a:xfrm>
        </p:grpSpPr>
        <p:sp>
          <p:nvSpPr>
            <p:cNvPr id="137" name="Google Shape;137;p6"/>
            <p:cNvSpPr txBox="1"/>
            <p:nvPr/>
          </p:nvSpPr>
          <p:spPr>
            <a:xfrm>
              <a:off x="1402080" y="51435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Any model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Vercel AI SDK routes dozens of providers by string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38" name="Google Shape;138;p6" title="chip_b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96112" y="521284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Mastra: the trade-offs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Strengths and drawbacks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963168" y="1855089"/>
            <a:ext cx="36600" cy="3429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" name="Google Shape;147;p7"/>
          <p:cNvGrpSpPr/>
          <p:nvPr/>
        </p:nvGrpSpPr>
        <p:grpSpPr>
          <a:xfrm>
            <a:off x="890016" y="1611630"/>
            <a:ext cx="5510664" cy="617100"/>
            <a:chOff x="890016" y="1611630"/>
            <a:chExt cx="5510664" cy="617100"/>
          </a:xfrm>
        </p:grpSpPr>
        <p:sp>
          <p:nvSpPr>
            <p:cNvPr id="148" name="Google Shape;148;p7"/>
            <p:cNvSpPr txBox="1"/>
            <p:nvPr/>
          </p:nvSpPr>
          <p:spPr>
            <a:xfrm>
              <a:off x="1402080" y="16116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Best DX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Studio is a real, polished local debugging UI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890016" y="1769364"/>
              <a:ext cx="170700" cy="171600"/>
            </a:xfrm>
            <a:prstGeom prst="ellipse">
              <a:avLst/>
            </a:prstGeom>
            <a:solidFill>
              <a:srgbClr val="FFD7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" name="Google Shape;150;p7"/>
          <p:cNvGrpSpPr/>
          <p:nvPr/>
        </p:nvGrpSpPr>
        <p:grpSpPr>
          <a:xfrm>
            <a:off x="890016" y="2449830"/>
            <a:ext cx="5510664" cy="617100"/>
            <a:chOff x="890016" y="2449830"/>
            <a:chExt cx="5510664" cy="617100"/>
          </a:xfrm>
        </p:grpSpPr>
        <p:sp>
          <p:nvSpPr>
            <p:cNvPr id="151" name="Google Shape;151;p7"/>
            <p:cNvSpPr txBox="1"/>
            <p:nvPr/>
          </p:nvSpPr>
          <p:spPr>
            <a:xfrm>
              <a:off x="1402080" y="24498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True TypeScript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the same idioms reach the large JS/TS world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890016" y="260756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" name="Google Shape;153;p7"/>
          <p:cNvGrpSpPr/>
          <p:nvPr/>
        </p:nvGrpSpPr>
        <p:grpSpPr>
          <a:xfrm>
            <a:off x="890016" y="3364230"/>
            <a:ext cx="5510664" cy="617100"/>
            <a:chOff x="890016" y="3364230"/>
            <a:chExt cx="5510664" cy="617100"/>
          </a:xfrm>
        </p:grpSpPr>
        <p:sp>
          <p:nvSpPr>
            <p:cNvPr id="154" name="Google Shape;154;p7"/>
            <p:cNvSpPr txBox="1"/>
            <p:nvPr/>
          </p:nvSpPr>
          <p:spPr>
            <a:xfrm>
              <a:off x="1402080" y="33642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Model-agnostic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swap providers with a string or one-line provider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55" name="Google Shape;155;p7"/>
            <p:cNvSpPr/>
            <p:nvPr/>
          </p:nvSpPr>
          <p:spPr>
            <a:xfrm>
              <a:off x="890016" y="352196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" name="Google Shape;156;p7"/>
          <p:cNvGrpSpPr/>
          <p:nvPr/>
        </p:nvGrpSpPr>
        <p:grpSpPr>
          <a:xfrm>
            <a:off x="890016" y="4126230"/>
            <a:ext cx="5510664" cy="617100"/>
            <a:chOff x="890016" y="4126230"/>
            <a:chExt cx="5510664" cy="617100"/>
          </a:xfrm>
        </p:grpSpPr>
        <p:sp>
          <p:nvSpPr>
            <p:cNvPr id="157" name="Google Shape;157;p7"/>
            <p:cNvSpPr txBox="1"/>
            <p:nvPr/>
          </p:nvSpPr>
          <p:spPr>
            <a:xfrm>
              <a:off x="1402080" y="41262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More ceremony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register agents and run via tsx or the dev server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890016" y="4283964"/>
              <a:ext cx="170700" cy="171600"/>
            </a:xfrm>
            <a:prstGeom prst="ellipse">
              <a:avLst/>
            </a:prstGeom>
            <a:solidFill>
              <a:srgbClr val="FF7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" name="Google Shape;159;p7"/>
          <p:cNvGrpSpPr/>
          <p:nvPr/>
        </p:nvGrpSpPr>
        <p:grpSpPr>
          <a:xfrm>
            <a:off x="890016" y="5040630"/>
            <a:ext cx="5510664" cy="617100"/>
            <a:chOff x="890016" y="5040630"/>
            <a:chExt cx="5510664" cy="617100"/>
          </a:xfrm>
        </p:grpSpPr>
        <p:sp>
          <p:nvSpPr>
            <p:cNvPr id="160" name="Google Shape;160;p7"/>
            <p:cNvSpPr txBox="1"/>
            <p:nvPr/>
          </p:nvSpPr>
          <p:spPr>
            <a:xfrm>
              <a:off x="1402080" y="50406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Fast-moving API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the 0.x to 1.x rename leaves old snippets wrong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61" name="Google Shape;161;p7"/>
            <p:cNvSpPr/>
            <p:nvPr/>
          </p:nvSpPr>
          <p:spPr>
            <a:xfrm>
              <a:off x="890016" y="5198364"/>
              <a:ext cx="170700" cy="171600"/>
            </a:xfrm>
            <a:prstGeom prst="ellipse">
              <a:avLst/>
            </a:prstGeom>
            <a:solidFill>
              <a:srgbClr val="FF7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Everything you learned, now in TypeScript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D700"/>
                </a:solidFill>
                <a:latin typeface="Montserrat"/>
                <a:ea typeface="Montserrat"/>
                <a:cs typeface="Montserrat"/>
                <a:sym typeface="Montserrat"/>
              </a:rPr>
              <a:t>The same steps, now in TypeScript</a:t>
            </a:r>
            <a:endParaRPr sz="1800">
              <a:solidFill>
                <a:srgbClr val="FFD7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963168" y="2095119"/>
            <a:ext cx="36600" cy="29832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0" name="Google Shape;170;p8"/>
          <p:cNvGrpSpPr/>
          <p:nvPr/>
        </p:nvGrpSpPr>
        <p:grpSpPr>
          <a:xfrm>
            <a:off x="890016" y="1851660"/>
            <a:ext cx="5510664" cy="617100"/>
            <a:chOff x="890016" y="1851660"/>
            <a:chExt cx="5510664" cy="617100"/>
          </a:xfrm>
        </p:grpSpPr>
        <p:sp>
          <p:nvSpPr>
            <p:cNvPr id="171" name="Google Shape;171;p8"/>
            <p:cNvSpPr txBox="1"/>
            <p:nvPr/>
          </p:nvSpPr>
          <p:spPr>
            <a:xfrm>
              <a:off x="1402080" y="185166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Create and run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new Agent with a model, then agent.generate()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890016" y="200939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3" name="Google Shape;173;p8"/>
          <p:cNvGrpSpPr/>
          <p:nvPr/>
        </p:nvGrpSpPr>
        <p:grpSpPr>
          <a:xfrm>
            <a:off x="890016" y="2846070"/>
            <a:ext cx="5510664" cy="617100"/>
            <a:chOff x="890016" y="2846070"/>
            <a:chExt cx="5510664" cy="617100"/>
          </a:xfrm>
        </p:grpSpPr>
        <p:sp>
          <p:nvSpPr>
            <p:cNvPr id="174" name="Google Shape;174;p8"/>
            <p:cNvSpPr txBox="1"/>
            <p:nvPr/>
          </p:nvSpPr>
          <p:spPr>
            <a:xfrm>
              <a:off x="1402080" y="284607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Add tools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createTool, typed with zod instead of Pydantic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890016" y="300380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6" name="Google Shape;176;p8"/>
          <p:cNvGrpSpPr/>
          <p:nvPr/>
        </p:nvGrpSpPr>
        <p:grpSpPr>
          <a:xfrm>
            <a:off x="890016" y="3840480"/>
            <a:ext cx="5510664" cy="617100"/>
            <a:chOff x="890016" y="3840480"/>
            <a:chExt cx="5510664" cy="617100"/>
          </a:xfrm>
        </p:grpSpPr>
        <p:sp>
          <p:nvSpPr>
            <p:cNvPr id="177" name="Google Shape;177;p8"/>
            <p:cNvSpPr txBox="1"/>
            <p:nvPr/>
          </p:nvSpPr>
          <p:spPr>
            <a:xfrm>
              <a:off x="1402080" y="384048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Add MCP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the same filesystem server through MCPClient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890016" y="399821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" name="Google Shape;179;p8"/>
          <p:cNvGrpSpPr/>
          <p:nvPr/>
        </p:nvGrpSpPr>
        <p:grpSpPr>
          <a:xfrm>
            <a:off x="890016" y="4834890"/>
            <a:ext cx="5510664" cy="617100"/>
            <a:chOff x="890016" y="4834890"/>
            <a:chExt cx="5510664" cy="617100"/>
          </a:xfrm>
        </p:grpSpPr>
        <p:sp>
          <p:nvSpPr>
            <p:cNvPr id="180" name="Google Shape;180;p8"/>
            <p:cNvSpPr txBox="1"/>
            <p:nvPr/>
          </p:nvSpPr>
          <p:spPr>
            <a:xfrm>
              <a:off x="1402080" y="483489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Loop with a goal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hand it the goal, the agent works the board to done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890016" y="499262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/>
          <p:nvPr/>
        </p:nvSpPr>
        <p:spPr>
          <a:xfrm>
            <a:off x="257180" y="569595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257180" y="46196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257180" y="354330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257180" y="3143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361950" y="575369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361950" y="46773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361950" y="360104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361950" y="3720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447680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447675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44768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447675" y="50077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447680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44767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44768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44767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1562097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15621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1562097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15621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1562097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1562100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1562097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15621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2676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2676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266700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2667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2676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2676525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2676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267652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3819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3819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3819528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3819525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3819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381952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3819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3819525" y="7786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4953000" y="601027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49530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4953000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4953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4953000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4953000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495300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49530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257174" y="246697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361950" y="252472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44767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447675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 Core</a:t>
            </a:r>
            <a:endParaRPr sz="1125"/>
          </a:p>
        </p:txBody>
      </p:sp>
      <p:sp>
        <p:nvSpPr>
          <p:cNvPr id="239" name="Google Shape;239;p9"/>
          <p:cNvSpPr/>
          <p:nvPr/>
        </p:nvSpPr>
        <p:spPr>
          <a:xfrm>
            <a:off x="1562101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15621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267652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2676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endParaRPr sz="1125"/>
          </a:p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create_agent</a:t>
            </a:r>
            <a:endParaRPr sz="1125"/>
          </a:p>
        </p:txBody>
      </p:sp>
      <p:sp>
        <p:nvSpPr>
          <p:cNvPr id="243" name="Google Shape;243;p9"/>
          <p:cNvSpPr/>
          <p:nvPr/>
        </p:nvSpPr>
        <p:spPr>
          <a:xfrm>
            <a:off x="3819524" y="2781300"/>
            <a:ext cx="1002900" cy="610200"/>
          </a:xfrm>
          <a:prstGeom prst="rect">
            <a:avLst/>
          </a:prstGeom>
          <a:solidFill>
            <a:srgbClr val="00BE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3819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sz="1125"/>
          </a:p>
        </p:txBody>
      </p:sp>
      <p:sp>
        <p:nvSpPr>
          <p:cNvPr id="245" name="Google Shape;245;p9"/>
          <p:cNvSpPr/>
          <p:nvPr/>
        </p:nvSpPr>
        <p:spPr>
          <a:xfrm>
            <a:off x="4953000" y="278130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49530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7" name="Google Shape;247;p9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248" name="Google Shape;248;p9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9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9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9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Google ADK and A2A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9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9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Strands and Pydantic AI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9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9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MAF and</a:t>
              </a:r>
              <a:endParaRPr sz="1125"/>
            </a:p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Agno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9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9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Mastra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9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solidFill>
              <a:srgbClr val="FFD700">
                <a:alpha val="34900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9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 txBox="1"/>
          <p:nvPr/>
        </p:nvSpPr>
        <p:spPr>
          <a:xfrm>
            <a:off x="4730496" y="260604"/>
            <a:ext cx="24510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80%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67" name="Google Shape;267;p10" title="w5d4_outr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