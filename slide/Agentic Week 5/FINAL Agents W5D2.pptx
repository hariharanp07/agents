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embeddedFontLst>
    <p:embeddedFont>
      <p:font typeface="Roboto Slab"/>
      <p:regular r:id="rId15"/>
      <p:bold r:id="rId16"/>
    </p:embeddedFont>
    <p:embeddedFont>
      <p:font typeface="Montserrat SemiBold"/>
      <p:regular r:id="rId17"/>
      <p:bold r:id="rId18"/>
      <p:italic r:id="rId19"/>
      <p:boldItalic r:id="rId20"/>
    </p:embeddedFont>
    <p:embeddedFont>
      <p:font typeface="Montserrat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boldItalic.fntdata"/><Relationship Id="rId11" Type="http://schemas.openxmlformats.org/officeDocument/2006/relationships/slide" Target="slides/slide7.xml"/><Relationship Id="rId22" Type="http://schemas.openxmlformats.org/officeDocument/2006/relationships/font" Target="fonts/Montserrat-bold.fntdata"/><Relationship Id="rId10" Type="http://schemas.openxmlformats.org/officeDocument/2006/relationships/slide" Target="slides/slide6.xml"/><Relationship Id="rId21" Type="http://schemas.openxmlformats.org/officeDocument/2006/relationships/font" Target="fonts/Montserrat-regular.fntdata"/><Relationship Id="rId13" Type="http://schemas.openxmlformats.org/officeDocument/2006/relationships/slide" Target="slides/slide9.xml"/><Relationship Id="rId24" Type="http://schemas.openxmlformats.org/officeDocument/2006/relationships/font" Target="fonts/Montserrat-boldItalic.fntdata"/><Relationship Id="rId12" Type="http://schemas.openxmlformats.org/officeDocument/2006/relationships/slide" Target="slides/slide8.xml"/><Relationship Id="rId23" Type="http://schemas.openxmlformats.org/officeDocument/2006/relationships/font" Target="fonts/Montserrat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Slab-regular.fntdata"/><Relationship Id="rId14" Type="http://schemas.openxmlformats.org/officeDocument/2006/relationships/slide" Target="slides/slide10.xml"/><Relationship Id="rId17" Type="http://schemas.openxmlformats.org/officeDocument/2006/relationships/font" Target="fonts/MontserratSemiBold-regular.fntdata"/><Relationship Id="rId16" Type="http://schemas.openxmlformats.org/officeDocument/2006/relationships/font" Target="fonts/RobotoSlab-bold.fntdata"/><Relationship Id="rId5" Type="http://schemas.openxmlformats.org/officeDocument/2006/relationships/slide" Target="slides/slide1.xml"/><Relationship Id="rId19" Type="http://schemas.openxmlformats.org/officeDocument/2006/relationships/font" Target="fonts/MontserratSemiBold-italic.fntdata"/><Relationship Id="rId6" Type="http://schemas.openxmlformats.org/officeDocument/2006/relationships/slide" Target="slides/slide2.xml"/><Relationship Id="rId18" Type="http://schemas.openxmlformats.org/officeDocument/2006/relationships/font" Target="fonts/MontserratSemiBold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coverIn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" name="Google Shape;13;coverIn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coverIn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ec6bbbda5d_4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g3ec6bbbda5d_4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g3ec6bbbda5d_4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w5d2_slide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w5d2_slide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w5d2_slide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w5d2_slide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w5d2_slide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w5d2_slide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w5d2_slide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w5d2_slide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w5d2_slide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w5d2_slide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w5d2_slide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w5d2_slide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w5d2_slide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w5d2_slide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w5d2_slide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w5d2_slide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w5d2_slide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w5d2_slide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enmap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enmap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enmap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coverOut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coverOut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coverOut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9.png"/><Relationship Id="rId7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11.png"/><Relationship Id="rId7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0" y="0"/>
            <a:ext cx="2609100" cy="68580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/>
        </p:nvSpPr>
        <p:spPr>
          <a:xfrm>
            <a:off x="4730496" y="260604"/>
            <a:ext cx="2451000" cy="6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5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2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8" name="Google Shape;18;p3" title="w5d2_intr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257180" y="5695950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257180" y="461962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257180" y="3543300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257180" y="31432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361950" y="5753695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361950" y="467737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61950" y="3601045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61950" y="37207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47680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447675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47680" y="493395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47675" y="50077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47680" y="3857625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47675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47680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47675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562097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1562100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562097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15621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562097" y="3857625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1562100" y="400766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562097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1562100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2676528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2676525" y="616031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2667000" y="493395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26670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2676528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2676525" y="400766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2676528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2676525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3819528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3819525" y="616031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3819528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3819525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3819528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3819525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3819528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3819525" y="7786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4953000" y="601027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4953000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4953000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49530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4953000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4953000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4953000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4953000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257174" y="246697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361950" y="252472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447674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447675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 Core</a:t>
            </a:r>
            <a:endParaRPr sz="1125"/>
          </a:p>
        </p:txBody>
      </p:sp>
      <p:sp>
        <p:nvSpPr>
          <p:cNvPr id="76" name="Google Shape;76;p4"/>
          <p:cNvSpPr/>
          <p:nvPr/>
        </p:nvSpPr>
        <p:spPr>
          <a:xfrm>
            <a:off x="1562101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1562100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LangGraph</a:t>
            </a:r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2676524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2676525" y="293133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endParaRPr sz="1125"/>
          </a:p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create_agent</a:t>
            </a:r>
            <a:endParaRPr sz="1125"/>
          </a:p>
        </p:txBody>
      </p:sp>
      <p:sp>
        <p:nvSpPr>
          <p:cNvPr id="80" name="Google Shape;80;p4"/>
          <p:cNvSpPr/>
          <p:nvPr/>
        </p:nvSpPr>
        <p:spPr>
          <a:xfrm>
            <a:off x="3819524" y="2781300"/>
            <a:ext cx="1002900" cy="610200"/>
          </a:xfrm>
          <a:prstGeom prst="rect">
            <a:avLst/>
          </a:prstGeom>
          <a:solidFill>
            <a:srgbClr val="00BE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3819525" y="293133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Deep Agents</a:t>
            </a:r>
            <a:endParaRPr sz="1125"/>
          </a:p>
        </p:txBody>
      </p:sp>
      <p:sp>
        <p:nvSpPr>
          <p:cNvPr id="82" name="Google Shape;82;p4"/>
          <p:cNvSpPr/>
          <p:nvPr/>
        </p:nvSpPr>
        <p:spPr>
          <a:xfrm>
            <a:off x="4953000" y="278130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4953000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" name="Google Shape;84;p4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85" name="Google Shape;85;p4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solidFill>
              <a:srgbClr val="00BFFF"/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/>
                <a:t>Google ADK and A2A</a:t>
              </a:r>
              <a:endParaRPr b="0" i="0" sz="1800" u="none" cap="none" strike="noStrike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Strands and Pydantic AI</a:t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MAF and</a:t>
              </a:r>
              <a:endParaRPr sz="1125">
                <a:solidFill>
                  <a:srgbClr val="FFFFFF"/>
                </a:solidFill>
              </a:endParaRPr>
            </a:p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Agno</a:t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Mastra</a:t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 txBox="1"/>
          <p:nvPr/>
        </p:nvSpPr>
        <p:spPr>
          <a:xfrm>
            <a:off x="573024" y="582930"/>
            <a:ext cx="877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Introducing AWS Strands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03" name="Google Shape;103;p5"/>
          <p:cNvSpPr txBox="1"/>
          <p:nvPr/>
        </p:nvSpPr>
        <p:spPr>
          <a:xfrm>
            <a:off x="585216" y="1152144"/>
            <a:ext cx="755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Very lightweight</a:t>
            </a:r>
            <a:endParaRPr sz="180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963168" y="2095119"/>
            <a:ext cx="36600" cy="29832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5" name="Google Shape;105;p5"/>
          <p:cNvGrpSpPr/>
          <p:nvPr/>
        </p:nvGrpSpPr>
        <p:grpSpPr>
          <a:xfrm>
            <a:off x="890016" y="1851660"/>
            <a:ext cx="5510664" cy="617100"/>
            <a:chOff x="890016" y="1851660"/>
            <a:chExt cx="5510664" cy="617100"/>
          </a:xfrm>
        </p:grpSpPr>
        <p:sp>
          <p:nvSpPr>
            <p:cNvPr id="106" name="Google Shape;106;p5"/>
            <p:cNvSpPr txBox="1"/>
            <p:nvPr/>
          </p:nvSpPr>
          <p:spPr>
            <a:xfrm>
              <a:off x="1402080" y="185166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What it is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AWS's lightweight model-driven agent SDK, open source under Apache 2.0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07" name="Google Shape;107;p5"/>
            <p:cNvSpPr/>
            <p:nvPr/>
          </p:nvSpPr>
          <p:spPr>
            <a:xfrm>
              <a:off x="890016" y="200939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" name="Google Shape;108;p5"/>
          <p:cNvGrpSpPr/>
          <p:nvPr/>
        </p:nvGrpSpPr>
        <p:grpSpPr>
          <a:xfrm>
            <a:off x="890016" y="2846070"/>
            <a:ext cx="5510664" cy="617100"/>
            <a:chOff x="890016" y="2846070"/>
            <a:chExt cx="5510664" cy="617100"/>
          </a:xfrm>
        </p:grpSpPr>
        <p:sp>
          <p:nvSpPr>
            <p:cNvPr id="109" name="Google Shape;109;p5"/>
            <p:cNvSpPr txBox="1"/>
            <p:nvPr/>
          </p:nvSpPr>
          <p:spPr>
            <a:xfrm>
              <a:off x="1402080" y="284607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Standout trait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write tools once, swap the backing provider in a single line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10" name="Google Shape;110;p5"/>
            <p:cNvSpPr/>
            <p:nvPr/>
          </p:nvSpPr>
          <p:spPr>
            <a:xfrm>
              <a:off x="890016" y="3003804"/>
              <a:ext cx="170700" cy="171600"/>
            </a:xfrm>
            <a:prstGeom prst="ellipse">
              <a:avLst/>
            </a:prstGeom>
            <a:solidFill>
              <a:srgbClr val="FFD7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" name="Google Shape;111;p5"/>
          <p:cNvGrpSpPr/>
          <p:nvPr/>
        </p:nvGrpSpPr>
        <p:grpSpPr>
          <a:xfrm>
            <a:off x="890016" y="3840480"/>
            <a:ext cx="5510664" cy="617100"/>
            <a:chOff x="890016" y="3840480"/>
            <a:chExt cx="5510664" cy="617100"/>
          </a:xfrm>
        </p:grpSpPr>
        <p:sp>
          <p:nvSpPr>
            <p:cNvPr id="112" name="Google Shape;112;p5"/>
            <p:cNvSpPr txBox="1"/>
            <p:nvPr/>
          </p:nvSpPr>
          <p:spPr>
            <a:xfrm>
              <a:off x="1402080" y="384048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Bedrock first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But we swap in gpt-5.4-mini via OpenAIModel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890016" y="399821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" name="Google Shape;114;p5"/>
          <p:cNvGrpSpPr/>
          <p:nvPr/>
        </p:nvGrpSpPr>
        <p:grpSpPr>
          <a:xfrm>
            <a:off x="890016" y="4834890"/>
            <a:ext cx="5510664" cy="617100"/>
            <a:chOff x="890016" y="4834890"/>
            <a:chExt cx="5510664" cy="617100"/>
          </a:xfrm>
        </p:grpSpPr>
        <p:sp>
          <p:nvSpPr>
            <p:cNvPr id="115" name="Google Shape;115;p5"/>
            <p:cNvSpPr txBox="1"/>
            <p:nvPr/>
          </p:nvSpPr>
          <p:spPr>
            <a:xfrm>
              <a:off x="1402080" y="483489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Maturity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GA since July 2025, Python SDK 1.43.0 with weekly releases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890016" y="499262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/>
          <p:nvPr/>
        </p:nvSpPr>
        <p:spPr>
          <a:xfrm>
            <a:off x="573024" y="582930"/>
            <a:ext cx="877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AWS Strands: key features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23" name="Google Shape;123;p6"/>
          <p:cNvSpPr txBox="1"/>
          <p:nvPr/>
        </p:nvSpPr>
        <p:spPr>
          <a:xfrm>
            <a:off x="585216" y="1152144"/>
            <a:ext cx="755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What stands out</a:t>
            </a:r>
            <a:endParaRPr sz="180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24" name="Google Shape;124;p6"/>
          <p:cNvGrpSpPr/>
          <p:nvPr/>
        </p:nvGrpSpPr>
        <p:grpSpPr>
          <a:xfrm>
            <a:off x="896112" y="1714500"/>
            <a:ext cx="5504568" cy="617100"/>
            <a:chOff x="896112" y="1714500"/>
            <a:chExt cx="5504568" cy="617100"/>
          </a:xfrm>
        </p:grpSpPr>
        <p:sp>
          <p:nvSpPr>
            <p:cNvPr id="125" name="Google Shape;125;p6"/>
            <p:cNvSpPr txBox="1"/>
            <p:nvPr/>
          </p:nvSpPr>
          <p:spPr>
            <a:xfrm>
              <a:off x="1402080" y="171450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Tools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a typed function plus a docstring under @tool, schema derived for you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26" name="Google Shape;126;p6" title="wrench_b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96112" y="178384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7" name="Google Shape;127;p6"/>
          <p:cNvGrpSpPr/>
          <p:nvPr/>
        </p:nvGrpSpPr>
        <p:grpSpPr>
          <a:xfrm>
            <a:off x="896112" y="2571750"/>
            <a:ext cx="5504568" cy="617100"/>
            <a:chOff x="896112" y="2571750"/>
            <a:chExt cx="5504568" cy="617100"/>
          </a:xfrm>
        </p:grpSpPr>
        <p:sp>
          <p:nvSpPr>
            <p:cNvPr id="128" name="Google Shape;128;p6"/>
            <p:cNvSpPr txBox="1"/>
            <p:nvPr/>
          </p:nvSpPr>
          <p:spPr>
            <a:xfrm>
              <a:off x="1402080" y="257175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MCP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MCPClient passed into Agent(tools=[fs]), managed lifecycle handles it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29" name="Google Shape;129;p6" title="plug_b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96112" y="264109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0" name="Google Shape;130;p6"/>
          <p:cNvGrpSpPr/>
          <p:nvPr/>
        </p:nvGrpSpPr>
        <p:grpSpPr>
          <a:xfrm>
            <a:off x="896112" y="3429000"/>
            <a:ext cx="5504568" cy="617100"/>
            <a:chOff x="896112" y="3429000"/>
            <a:chExt cx="5504568" cy="617100"/>
          </a:xfrm>
        </p:grpSpPr>
        <p:sp>
          <p:nvSpPr>
            <p:cNvPr id="131" name="Google Shape;131;p6"/>
            <p:cNvSpPr txBox="1"/>
            <p:nvPr/>
          </p:nvSpPr>
          <p:spPr>
            <a:xfrm>
              <a:off x="1402080" y="342900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loop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hand it a task and tools, the model plans, calls, observes, repeats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32" name="Google Shape;132;p6" title="loop_b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96112" y="349834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3" name="Google Shape;133;p6"/>
          <p:cNvGrpSpPr/>
          <p:nvPr/>
        </p:nvGrpSpPr>
        <p:grpSpPr>
          <a:xfrm>
            <a:off x="896112" y="4286250"/>
            <a:ext cx="5504568" cy="617100"/>
            <a:chOff x="896112" y="4286250"/>
            <a:chExt cx="5504568" cy="617100"/>
          </a:xfrm>
        </p:grpSpPr>
        <p:sp>
          <p:nvSpPr>
            <p:cNvPr id="134" name="Google Shape;134;p6"/>
            <p:cNvSpPr txBox="1"/>
            <p:nvPr/>
          </p:nvSpPr>
          <p:spPr>
            <a:xfrm>
              <a:off x="1402080" y="428625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Provider swap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one OpenAIModel line points at OpenAI, Ollama, Bedrock or any endpoint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35" name="Google Shape;135;p6" title="swap_g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96112" y="435559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6" name="Google Shape;136;p6"/>
          <p:cNvGrpSpPr/>
          <p:nvPr/>
        </p:nvGrpSpPr>
        <p:grpSpPr>
          <a:xfrm>
            <a:off x="896112" y="5143500"/>
            <a:ext cx="5504568" cy="617100"/>
            <a:chOff x="896112" y="5143500"/>
            <a:chExt cx="5504568" cy="617100"/>
          </a:xfrm>
        </p:grpSpPr>
        <p:sp>
          <p:nvSpPr>
            <p:cNvPr id="137" name="Google Shape;137;p6"/>
            <p:cNvSpPr txBox="1"/>
            <p:nvPr/>
          </p:nvSpPr>
          <p:spPr>
            <a:xfrm>
              <a:off x="1402080" y="514350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Observability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stream_async emits every tool call, plus OpenTelemetry traces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38" name="Google Shape;138;p6" title="eye_g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96112" y="521284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 txBox="1"/>
          <p:nvPr/>
        </p:nvSpPr>
        <p:spPr>
          <a:xfrm>
            <a:off x="573024" y="582930"/>
            <a:ext cx="877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AWS Strands: the trade-offs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45" name="Google Shape;145;p7"/>
          <p:cNvSpPr txBox="1"/>
          <p:nvPr/>
        </p:nvSpPr>
        <p:spPr>
          <a:xfrm>
            <a:off x="585216" y="1152144"/>
            <a:ext cx="755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Advantages, downsides</a:t>
            </a:r>
            <a:endParaRPr sz="180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966975" y="1855100"/>
            <a:ext cx="32700" cy="30729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7" name="Google Shape;147;p7"/>
          <p:cNvGrpSpPr/>
          <p:nvPr/>
        </p:nvGrpSpPr>
        <p:grpSpPr>
          <a:xfrm>
            <a:off x="890016" y="1611630"/>
            <a:ext cx="5510664" cy="617100"/>
            <a:chOff x="890016" y="1611630"/>
            <a:chExt cx="5510664" cy="617100"/>
          </a:xfrm>
        </p:grpSpPr>
        <p:sp>
          <p:nvSpPr>
            <p:cNvPr id="148" name="Google Shape;148;p7"/>
            <p:cNvSpPr txBox="1"/>
            <p:nvPr/>
          </p:nvSpPr>
          <p:spPr>
            <a:xfrm>
              <a:off x="1402080" y="16116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Any provider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the one-line model swap is cleaner here than almost anywhere else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49" name="Google Shape;149;p7"/>
            <p:cNvSpPr/>
            <p:nvPr/>
          </p:nvSpPr>
          <p:spPr>
            <a:xfrm>
              <a:off x="890016" y="176936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0" name="Google Shape;150;p7"/>
          <p:cNvGrpSpPr/>
          <p:nvPr/>
        </p:nvGrpSpPr>
        <p:grpSpPr>
          <a:xfrm>
            <a:off x="890016" y="2297430"/>
            <a:ext cx="5510664" cy="617100"/>
            <a:chOff x="890016" y="2297430"/>
            <a:chExt cx="5510664" cy="617100"/>
          </a:xfrm>
        </p:grpSpPr>
        <p:sp>
          <p:nvSpPr>
            <p:cNvPr id="151" name="Google Shape;151;p7"/>
            <p:cNvSpPr txBox="1"/>
            <p:nvPr/>
          </p:nvSpPr>
          <p:spPr>
            <a:xfrm>
              <a:off x="1402080" y="22974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Lightest loop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a working agent with a tool is three or four lines, no graph wiring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52" name="Google Shape;152;p7"/>
            <p:cNvSpPr/>
            <p:nvPr/>
          </p:nvSpPr>
          <p:spPr>
            <a:xfrm>
              <a:off x="890016" y="245516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3" name="Google Shape;153;p7"/>
          <p:cNvGrpSpPr/>
          <p:nvPr/>
        </p:nvGrpSpPr>
        <p:grpSpPr>
          <a:xfrm>
            <a:off x="890016" y="2983230"/>
            <a:ext cx="5510664" cy="617100"/>
            <a:chOff x="890016" y="2983230"/>
            <a:chExt cx="5510664" cy="617100"/>
          </a:xfrm>
        </p:grpSpPr>
        <p:sp>
          <p:nvSpPr>
            <p:cNvPr id="154" name="Google Shape;154;p7"/>
            <p:cNvSpPr txBox="1"/>
            <p:nvPr/>
          </p:nvSpPr>
          <p:spPr>
            <a:xfrm>
              <a:off x="1402080" y="29832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First-class MCP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MCP and A2A built on the official packages, so the idioms transfer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55" name="Google Shape;155;p7"/>
            <p:cNvSpPr/>
            <p:nvPr/>
          </p:nvSpPr>
          <p:spPr>
            <a:xfrm>
              <a:off x="890016" y="3140964"/>
              <a:ext cx="170700" cy="171600"/>
            </a:xfrm>
            <a:prstGeom prst="ellipse">
              <a:avLst/>
            </a:prstGeom>
            <a:solidFill>
              <a:srgbClr val="FFD7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6" name="Google Shape;156;p7"/>
          <p:cNvGrpSpPr/>
          <p:nvPr/>
        </p:nvGrpSpPr>
        <p:grpSpPr>
          <a:xfrm>
            <a:off x="890016" y="3669030"/>
            <a:ext cx="5510664" cy="617100"/>
            <a:chOff x="890016" y="3669030"/>
            <a:chExt cx="5510664" cy="617100"/>
          </a:xfrm>
        </p:grpSpPr>
        <p:sp>
          <p:nvSpPr>
            <p:cNvPr id="157" name="Google Shape;157;p7"/>
            <p:cNvSpPr txBox="1"/>
            <p:nvPr/>
          </p:nvSpPr>
          <p:spPr>
            <a:xfrm>
              <a:off x="1402080" y="36690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Bedrock default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a bare Agent() expects AWS credentials, so always pass the model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58" name="Google Shape;158;p7"/>
            <p:cNvSpPr/>
            <p:nvPr/>
          </p:nvSpPr>
          <p:spPr>
            <a:xfrm>
              <a:off x="890016" y="3826764"/>
              <a:ext cx="170700" cy="171600"/>
            </a:xfrm>
            <a:prstGeom prst="ellipse">
              <a:avLst/>
            </a:prstGeom>
            <a:solidFill>
              <a:srgbClr val="FF7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9" name="Google Shape;159;p7"/>
          <p:cNvGrpSpPr/>
          <p:nvPr/>
        </p:nvGrpSpPr>
        <p:grpSpPr>
          <a:xfrm>
            <a:off x="890016" y="4354830"/>
            <a:ext cx="5510664" cy="617100"/>
            <a:chOff x="890016" y="4354830"/>
            <a:chExt cx="5510664" cy="617100"/>
          </a:xfrm>
        </p:grpSpPr>
        <p:sp>
          <p:nvSpPr>
            <p:cNvPr id="160" name="Google Shape;160;p7"/>
            <p:cNvSpPr txBox="1"/>
            <p:nvPr/>
          </p:nvSpPr>
          <p:spPr>
            <a:xfrm>
              <a:off x="1402080" y="43548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Fast cadence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roughly weekly releases drift the blog posts, so pinning is essential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61" name="Google Shape;161;p7"/>
            <p:cNvSpPr/>
            <p:nvPr/>
          </p:nvSpPr>
          <p:spPr>
            <a:xfrm>
              <a:off x="890016" y="4512564"/>
              <a:ext cx="170700" cy="171600"/>
            </a:xfrm>
            <a:prstGeom prst="ellipse">
              <a:avLst/>
            </a:prstGeom>
            <a:solidFill>
              <a:srgbClr val="FF7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"/>
          <p:cNvSpPr txBox="1"/>
          <p:nvPr/>
        </p:nvSpPr>
        <p:spPr>
          <a:xfrm>
            <a:off x="573024" y="582930"/>
            <a:ext cx="877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Introducing Pydantic AI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68" name="Google Shape;168;p8"/>
          <p:cNvSpPr txBox="1"/>
          <p:nvPr/>
        </p:nvSpPr>
        <p:spPr>
          <a:xfrm>
            <a:off x="585216" y="1152144"/>
            <a:ext cx="755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The framework that inspired OpenAI Agents SDK</a:t>
            </a:r>
            <a:endParaRPr sz="180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963168" y="2095119"/>
            <a:ext cx="36600" cy="29832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0" name="Google Shape;170;p8"/>
          <p:cNvGrpSpPr/>
          <p:nvPr/>
        </p:nvGrpSpPr>
        <p:grpSpPr>
          <a:xfrm>
            <a:off x="890016" y="1851660"/>
            <a:ext cx="5510664" cy="617100"/>
            <a:chOff x="890016" y="1851660"/>
            <a:chExt cx="5510664" cy="617100"/>
          </a:xfrm>
        </p:grpSpPr>
        <p:sp>
          <p:nvSpPr>
            <p:cNvPr id="171" name="Google Shape;171;p8"/>
            <p:cNvSpPr txBox="1"/>
            <p:nvPr/>
          </p:nvSpPr>
          <p:spPr>
            <a:xfrm>
              <a:off x="1402080" y="185166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What it is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the agent framework from the team behind the Pydantic library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72" name="Google Shape;172;p8"/>
            <p:cNvSpPr/>
            <p:nvPr/>
          </p:nvSpPr>
          <p:spPr>
            <a:xfrm>
              <a:off x="890016" y="200939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3" name="Google Shape;173;p8"/>
          <p:cNvGrpSpPr/>
          <p:nvPr/>
        </p:nvGrpSpPr>
        <p:grpSpPr>
          <a:xfrm>
            <a:off x="890016" y="2846070"/>
            <a:ext cx="5510664" cy="617100"/>
            <a:chOff x="890016" y="2846070"/>
            <a:chExt cx="5510664" cy="617100"/>
          </a:xfrm>
        </p:grpSpPr>
        <p:sp>
          <p:nvSpPr>
            <p:cNvPr id="174" name="Google Shape;174;p8"/>
            <p:cNvSpPr txBox="1"/>
            <p:nvPr/>
          </p:nvSpPr>
          <p:spPr>
            <a:xfrm>
              <a:off x="1402080" y="284607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Standout trait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end-to-end type safety, you declare shapes and it validates the flow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75" name="Google Shape;175;p8"/>
            <p:cNvSpPr/>
            <p:nvPr/>
          </p:nvSpPr>
          <p:spPr>
            <a:xfrm>
              <a:off x="890016" y="3003804"/>
              <a:ext cx="170700" cy="171600"/>
            </a:xfrm>
            <a:prstGeom prst="ellipse">
              <a:avLst/>
            </a:prstGeom>
            <a:solidFill>
              <a:srgbClr val="FFD7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6" name="Google Shape;176;p8"/>
          <p:cNvGrpSpPr/>
          <p:nvPr/>
        </p:nvGrpSpPr>
        <p:grpSpPr>
          <a:xfrm>
            <a:off x="890016" y="3840480"/>
            <a:ext cx="5510664" cy="617100"/>
            <a:chOff x="890016" y="3840480"/>
            <a:chExt cx="5510664" cy="617100"/>
          </a:xfrm>
        </p:grpSpPr>
        <p:sp>
          <p:nvSpPr>
            <p:cNvPr id="177" name="Google Shape;177;p8"/>
            <p:cNvSpPr txBox="1"/>
            <p:nvPr/>
          </p:nvSpPr>
          <p:spPr>
            <a:xfrm>
              <a:off x="1402080" y="384048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 use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Python with gpt-5.4-mini, string openai-chat:gpt-5.4-mini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78" name="Google Shape;178;p8"/>
            <p:cNvSpPr/>
            <p:nvPr/>
          </p:nvSpPr>
          <p:spPr>
            <a:xfrm>
              <a:off x="890016" y="399821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9" name="Google Shape;179;p8"/>
          <p:cNvGrpSpPr/>
          <p:nvPr/>
        </p:nvGrpSpPr>
        <p:grpSpPr>
          <a:xfrm>
            <a:off x="890016" y="4834890"/>
            <a:ext cx="5510664" cy="617100"/>
            <a:chOff x="890016" y="4834890"/>
            <a:chExt cx="5510664" cy="617100"/>
          </a:xfrm>
        </p:grpSpPr>
        <p:sp>
          <p:nvSpPr>
            <p:cNvPr id="180" name="Google Shape;180;p8"/>
            <p:cNvSpPr txBox="1"/>
            <p:nvPr/>
          </p:nvSpPr>
          <p:spPr>
            <a:xfrm>
              <a:off x="1402080" y="483489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Maturity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Beta for 1 in 2024, pinned at v1.107.0 with a v2 beta open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81" name="Google Shape;181;p8"/>
            <p:cNvSpPr/>
            <p:nvPr/>
          </p:nvSpPr>
          <p:spPr>
            <a:xfrm>
              <a:off x="890016" y="499262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"/>
          <p:cNvSpPr txBox="1"/>
          <p:nvPr/>
        </p:nvSpPr>
        <p:spPr>
          <a:xfrm>
            <a:off x="573024" y="582930"/>
            <a:ext cx="877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Pydantic AI: key features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88" name="Google Shape;188;p9"/>
          <p:cNvSpPr txBox="1"/>
          <p:nvPr/>
        </p:nvSpPr>
        <p:spPr>
          <a:xfrm>
            <a:off x="585216" y="1152144"/>
            <a:ext cx="755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What stands out</a:t>
            </a:r>
            <a:endParaRPr sz="180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89" name="Google Shape;189;p9"/>
          <p:cNvGrpSpPr/>
          <p:nvPr/>
        </p:nvGrpSpPr>
        <p:grpSpPr>
          <a:xfrm>
            <a:off x="896112" y="2571750"/>
            <a:ext cx="5504568" cy="617100"/>
            <a:chOff x="896112" y="2571750"/>
            <a:chExt cx="5504568" cy="617100"/>
          </a:xfrm>
        </p:grpSpPr>
        <p:sp>
          <p:nvSpPr>
            <p:cNvPr id="190" name="Google Shape;190;p9"/>
            <p:cNvSpPr txBox="1"/>
            <p:nvPr/>
          </p:nvSpPr>
          <p:spPr>
            <a:xfrm>
              <a:off x="1402080" y="257175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MCP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MCPToolset via toolsets=[...], opened with async with agent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91" name="Google Shape;191;p9" title="plug_b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96112" y="264109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2" name="Google Shape;192;p9"/>
          <p:cNvGrpSpPr/>
          <p:nvPr/>
        </p:nvGrpSpPr>
        <p:grpSpPr>
          <a:xfrm>
            <a:off x="896112" y="3429000"/>
            <a:ext cx="5504568" cy="617100"/>
            <a:chOff x="896112" y="3429000"/>
            <a:chExt cx="5504568" cy="617100"/>
          </a:xfrm>
        </p:grpSpPr>
        <p:sp>
          <p:nvSpPr>
            <p:cNvPr id="193" name="Google Shape;193;p9"/>
            <p:cNvSpPr txBox="1"/>
            <p:nvPr/>
          </p:nvSpPr>
          <p:spPr>
            <a:xfrm>
              <a:off x="1402080" y="342900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loop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one await agent.run() runs the whole tool loop to a final answer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94" name="Google Shape;194;p9" title="loop_b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96112" y="349834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5" name="Google Shape;195;p9"/>
          <p:cNvGrpSpPr/>
          <p:nvPr/>
        </p:nvGrpSpPr>
        <p:grpSpPr>
          <a:xfrm>
            <a:off x="896112" y="4286250"/>
            <a:ext cx="5504568" cy="617100"/>
            <a:chOff x="896112" y="4286250"/>
            <a:chExt cx="5504568" cy="617100"/>
          </a:xfrm>
        </p:grpSpPr>
        <p:sp>
          <p:nvSpPr>
            <p:cNvPr id="196" name="Google Shape;196;p9"/>
            <p:cNvSpPr txBox="1"/>
            <p:nvPr/>
          </p:nvSpPr>
          <p:spPr>
            <a:xfrm>
              <a:off x="1402080" y="428625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Logfire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two lines instrument every request and tool call, live in the UI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97" name="Google Shape;197;p9" title="fire_g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96112" y="435559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8" name="Google Shape;198;p9"/>
          <p:cNvGrpSpPr/>
          <p:nvPr/>
        </p:nvGrpSpPr>
        <p:grpSpPr>
          <a:xfrm>
            <a:off x="896112" y="5143500"/>
            <a:ext cx="5504568" cy="617100"/>
            <a:chOff x="896112" y="5143500"/>
            <a:chExt cx="5504568" cy="617100"/>
          </a:xfrm>
        </p:grpSpPr>
        <p:sp>
          <p:nvSpPr>
            <p:cNvPr id="199" name="Google Shape;199;p9"/>
            <p:cNvSpPr txBox="1"/>
            <p:nvPr/>
          </p:nvSpPr>
          <p:spPr>
            <a:xfrm>
              <a:off x="1402080" y="514350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Typed results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pass output_type and result.output comes back validated and typed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200" name="Google Shape;200;p9" title="code_b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96112" y="521284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1" name="Google Shape;201;p9"/>
          <p:cNvGrpSpPr/>
          <p:nvPr/>
        </p:nvGrpSpPr>
        <p:grpSpPr>
          <a:xfrm>
            <a:off x="896112" y="1714500"/>
            <a:ext cx="5504568" cy="617100"/>
            <a:chOff x="896112" y="1714500"/>
            <a:chExt cx="5504568" cy="617100"/>
          </a:xfrm>
        </p:grpSpPr>
        <p:sp>
          <p:nvSpPr>
            <p:cNvPr id="202" name="Google Shape;202;p9"/>
            <p:cNvSpPr txBox="1"/>
            <p:nvPr/>
          </p:nvSpPr>
          <p:spPr>
            <a:xfrm>
              <a:off x="1402080" y="171450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Tools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@agent.tool_plain or @agent.tool, schema from hints and docstrings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203" name="Google Shape;203;p9" title="wrench_b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96112" y="178384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"/>
          <p:cNvSpPr txBox="1"/>
          <p:nvPr/>
        </p:nvSpPr>
        <p:spPr>
          <a:xfrm>
            <a:off x="573024" y="582930"/>
            <a:ext cx="877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Pydantic AI: the trade-offs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10" name="Google Shape;210;p10"/>
          <p:cNvSpPr txBox="1"/>
          <p:nvPr/>
        </p:nvSpPr>
        <p:spPr>
          <a:xfrm>
            <a:off x="585216" y="1152144"/>
            <a:ext cx="755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Advantages, downsides</a:t>
            </a:r>
            <a:endParaRPr sz="180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963168" y="1855089"/>
            <a:ext cx="36600" cy="34290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2" name="Google Shape;212;p10"/>
          <p:cNvGrpSpPr/>
          <p:nvPr/>
        </p:nvGrpSpPr>
        <p:grpSpPr>
          <a:xfrm>
            <a:off x="890016" y="1611630"/>
            <a:ext cx="5510664" cy="617100"/>
            <a:chOff x="890016" y="1611630"/>
            <a:chExt cx="5510664" cy="617100"/>
          </a:xfrm>
        </p:grpSpPr>
        <p:sp>
          <p:nvSpPr>
            <p:cNvPr id="213" name="Google Shape;213;p10"/>
            <p:cNvSpPr txBox="1"/>
            <p:nvPr/>
          </p:nvSpPr>
          <p:spPr>
            <a:xfrm>
              <a:off x="1402080" y="16116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Type safety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best-in-class typed outputs via a validated result.output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214" name="Google Shape;214;p10"/>
            <p:cNvSpPr/>
            <p:nvPr/>
          </p:nvSpPr>
          <p:spPr>
            <a:xfrm>
              <a:off x="890016" y="176936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5" name="Google Shape;215;p10"/>
          <p:cNvGrpSpPr/>
          <p:nvPr/>
        </p:nvGrpSpPr>
        <p:grpSpPr>
          <a:xfrm>
            <a:off x="890016" y="2449830"/>
            <a:ext cx="5510664" cy="617100"/>
            <a:chOff x="890016" y="2449830"/>
            <a:chExt cx="5510664" cy="617100"/>
          </a:xfrm>
        </p:grpSpPr>
        <p:sp>
          <p:nvSpPr>
            <p:cNvPr id="216" name="Google Shape;216;p10"/>
            <p:cNvSpPr txBox="1"/>
            <p:nvPr/>
          </p:nvSpPr>
          <p:spPr>
            <a:xfrm>
              <a:off x="1402080" y="24498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Flexible tools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two decorators, auto schemas, dependency injection via RunContext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217" name="Google Shape;217;p10"/>
            <p:cNvSpPr/>
            <p:nvPr/>
          </p:nvSpPr>
          <p:spPr>
            <a:xfrm>
              <a:off x="890016" y="260756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8" name="Google Shape;218;p10"/>
          <p:cNvGrpSpPr/>
          <p:nvPr/>
        </p:nvGrpSpPr>
        <p:grpSpPr>
          <a:xfrm>
            <a:off x="890016" y="3211830"/>
            <a:ext cx="5510664" cy="617100"/>
            <a:chOff x="890016" y="3211830"/>
            <a:chExt cx="5510664" cy="617100"/>
          </a:xfrm>
        </p:grpSpPr>
        <p:sp>
          <p:nvSpPr>
            <p:cNvPr id="219" name="Google Shape;219;p10"/>
            <p:cNvSpPr txBox="1"/>
            <p:nvPr/>
          </p:nvSpPr>
          <p:spPr>
            <a:xfrm>
              <a:off x="1402080" y="32118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Observability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deep zero-config Logfire from the same team, one configure call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220" name="Google Shape;220;p10"/>
            <p:cNvSpPr/>
            <p:nvPr/>
          </p:nvSpPr>
          <p:spPr>
            <a:xfrm>
              <a:off x="890016" y="3369564"/>
              <a:ext cx="170700" cy="171600"/>
            </a:xfrm>
            <a:prstGeom prst="ellipse">
              <a:avLst/>
            </a:prstGeom>
            <a:solidFill>
              <a:srgbClr val="FFD7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1" name="Google Shape;221;p10"/>
          <p:cNvGrpSpPr/>
          <p:nvPr/>
        </p:nvGrpSpPr>
        <p:grpSpPr>
          <a:xfrm>
            <a:off x="890016" y="4101906"/>
            <a:ext cx="5510664" cy="617100"/>
            <a:chOff x="890016" y="4101906"/>
            <a:chExt cx="5510664" cy="617100"/>
          </a:xfrm>
        </p:grpSpPr>
        <p:sp>
          <p:nvSpPr>
            <p:cNvPr id="222" name="Google Shape;222;p10"/>
            <p:cNvSpPr txBox="1"/>
            <p:nvPr/>
          </p:nvSpPr>
          <p:spPr>
            <a:xfrm>
              <a:off x="1402080" y="4101906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No orchestration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no built-in plan or multi-agent primitive, planning is DIY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223" name="Google Shape;223;p10"/>
            <p:cNvSpPr/>
            <p:nvPr/>
          </p:nvSpPr>
          <p:spPr>
            <a:xfrm>
              <a:off x="890016" y="4280390"/>
              <a:ext cx="170700" cy="171600"/>
            </a:xfrm>
            <a:prstGeom prst="ellipse">
              <a:avLst/>
            </a:prstGeom>
            <a:solidFill>
              <a:srgbClr val="FF7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4" name="Google Shape;224;p10"/>
          <p:cNvGrpSpPr/>
          <p:nvPr/>
        </p:nvGrpSpPr>
        <p:grpSpPr>
          <a:xfrm>
            <a:off x="890016" y="5040630"/>
            <a:ext cx="5510664" cy="617100"/>
            <a:chOff x="890016" y="5040630"/>
            <a:chExt cx="5510664" cy="617100"/>
          </a:xfrm>
        </p:grpSpPr>
        <p:sp>
          <p:nvSpPr>
            <p:cNvPr id="225" name="Google Shape;225;p10"/>
            <p:cNvSpPr txBox="1"/>
            <p:nvPr/>
          </p:nvSpPr>
          <p:spPr>
            <a:xfrm>
              <a:off x="1402080" y="50406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v1 versus v2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v2 beta will bring breaking changes, so pin the version or demos drift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226" name="Google Shape;226;p10"/>
            <p:cNvSpPr/>
            <p:nvPr/>
          </p:nvSpPr>
          <p:spPr>
            <a:xfrm>
              <a:off x="890016" y="5198364"/>
              <a:ext cx="170700" cy="171600"/>
            </a:xfrm>
            <a:prstGeom prst="ellipse">
              <a:avLst/>
            </a:prstGeom>
            <a:solidFill>
              <a:srgbClr val="FF7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"/>
          <p:cNvSpPr/>
          <p:nvPr/>
        </p:nvSpPr>
        <p:spPr>
          <a:xfrm>
            <a:off x="257180" y="5695950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"/>
          <p:cNvSpPr/>
          <p:nvPr/>
        </p:nvSpPr>
        <p:spPr>
          <a:xfrm>
            <a:off x="257180" y="461962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"/>
          <p:cNvSpPr/>
          <p:nvPr/>
        </p:nvSpPr>
        <p:spPr>
          <a:xfrm>
            <a:off x="257180" y="3543300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"/>
          <p:cNvSpPr/>
          <p:nvPr/>
        </p:nvSpPr>
        <p:spPr>
          <a:xfrm>
            <a:off x="257180" y="31432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"/>
          <p:cNvSpPr/>
          <p:nvPr/>
        </p:nvSpPr>
        <p:spPr>
          <a:xfrm>
            <a:off x="361950" y="5753695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361950" y="467737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361950" y="3601045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361950" y="37207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447680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"/>
          <p:cNvSpPr/>
          <p:nvPr/>
        </p:nvSpPr>
        <p:spPr>
          <a:xfrm>
            <a:off x="447675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447680" y="493395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447675" y="50077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447680" y="3857625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447675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447680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447675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1562097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"/>
          <p:cNvSpPr/>
          <p:nvPr/>
        </p:nvSpPr>
        <p:spPr>
          <a:xfrm>
            <a:off x="1562100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1562097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"/>
          <p:cNvSpPr/>
          <p:nvPr/>
        </p:nvSpPr>
        <p:spPr>
          <a:xfrm>
            <a:off x="15621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1562097" y="3857625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"/>
          <p:cNvSpPr/>
          <p:nvPr/>
        </p:nvSpPr>
        <p:spPr>
          <a:xfrm>
            <a:off x="1562100" y="400766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1562097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"/>
          <p:cNvSpPr/>
          <p:nvPr/>
        </p:nvSpPr>
        <p:spPr>
          <a:xfrm>
            <a:off x="1562100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2676528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2676525" y="616031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2667000" y="493395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"/>
          <p:cNvSpPr/>
          <p:nvPr/>
        </p:nvSpPr>
        <p:spPr>
          <a:xfrm>
            <a:off x="26670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2676528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2676525" y="400766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2676528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1"/>
          <p:cNvSpPr/>
          <p:nvPr/>
        </p:nvSpPr>
        <p:spPr>
          <a:xfrm>
            <a:off x="2676525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3819528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"/>
          <p:cNvSpPr/>
          <p:nvPr/>
        </p:nvSpPr>
        <p:spPr>
          <a:xfrm>
            <a:off x="3819525" y="616031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3819528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"/>
          <p:cNvSpPr/>
          <p:nvPr/>
        </p:nvSpPr>
        <p:spPr>
          <a:xfrm>
            <a:off x="3819525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3819528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1"/>
          <p:cNvSpPr/>
          <p:nvPr/>
        </p:nvSpPr>
        <p:spPr>
          <a:xfrm>
            <a:off x="3819525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3819528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1"/>
          <p:cNvSpPr/>
          <p:nvPr/>
        </p:nvSpPr>
        <p:spPr>
          <a:xfrm>
            <a:off x="3819525" y="7786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4953000" y="601027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1"/>
          <p:cNvSpPr/>
          <p:nvPr/>
        </p:nvSpPr>
        <p:spPr>
          <a:xfrm>
            <a:off x="4953000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4953000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1"/>
          <p:cNvSpPr/>
          <p:nvPr/>
        </p:nvSpPr>
        <p:spPr>
          <a:xfrm>
            <a:off x="49530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4953000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1"/>
          <p:cNvSpPr/>
          <p:nvPr/>
        </p:nvSpPr>
        <p:spPr>
          <a:xfrm>
            <a:off x="4953000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4953000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"/>
          <p:cNvSpPr/>
          <p:nvPr/>
        </p:nvSpPr>
        <p:spPr>
          <a:xfrm>
            <a:off x="4953000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257174" y="246697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1"/>
          <p:cNvSpPr/>
          <p:nvPr/>
        </p:nvSpPr>
        <p:spPr>
          <a:xfrm>
            <a:off x="361950" y="252472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447674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1"/>
          <p:cNvSpPr/>
          <p:nvPr/>
        </p:nvSpPr>
        <p:spPr>
          <a:xfrm>
            <a:off x="447675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 Core</a:t>
            </a:r>
            <a:endParaRPr sz="1125"/>
          </a:p>
        </p:txBody>
      </p:sp>
      <p:sp>
        <p:nvSpPr>
          <p:cNvPr id="284" name="Google Shape;284;p11"/>
          <p:cNvSpPr/>
          <p:nvPr/>
        </p:nvSpPr>
        <p:spPr>
          <a:xfrm>
            <a:off x="1562101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1"/>
          <p:cNvSpPr/>
          <p:nvPr/>
        </p:nvSpPr>
        <p:spPr>
          <a:xfrm>
            <a:off x="1562100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LangGraph</a:t>
            </a:r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2676524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1"/>
          <p:cNvSpPr/>
          <p:nvPr/>
        </p:nvSpPr>
        <p:spPr>
          <a:xfrm>
            <a:off x="2676525" y="293133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endParaRPr sz="1125"/>
          </a:p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create_agent</a:t>
            </a:r>
            <a:endParaRPr sz="1125"/>
          </a:p>
        </p:txBody>
      </p:sp>
      <p:sp>
        <p:nvSpPr>
          <p:cNvPr id="288" name="Google Shape;288;p11"/>
          <p:cNvSpPr/>
          <p:nvPr/>
        </p:nvSpPr>
        <p:spPr>
          <a:xfrm>
            <a:off x="3819524" y="2781300"/>
            <a:ext cx="1002900" cy="610200"/>
          </a:xfrm>
          <a:prstGeom prst="rect">
            <a:avLst/>
          </a:prstGeom>
          <a:solidFill>
            <a:srgbClr val="00BE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1"/>
          <p:cNvSpPr/>
          <p:nvPr/>
        </p:nvSpPr>
        <p:spPr>
          <a:xfrm>
            <a:off x="3819525" y="293133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Deep Agents</a:t>
            </a:r>
            <a:endParaRPr sz="1125"/>
          </a:p>
        </p:txBody>
      </p:sp>
      <p:sp>
        <p:nvSpPr>
          <p:cNvPr id="290" name="Google Shape;290;p11"/>
          <p:cNvSpPr/>
          <p:nvPr/>
        </p:nvSpPr>
        <p:spPr>
          <a:xfrm>
            <a:off x="4953000" y="278130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1"/>
          <p:cNvSpPr/>
          <p:nvPr/>
        </p:nvSpPr>
        <p:spPr>
          <a:xfrm>
            <a:off x="4953000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2" name="Google Shape;292;p11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293" name="Google Shape;293;p11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1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11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solidFill>
              <a:srgbClr val="00BFFF"/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1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/>
                <a:t>Google ADK and A2A</a:t>
              </a:r>
              <a:endParaRPr b="0" i="0" sz="1800" u="none" cap="none" strike="noStrike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11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solidFill>
              <a:srgbClr val="00BFFF"/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1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/>
                <a:t>Strands and Pydantic AI</a:t>
              </a:r>
              <a:endParaRPr b="0" i="0" sz="1800" u="none" cap="none" strike="noStrike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11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1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MAF and</a:t>
              </a:r>
              <a:endParaRPr sz="1125">
                <a:solidFill>
                  <a:srgbClr val="FFFFFF"/>
                </a:solidFill>
              </a:endParaRPr>
            </a:p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Agno</a:t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11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1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Mastra</a:t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11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1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2"/>
          <p:cNvSpPr/>
          <p:nvPr/>
        </p:nvSpPr>
        <p:spPr>
          <a:xfrm>
            <a:off x="4572000" y="0"/>
            <a:ext cx="2609100" cy="68580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2"/>
          <p:cNvSpPr txBox="1"/>
          <p:nvPr/>
        </p:nvSpPr>
        <p:spPr>
          <a:xfrm>
            <a:off x="4730496" y="260604"/>
            <a:ext cx="2451000" cy="6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73%</a:t>
            </a:r>
            <a:endParaRPr sz="65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312" name="Google Shape;312;p12" title="w5d2_outr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