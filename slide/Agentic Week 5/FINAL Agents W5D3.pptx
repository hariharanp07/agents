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Roboto Slab"/>
      <p:regular r:id="rId15"/>
      <p:bold r:id="rId16"/>
    </p:embeddedFont>
    <p:embeddedFont>
      <p:font typeface="Montserrat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11" Type="http://schemas.openxmlformats.org/officeDocument/2006/relationships/slide" Target="slides/slide7.xml"/><Relationship Id="rId22" Type="http://schemas.openxmlformats.org/officeDocument/2006/relationships/font" Target="fonts/Montserrat-bold.fntdata"/><Relationship Id="rId10" Type="http://schemas.openxmlformats.org/officeDocument/2006/relationships/slide" Target="slides/slide6.xml"/><Relationship Id="rId21" Type="http://schemas.openxmlformats.org/officeDocument/2006/relationships/font" Target="fonts/Montserrat-regular.fntdata"/><Relationship Id="rId13" Type="http://schemas.openxmlformats.org/officeDocument/2006/relationships/slide" Target="slides/slide9.xml"/><Relationship Id="rId24" Type="http://schemas.openxmlformats.org/officeDocument/2006/relationships/font" Target="fonts/Montserrat-boldItalic.fntdata"/><Relationship Id="rId12" Type="http://schemas.openxmlformats.org/officeDocument/2006/relationships/slide" Target="slides/slide8.xml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SemiBold-regular.fntdata"/><Relationship Id="rId16" Type="http://schemas.openxmlformats.org/officeDocument/2006/relationships/font" Target="fonts/RobotoSlab-bold.fntdata"/><Relationship Id="rId5" Type="http://schemas.openxmlformats.org/officeDocument/2006/relationships/slide" Target="slides/slide1.xml"/><Relationship Id="rId19" Type="http://schemas.openxmlformats.org/officeDocument/2006/relationships/font" Target="fonts/MontserratSemiBold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coverIn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coverIn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coverIn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c6bbbda5d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c6bbbda5d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c6bbbda5d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w5d3_slide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w5d3_slide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w5d3_slide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w5d3_slide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w5d3_slide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w5d3_slide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w5d3_slide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w5d3_slide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w5d3_slide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w5d3_slide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w5d3_slide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w5d3_slide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w5d3_slide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w5d3_slide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w5d3_slide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w5d3_slide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w5d3_slide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w5d3_slide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enmap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enmap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enmap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coverOu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coverOu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coverOu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 title="w5d3_in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76" name="Google Shape;76;p4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80" name="Google Shape;80;p4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82" name="Google Shape;82;p4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Strands and Pydantic AI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MAF and</a:t>
              </a:r>
              <a:endParaRPr sz="1125">
                <a:solidFill>
                  <a:srgbClr val="FFFFFF"/>
                </a:solidFill>
              </a:endParaRPr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Agno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Mastra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Introducing MAF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The Microsoft Agent Framework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63168" y="2095119"/>
            <a:ext cx="36600" cy="29832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" name="Google Shape;105;p5"/>
          <p:cNvGrpSpPr/>
          <p:nvPr/>
        </p:nvGrpSpPr>
        <p:grpSpPr>
          <a:xfrm>
            <a:off x="890016" y="1851660"/>
            <a:ext cx="5510664" cy="617100"/>
            <a:chOff x="890016" y="1851660"/>
            <a:chExt cx="5510664" cy="617100"/>
          </a:xfrm>
        </p:grpSpPr>
        <p:sp>
          <p:nvSpPr>
            <p:cNvPr id="106" name="Google Shape;106;p5"/>
            <p:cNvSpPr txBox="1"/>
            <p:nvPr/>
          </p:nvSpPr>
          <p:spPr>
            <a:xfrm>
              <a:off x="1402080" y="18516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What it is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Microsoft's official open-source agent SDK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890016" y="200939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" name="Google Shape;108;p5"/>
          <p:cNvGrpSpPr/>
          <p:nvPr/>
        </p:nvGrpSpPr>
        <p:grpSpPr>
          <a:xfrm>
            <a:off x="890016" y="2846070"/>
            <a:ext cx="5510664" cy="617100"/>
            <a:chOff x="890016" y="2846070"/>
            <a:chExt cx="5510664" cy="617100"/>
          </a:xfrm>
        </p:grpSpPr>
        <p:sp>
          <p:nvSpPr>
            <p:cNvPr id="109" name="Google Shape;109;p5"/>
            <p:cNvSpPr txBox="1"/>
            <p:nvPr/>
          </p:nvSpPr>
          <p:spPr>
            <a:xfrm>
              <a:off x="1402080" y="28460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convergence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AutoGen orchestration meets Semantic Kernel discipline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890016" y="300380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" name="Google Shape;111;p5"/>
          <p:cNvGrpSpPr/>
          <p:nvPr/>
        </p:nvGrpSpPr>
        <p:grpSpPr>
          <a:xfrm>
            <a:off x="890016" y="3840480"/>
            <a:ext cx="5510664" cy="617100"/>
            <a:chOff x="890016" y="3840480"/>
            <a:chExt cx="5510664" cy="617100"/>
          </a:xfrm>
        </p:grpSpPr>
        <p:sp>
          <p:nvSpPr>
            <p:cNvPr id="112" name="Google Shape;112;p5"/>
            <p:cNvSpPr txBox="1"/>
            <p:nvPr/>
          </p:nvSpPr>
          <p:spPr>
            <a:xfrm>
              <a:off x="1402080" y="38404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How we use it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Python with gpt-5.4-mini via OpenAIChatClient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890016" y="399821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5"/>
          <p:cNvGrpSpPr/>
          <p:nvPr/>
        </p:nvGrpSpPr>
        <p:grpSpPr>
          <a:xfrm>
            <a:off x="890016" y="4834890"/>
            <a:ext cx="5510664" cy="617100"/>
            <a:chOff x="890016" y="4834890"/>
            <a:chExt cx="5510664" cy="617100"/>
          </a:xfrm>
        </p:grpSpPr>
        <p:sp>
          <p:nvSpPr>
            <p:cNvPr id="115" name="Google Shape;115;p5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Maturity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GA since April 2026, agent-framework-core 1.8.1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890016" y="499262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MAF: key features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What stands out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4" name="Google Shape;124;p6"/>
          <p:cNvGrpSpPr/>
          <p:nvPr/>
        </p:nvGrpSpPr>
        <p:grpSpPr>
          <a:xfrm>
            <a:off x="896112" y="5143500"/>
            <a:ext cx="5504568" cy="617100"/>
            <a:chOff x="896112" y="5143500"/>
            <a:chExt cx="5504568" cy="617100"/>
          </a:xfrm>
        </p:grpSpPr>
        <p:sp>
          <p:nvSpPr>
            <p:cNvPr id="125" name="Google Shape;125;p6"/>
            <p:cNvSpPr txBox="1"/>
            <p:nvPr/>
          </p:nvSpPr>
          <p:spPr>
            <a:xfrm>
              <a:off x="1402080" y="5143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.NET offering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same Agent shape in Python and .NET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26" name="Google Shape;126;p6" title="code_g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5212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6"/>
          <p:cNvGrpSpPr/>
          <p:nvPr/>
        </p:nvGrpSpPr>
        <p:grpSpPr>
          <a:xfrm>
            <a:off x="896112" y="1714500"/>
            <a:ext cx="5504568" cy="617100"/>
            <a:chOff x="896112" y="1714500"/>
            <a:chExt cx="5504568" cy="617100"/>
          </a:xfrm>
        </p:grpSpPr>
        <p:sp>
          <p:nvSpPr>
            <p:cNvPr id="128" name="Google Shape;128;p6"/>
            <p:cNvSpPr txBox="1"/>
            <p:nvPr/>
          </p:nvSpPr>
          <p:spPr>
            <a:xfrm>
              <a:off x="1402080" y="1714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plain typed Python functions, no decorator needed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29" name="Google Shape;129;p6" title="wrench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1783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6"/>
          <p:cNvGrpSpPr/>
          <p:nvPr/>
        </p:nvGrpSpPr>
        <p:grpSpPr>
          <a:xfrm>
            <a:off x="896112" y="2571750"/>
            <a:ext cx="5504568" cy="617100"/>
            <a:chOff x="896112" y="2571750"/>
            <a:chExt cx="5504568" cy="617100"/>
          </a:xfrm>
        </p:grpSpPr>
        <p:sp>
          <p:nvSpPr>
            <p:cNvPr id="131" name="Google Shape;131;p6"/>
            <p:cNvSpPr txBox="1"/>
            <p:nvPr/>
          </p:nvSpPr>
          <p:spPr>
            <a:xfrm>
              <a:off x="1402080" y="25717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MCPStdioTool runs a server, passed via tools=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2" name="Google Shape;132;p6" title="plug_b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26410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" name="Google Shape;133;p6"/>
          <p:cNvGrpSpPr/>
          <p:nvPr/>
        </p:nvGrpSpPr>
        <p:grpSpPr>
          <a:xfrm>
            <a:off x="896112" y="3429000"/>
            <a:ext cx="5504568" cy="617100"/>
            <a:chOff x="896112" y="3429000"/>
            <a:chExt cx="5504568" cy="617100"/>
          </a:xfrm>
        </p:grpSpPr>
        <p:sp>
          <p:nvSpPr>
            <p:cNvPr id="134" name="Google Shape;134;p6"/>
            <p:cNvSpPr txBox="1"/>
            <p:nvPr/>
          </p:nvSpPr>
          <p:spPr>
            <a:xfrm>
              <a:off x="1402080" y="34290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await agent.run() drives the full tool-calling loop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5" name="Google Shape;135;p6" title="loop_b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34983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" name="Google Shape;136;p6"/>
          <p:cNvGrpSpPr/>
          <p:nvPr/>
        </p:nvGrpSpPr>
        <p:grpSpPr>
          <a:xfrm>
            <a:off x="896112" y="4286250"/>
            <a:ext cx="5504568" cy="617100"/>
            <a:chOff x="896112" y="4286250"/>
            <a:chExt cx="5504568" cy="617100"/>
          </a:xfrm>
        </p:grpSpPr>
        <p:sp>
          <p:nvSpPr>
            <p:cNvPr id="137" name="Google Shape;137;p6"/>
            <p:cNvSpPr txBox="1"/>
            <p:nvPr/>
          </p:nvSpPr>
          <p:spPr>
            <a:xfrm>
              <a:off x="1402080" y="42862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Workflows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durable graph engine with checkpointing and human approval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8" name="Google Shape;138;p6" title="flow_g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43555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MAF: the trade-offs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Strengths and downsides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970174" y="1855098"/>
            <a:ext cx="29700" cy="27735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7"/>
          <p:cNvGrpSpPr/>
          <p:nvPr/>
        </p:nvGrpSpPr>
        <p:grpSpPr>
          <a:xfrm>
            <a:off x="890016" y="1611630"/>
            <a:ext cx="5510664" cy="617100"/>
            <a:chOff x="890016" y="1611630"/>
            <a:chExt cx="5510664" cy="617100"/>
          </a:xfrm>
        </p:grpSpPr>
        <p:sp>
          <p:nvSpPr>
            <p:cNvPr id="148" name="Google Shape;148;p7"/>
            <p:cNvSpPr txBox="1"/>
            <p:nvPr/>
          </p:nvSpPr>
          <p:spPr>
            <a:xfrm>
              <a:off x="1402080" y="1611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Durable workflows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checkpointing and human-in-the-loop out of the box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890016" y="176936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7"/>
          <p:cNvGrpSpPr/>
          <p:nvPr/>
        </p:nvGrpSpPr>
        <p:grpSpPr>
          <a:xfrm>
            <a:off x="890016" y="2297430"/>
            <a:ext cx="5510664" cy="617100"/>
            <a:chOff x="890016" y="2297430"/>
            <a:chExt cx="5510664" cy="617100"/>
          </a:xfrm>
        </p:grpSpPr>
        <p:sp>
          <p:nvSpPr>
            <p:cNvPr id="151" name="Google Shape;151;p7"/>
            <p:cNvSpPr txBox="1"/>
            <p:nvPr/>
          </p:nvSpPr>
          <p:spPr>
            <a:xfrm>
              <a:off x="1402080" y="22974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Two languages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one agent API mirrored across Python and .NET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890016" y="24551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7"/>
          <p:cNvGrpSpPr/>
          <p:nvPr/>
        </p:nvGrpSpPr>
        <p:grpSpPr>
          <a:xfrm>
            <a:off x="890016" y="2983230"/>
            <a:ext cx="5510664" cy="617100"/>
            <a:chOff x="890016" y="2983230"/>
            <a:chExt cx="5510664" cy="617100"/>
          </a:xfrm>
        </p:grpSpPr>
        <p:sp>
          <p:nvSpPr>
            <p:cNvPr id="154" name="Google Shape;154;p7"/>
            <p:cNvSpPr txBox="1"/>
            <p:nvPr/>
          </p:nvSpPr>
          <p:spPr>
            <a:xfrm>
              <a:off x="1402080" y="29832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Observability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built-in OpenTelemetry plus the DevUI inspector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890016" y="314096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7"/>
          <p:cNvGrpSpPr/>
          <p:nvPr/>
        </p:nvGrpSpPr>
        <p:grpSpPr>
          <a:xfrm>
            <a:off x="890016" y="3669030"/>
            <a:ext cx="5510664" cy="617100"/>
            <a:chOff x="890016" y="3669030"/>
            <a:chExt cx="5510664" cy="617100"/>
          </a:xfrm>
        </p:grpSpPr>
        <p:sp>
          <p:nvSpPr>
            <p:cNvPr id="157" name="Google Shape;157;p7"/>
            <p:cNvSpPr txBox="1"/>
            <p:nvPr/>
          </p:nvSpPr>
          <p:spPr>
            <a:xfrm>
              <a:off x="1402080" y="36690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Rename churn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2026 renames make most old snippets wrong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890016" y="38267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" name="Google Shape;159;p7"/>
          <p:cNvGrpSpPr/>
          <p:nvPr/>
        </p:nvGrpSpPr>
        <p:grpSpPr>
          <a:xfrm>
            <a:off x="890016" y="4354830"/>
            <a:ext cx="5510664" cy="617100"/>
            <a:chOff x="890016" y="4354830"/>
            <a:chExt cx="5510664" cy="617100"/>
          </a:xfrm>
        </p:grpSpPr>
        <p:sp>
          <p:nvSpPr>
            <p:cNvPr id="160" name="Google Shape;160;p7"/>
            <p:cNvSpPr txBox="1"/>
            <p:nvPr/>
          </p:nvSpPr>
          <p:spPr>
            <a:xfrm>
              <a:off x="1402080" y="43548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Two of everything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rival construction styles and client classes in the docs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890016" y="45125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Introducing Agno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Fast Open-Source framework paired with AgentOS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963168" y="2095119"/>
            <a:ext cx="36600" cy="29832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8"/>
          <p:cNvGrpSpPr/>
          <p:nvPr/>
        </p:nvGrpSpPr>
        <p:grpSpPr>
          <a:xfrm>
            <a:off x="890016" y="1851660"/>
            <a:ext cx="5510664" cy="617100"/>
            <a:chOff x="890016" y="1851660"/>
            <a:chExt cx="5510664" cy="617100"/>
          </a:xfrm>
        </p:grpSpPr>
        <p:sp>
          <p:nvSpPr>
            <p:cNvPr id="171" name="Google Shape;171;p8"/>
            <p:cNvSpPr txBox="1"/>
            <p:nvPr/>
          </p:nvSpPr>
          <p:spPr>
            <a:xfrm>
              <a:off x="1402080" y="18516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What it is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fast, lightweight Python agent framework, formerly Phidata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890016" y="200939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" name="Google Shape;173;p8"/>
          <p:cNvGrpSpPr/>
          <p:nvPr/>
        </p:nvGrpSpPr>
        <p:grpSpPr>
          <a:xfrm>
            <a:off x="890016" y="2846070"/>
            <a:ext cx="5510664" cy="617100"/>
            <a:chOff x="890016" y="2846070"/>
            <a:chExt cx="5510664" cy="617100"/>
          </a:xfrm>
        </p:grpSpPr>
        <p:sp>
          <p:nvSpPr>
            <p:cNvPr id="174" name="Google Shape;174;p8"/>
            <p:cNvSpPr txBox="1"/>
            <p:nvPr/>
          </p:nvSpPr>
          <p:spPr>
            <a:xfrm>
              <a:off x="1402080" y="28460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Standout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roughly 3 microseconds to instantiate an agent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890016" y="300380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" name="Google Shape;176;p8"/>
          <p:cNvGrpSpPr/>
          <p:nvPr/>
        </p:nvGrpSpPr>
        <p:grpSpPr>
          <a:xfrm>
            <a:off x="890016" y="3840480"/>
            <a:ext cx="5510664" cy="617100"/>
            <a:chOff x="890016" y="3840480"/>
            <a:chExt cx="5510664" cy="617100"/>
          </a:xfrm>
        </p:grpSpPr>
        <p:sp>
          <p:nvSpPr>
            <p:cNvPr id="177" name="Google Shape;177;p8"/>
            <p:cNvSpPr txBox="1"/>
            <p:nvPr/>
          </p:nvSpPr>
          <p:spPr>
            <a:xfrm>
              <a:off x="1402080" y="38404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How we use it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OpenAIChat(id="gpt-5.4-mini") in a bare Agent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890016" y="399821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8"/>
          <p:cNvGrpSpPr/>
          <p:nvPr/>
        </p:nvGrpSpPr>
        <p:grpSpPr>
          <a:xfrm>
            <a:off x="890016" y="4834890"/>
            <a:ext cx="5510664" cy="617100"/>
            <a:chOff x="890016" y="4834890"/>
            <a:chExt cx="5510664" cy="617100"/>
          </a:xfrm>
        </p:grpSpPr>
        <p:sp>
          <p:nvSpPr>
            <p:cNvPr id="180" name="Google Shape;180;p8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Maturity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GA, v2.6.14, the AgentOS rewrite shipped Sept 2025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890016" y="499262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Agno: key features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What stands out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9" name="Google Shape;189;p9"/>
          <p:cNvGrpSpPr/>
          <p:nvPr/>
        </p:nvGrpSpPr>
        <p:grpSpPr>
          <a:xfrm>
            <a:off x="896112" y="1714500"/>
            <a:ext cx="5504568" cy="617100"/>
            <a:chOff x="896112" y="1714500"/>
            <a:chExt cx="5504568" cy="617100"/>
          </a:xfrm>
        </p:grpSpPr>
        <p:sp>
          <p:nvSpPr>
            <p:cNvPr id="190" name="Google Shape;190;p9"/>
            <p:cNvSpPr txBox="1"/>
            <p:nvPr/>
          </p:nvSpPr>
          <p:spPr>
            <a:xfrm>
              <a:off x="1402080" y="1714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typed function with a docstring, zero ceremony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1" name="Google Shape;191;p9" title="wrench_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783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" name="Google Shape;192;p9"/>
          <p:cNvGrpSpPr/>
          <p:nvPr/>
        </p:nvGrpSpPr>
        <p:grpSpPr>
          <a:xfrm>
            <a:off x="896112" y="2571750"/>
            <a:ext cx="5504568" cy="617100"/>
            <a:chOff x="896112" y="2571750"/>
            <a:chExt cx="5504568" cy="617100"/>
          </a:xfrm>
        </p:grpSpPr>
        <p:sp>
          <p:nvSpPr>
            <p:cNvPr id="193" name="Google Shape;193;p9"/>
            <p:cNvSpPr txBox="1"/>
            <p:nvPr/>
          </p:nvSpPr>
          <p:spPr>
            <a:xfrm>
              <a:off x="1402080" y="25717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MCPTools dropped into the same tools= list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4" name="Google Shape;194;p9" title="plug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26410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" name="Google Shape;195;p9"/>
          <p:cNvGrpSpPr/>
          <p:nvPr/>
        </p:nvGrpSpPr>
        <p:grpSpPr>
          <a:xfrm>
            <a:off x="896112" y="3429000"/>
            <a:ext cx="5504568" cy="617100"/>
            <a:chOff x="896112" y="3429000"/>
            <a:chExt cx="5504568" cy="617100"/>
          </a:xfrm>
        </p:grpSpPr>
        <p:sp>
          <p:nvSpPr>
            <p:cNvPr id="196" name="Google Shape;196;p9"/>
            <p:cNvSpPr txBox="1"/>
            <p:nvPr/>
          </p:nvSpPr>
          <p:spPr>
            <a:xfrm>
              <a:off x="1402080" y="34290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await agent.arun() runs the full loop, returns .content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7" name="Google Shape;197;p9" title="loop_b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34983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8" name="Google Shape;198;p9"/>
          <p:cNvGrpSpPr/>
          <p:nvPr/>
        </p:nvGrpSpPr>
        <p:grpSpPr>
          <a:xfrm>
            <a:off x="896112" y="4286250"/>
            <a:ext cx="5504568" cy="617100"/>
            <a:chOff x="896112" y="4286250"/>
            <a:chExt cx="5504568" cy="617100"/>
          </a:xfrm>
        </p:grpSpPr>
        <p:sp>
          <p:nvSpPr>
            <p:cNvPr id="199" name="Google Shape;199;p9"/>
            <p:cNvSpPr txBox="1"/>
            <p:nvPr/>
          </p:nvSpPr>
          <p:spPr>
            <a:xfrm>
              <a:off x="1402080" y="42862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Blazing startup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about 6.6 KiB per agent, benchmarked against the field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0" name="Google Shape;200;p9" title="lightning_g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43555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" name="Google Shape;201;p9"/>
          <p:cNvGrpSpPr/>
          <p:nvPr/>
        </p:nvGrpSpPr>
        <p:grpSpPr>
          <a:xfrm>
            <a:off x="896112" y="5143500"/>
            <a:ext cx="6119563" cy="617100"/>
            <a:chOff x="896112" y="5143500"/>
            <a:chExt cx="6119563" cy="617100"/>
          </a:xfrm>
        </p:grpSpPr>
        <p:sp>
          <p:nvSpPr>
            <p:cNvPr id="202" name="Google Shape;202;p9"/>
            <p:cNvSpPr txBox="1"/>
            <p:nvPr/>
          </p:nvSpPr>
          <p:spPr>
            <a:xfrm>
              <a:off x="1402075" y="5143500"/>
              <a:ext cx="5613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AgentOS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companion product to deploy, run and scale: a few lines turn agents into a FastAPI runtime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3" name="Google Shape;203;p9" title="server_g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5212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Agno: the trade-offs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Strengths and downsides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69749" y="1855098"/>
            <a:ext cx="30000" cy="28131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10"/>
          <p:cNvGrpSpPr/>
          <p:nvPr/>
        </p:nvGrpSpPr>
        <p:grpSpPr>
          <a:xfrm>
            <a:off x="890016" y="1611630"/>
            <a:ext cx="5510664" cy="617100"/>
            <a:chOff x="890016" y="1611630"/>
            <a:chExt cx="5510664" cy="617100"/>
          </a:xfrm>
        </p:grpSpPr>
        <p:sp>
          <p:nvSpPr>
            <p:cNvPr id="213" name="Google Shape;213;p10"/>
            <p:cNvSpPr txBox="1"/>
            <p:nvPr/>
          </p:nvSpPr>
          <p:spPr>
            <a:xfrm>
              <a:off x="1402080" y="1611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Tiny 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lowest-ceremony tool definition of the whole group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890016" y="17693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10"/>
          <p:cNvGrpSpPr/>
          <p:nvPr/>
        </p:nvGrpSpPr>
        <p:grpSpPr>
          <a:xfrm>
            <a:off x="890016" y="2297430"/>
            <a:ext cx="5510664" cy="617100"/>
            <a:chOff x="890016" y="2297430"/>
            <a:chExt cx="5510664" cy="617100"/>
          </a:xfrm>
        </p:grpSpPr>
        <p:sp>
          <p:nvSpPr>
            <p:cNvPr id="216" name="Google Shape;216;p10"/>
            <p:cNvSpPr txBox="1"/>
            <p:nvPr/>
          </p:nvSpPr>
          <p:spPr>
            <a:xfrm>
              <a:off x="1402080" y="22974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Fast and lean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fastest instantiation, with published benchmarks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890016" y="24551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" name="Google Shape;218;p10"/>
          <p:cNvGrpSpPr/>
          <p:nvPr/>
        </p:nvGrpSpPr>
        <p:grpSpPr>
          <a:xfrm>
            <a:off x="890016" y="2983230"/>
            <a:ext cx="5510664" cy="617100"/>
            <a:chOff x="890016" y="2983230"/>
            <a:chExt cx="5510664" cy="617100"/>
          </a:xfrm>
        </p:grpSpPr>
        <p:sp>
          <p:nvSpPr>
            <p:cNvPr id="219" name="Google Shape;219;p10"/>
            <p:cNvSpPr txBox="1"/>
            <p:nvPr/>
          </p:nvSpPr>
          <p:spPr>
            <a:xfrm>
              <a:off x="1402080" y="29832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Real runtime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AgentOS and first-class A2A in the same package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890016" y="314096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" name="Google Shape;221;p10"/>
          <p:cNvGrpSpPr/>
          <p:nvPr/>
        </p:nvGrpSpPr>
        <p:grpSpPr>
          <a:xfrm>
            <a:off x="890016" y="3745230"/>
            <a:ext cx="5510664" cy="617100"/>
            <a:chOff x="890016" y="4354830"/>
            <a:chExt cx="5510664" cy="617100"/>
          </a:xfrm>
        </p:grpSpPr>
        <p:sp>
          <p:nvSpPr>
            <p:cNvPr id="222" name="Google Shape;222;p10"/>
            <p:cNvSpPr txBox="1"/>
            <p:nvPr/>
          </p:nvSpPr>
          <p:spPr>
            <a:xfrm>
              <a:off x="1402080" y="43548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Rename churn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v1 to v2 rewrite leaves old snippets wrong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890016" y="45125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" name="Google Shape;224;p10"/>
          <p:cNvGrpSpPr/>
          <p:nvPr/>
        </p:nvGrpSpPr>
        <p:grpSpPr>
          <a:xfrm>
            <a:off x="890016" y="4431030"/>
            <a:ext cx="5510664" cy="617100"/>
            <a:chOff x="890016" y="5040630"/>
            <a:chExt cx="5510664" cy="617100"/>
          </a:xfrm>
        </p:grpSpPr>
        <p:sp>
          <p:nvSpPr>
            <p:cNvPr id="225" name="Google Shape;225;p10"/>
            <p:cNvSpPr txBox="1"/>
            <p:nvPr/>
          </p:nvSpPr>
          <p:spPr>
            <a:xfrm>
              <a:off x="1402080" y="5040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Platform pull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towards AgentOS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890016" y="51983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284" name="Google Shape;284;p11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288" name="Google Shape;288;p11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290" name="Google Shape;290;p11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" name="Google Shape;292;p11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93" name="Google Shape;293;p11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Strands and Pydantic AI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MAF and</a:t>
              </a:r>
              <a:endParaRPr sz="1125"/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Agno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Mastra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77%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12" name="Google Shape;312;p12" title="w5d3_ou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