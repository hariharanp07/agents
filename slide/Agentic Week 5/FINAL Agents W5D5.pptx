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Roboto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D0977F-3CFC-4898-B8DF-85B9EA964A5F}">
  <a:tblStyle styleId="{87D0977F-3CFC-4898-B8DF-85B9EA964A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.fntdata"/><Relationship Id="rId25" Type="http://schemas.openxmlformats.org/officeDocument/2006/relationships/font" Target="fonts/RobotoMono-regular.fntdata"/><Relationship Id="rId28" Type="http://schemas.openxmlformats.org/officeDocument/2006/relationships/font" Target="fonts/RobotoMono-boldItalic.fntdata"/><Relationship Id="rId27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coverIn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coverIn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coverIn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ec6bbbda5d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ec6bbbda5d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g3ec6bbbda5d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w5d5_slide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w5d5_slide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w5d5_slide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w5d5_slide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w5d5_slide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w5d5_slide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w5d5_proj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w5d5_proj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w5d5_proj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w5d5_arch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w5d5_arch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w5d5_arch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w5d5_slide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w5d5_slide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w5d5_slide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enmap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enmap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enmap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coverOut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coverOut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coverOut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 title="w5d5_in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76" name="Google Shape;76;p4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80" name="Google Shape;80;p4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82" name="Google Shape;82;p4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Mastra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Google Shape;102;p5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{87D0977F-3CFC-4898-B8DF-85B9EA964A5F}</a:tableStyleId>
              </a:tblPr>
              <a:tblGrid>
                <a:gridCol w="1463050"/>
                <a:gridCol w="1463050"/>
                <a:gridCol w="1463050"/>
                <a:gridCol w="1463050"/>
              </a:tblGrid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Framework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Create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Add a tool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00B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Run</a:t>
                      </a:r>
                      <a:endParaRPr b="1" sz="1200">
                        <a:solidFill>
                          <a:srgbClr val="00B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Google ADK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LlmAgent(...)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run_async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AWS Strands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@tool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invoke_async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Pydantic AI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agent.run()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MS Agent Framework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agent.run()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Agno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Agent(...)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plain fn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agent.arun()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Roboto Slab"/>
                          <a:ea typeface="Roboto Slab"/>
                          <a:cs typeface="Roboto Slab"/>
                          <a:sym typeface="Roboto Slab"/>
                        </a:rPr>
                        <a:t>Mastra</a:t>
                      </a:r>
                      <a:endParaRPr sz="1100">
                        <a:solidFill>
                          <a:srgbClr val="FFFFFF"/>
                        </a:solidFill>
                        <a:latin typeface="Roboto Slab"/>
                        <a:ea typeface="Roboto Slab"/>
                        <a:cs typeface="Roboto Slab"/>
                        <a:sym typeface="Roboto Slab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new Agent({...})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createTool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rgbClr val="FFFFFF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agent.generate()</a:t>
                      </a:r>
                      <a:endParaRPr sz="1000">
                        <a:solidFill>
                          <a:srgbClr val="FFFFFF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43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" name="Google Shape;103;p5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Six frameworks, one shape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04" name="Google Shape;104;p5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FFF"/>
                </a:solidFill>
                <a:latin typeface="Montserrat"/>
                <a:ea typeface="Montserrat"/>
                <a:cs typeface="Montserrat"/>
                <a:sym typeface="Montserrat"/>
              </a:rPr>
              <a:t>Know one, know them all</a:t>
            </a:r>
            <a:endParaRPr sz="1800">
              <a:solidFill>
                <a:srgbClr val="00B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What actually differs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small print</a:t>
            </a:r>
            <a:endParaRPr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963168" y="1957959"/>
            <a:ext cx="36600" cy="3429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6"/>
          <p:cNvGrpSpPr/>
          <p:nvPr/>
        </p:nvGrpSpPr>
        <p:grpSpPr>
          <a:xfrm>
            <a:off x="890016" y="1714500"/>
            <a:ext cx="5510664" cy="617100"/>
            <a:chOff x="890016" y="1714500"/>
            <a:chExt cx="5510664" cy="617100"/>
          </a:xfrm>
        </p:grpSpPr>
        <p:sp>
          <p:nvSpPr>
            <p:cNvPr id="114" name="Google Shape;114;p6"/>
            <p:cNvSpPr txBox="1"/>
            <p:nvPr/>
          </p:nvSpPr>
          <p:spPr>
            <a:xfrm>
              <a:off x="1402080" y="1714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Default model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ADK runs on Gemini, the other five on OpenAI gpt-5.4-mini in our labs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890016" y="187223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890016" y="2571750"/>
            <a:ext cx="5510664" cy="617100"/>
            <a:chOff x="890016" y="2571750"/>
            <a:chExt cx="5510664" cy="617100"/>
          </a:xfrm>
        </p:grpSpPr>
        <p:sp>
          <p:nvSpPr>
            <p:cNvPr id="117" name="Google Shape;117;p6"/>
            <p:cNvSpPr txBox="1"/>
            <p:nvPr/>
          </p:nvSpPr>
          <p:spPr>
            <a:xfrm>
              <a:off x="1402080" y="25717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Dev runtime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adk web, Mastra Studio and Agno AgentOS each give a live trace UI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890016" y="272948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6"/>
          <p:cNvGrpSpPr/>
          <p:nvPr/>
        </p:nvGrpSpPr>
        <p:grpSpPr>
          <a:xfrm>
            <a:off x="890016" y="3429000"/>
            <a:ext cx="5510664" cy="617100"/>
            <a:chOff x="890016" y="3429000"/>
            <a:chExt cx="5510664" cy="617100"/>
          </a:xfrm>
        </p:grpSpPr>
        <p:sp>
          <p:nvSpPr>
            <p:cNvPr id="120" name="Google Shape;120;p6"/>
            <p:cNvSpPr txBox="1"/>
            <p:nvPr/>
          </p:nvSpPr>
          <p:spPr>
            <a:xfrm>
              <a:off x="1402080" y="34290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Typed output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all six return validated results, cleanest in Pydantic AI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890016" y="358673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6"/>
          <p:cNvGrpSpPr/>
          <p:nvPr/>
        </p:nvGrpSpPr>
        <p:grpSpPr>
          <a:xfrm>
            <a:off x="890016" y="4286250"/>
            <a:ext cx="5510664" cy="617100"/>
            <a:chOff x="890016" y="4286250"/>
            <a:chExt cx="5510664" cy="617100"/>
          </a:xfrm>
        </p:grpSpPr>
        <p:sp>
          <p:nvSpPr>
            <p:cNvPr id="123" name="Google Shape;123;p6"/>
            <p:cNvSpPr txBox="1"/>
            <p:nvPr/>
          </p:nvSpPr>
          <p:spPr>
            <a:xfrm>
              <a:off x="1402080" y="428625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Language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five are Python, Mastra is TypeScript on Node, same idioms either way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890016" y="4443984"/>
              <a:ext cx="170700" cy="1716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6"/>
          <p:cNvGrpSpPr/>
          <p:nvPr/>
        </p:nvGrpSpPr>
        <p:grpSpPr>
          <a:xfrm>
            <a:off x="890016" y="5143500"/>
            <a:ext cx="5510664" cy="617100"/>
            <a:chOff x="890016" y="5143500"/>
            <a:chExt cx="5510664" cy="617100"/>
          </a:xfrm>
        </p:grpSpPr>
        <p:sp>
          <p:nvSpPr>
            <p:cNvPr id="126" name="Google Shape;126;p6"/>
            <p:cNvSpPr txBox="1"/>
            <p:nvPr/>
          </p:nvSpPr>
          <p:spPr>
            <a:xfrm>
              <a:off x="1402080" y="51435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Orchestration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ADK and MAF ship workflow graphs, the lighter ones leave it to you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890016" y="5301234"/>
              <a:ext cx="170700" cy="171600"/>
            </a:xfrm>
            <a:prstGeom prst="ellipse">
              <a:avLst/>
            </a:prstGeom>
            <a:solidFill>
              <a:srgbClr val="FFD7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Project 7: the Agent Loop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34" name="Google Shape;134;p7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Five frameworks build it, one agent runs the show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35" name="Google Shape;135;p7"/>
          <p:cNvGrpSpPr/>
          <p:nvPr/>
        </p:nvGrpSpPr>
        <p:grpSpPr>
          <a:xfrm>
            <a:off x="896112" y="4457700"/>
            <a:ext cx="5504568" cy="617100"/>
            <a:chOff x="896112" y="4457700"/>
            <a:chExt cx="5504568" cy="617100"/>
          </a:xfrm>
        </p:grpSpPr>
        <p:sp>
          <p:nvSpPr>
            <p:cNvPr id="136" name="Google Shape;136;p7"/>
            <p:cNvSpPr txBox="1"/>
            <p:nvPr/>
          </p:nvSpPr>
          <p:spPr>
            <a:xfrm>
              <a:off x="1402080" y="445770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An outer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orchestrator judges each game in a real browser and sends one fix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37" name="Google Shape;137;p7" title="loop_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452704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8" name="Google Shape;138;p7"/>
          <p:cNvGrpSpPr/>
          <p:nvPr/>
        </p:nvGrpSpPr>
        <p:grpSpPr>
          <a:xfrm>
            <a:off x="896112" y="3326130"/>
            <a:ext cx="5504568" cy="617100"/>
            <a:chOff x="896112" y="3326130"/>
            <a:chExt cx="5504568" cy="617100"/>
          </a:xfrm>
        </p:grpSpPr>
        <p:sp>
          <p:nvSpPr>
            <p:cNvPr id="139" name="Google Shape;139;p7"/>
            <p:cNvSpPr txBox="1"/>
            <p:nvPr/>
          </p:nvSpPr>
          <p:spPr>
            <a:xfrm>
              <a:off x="1402080" y="332613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Five builders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each builds a mini-game in parallel, all writing to one shared board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0" name="Google Shape;140;p7" title="team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339547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7"/>
          <p:cNvGrpSpPr/>
          <p:nvPr/>
        </p:nvGrpSpPr>
        <p:grpSpPr>
          <a:xfrm>
            <a:off x="896112" y="2194560"/>
            <a:ext cx="5504568" cy="617100"/>
            <a:chOff x="896112" y="2194560"/>
            <a:chExt cx="5504568" cy="617100"/>
          </a:xfrm>
        </p:grpSpPr>
        <p:sp>
          <p:nvSpPr>
            <p:cNvPr id="142" name="Google Shape;142;p7"/>
            <p:cNvSpPr txBox="1"/>
            <p:nvPr/>
          </p:nvSpPr>
          <p:spPr>
            <a:xfrm>
              <a:off x="1402080" y="21945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brief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name a language, the team builds a playable arcade that teaches it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43" name="Google Shape;143;p7" title="target_g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226390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How it fits together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Nested loops: outer Agent loop runs the inner agent loops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962912" y="1714500"/>
            <a:ext cx="2682300" cy="548700"/>
          </a:xfrm>
          <a:prstGeom prst="roundRect">
            <a:avLst>
              <a:gd fmla="val 16667" name="adj"/>
            </a:avLst>
          </a:prstGeom>
          <a:solidFill>
            <a:srgbClr val="FFD700"/>
          </a:solidFill>
          <a:ln cap="flat" cmpd="sng" w="1905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latin typeface="Roboto Slab"/>
                <a:ea typeface="Roboto Slab"/>
                <a:cs typeface="Roboto Slab"/>
                <a:sym typeface="Roboto Slab"/>
              </a:rPr>
              <a:t>ADK orchestrator</a:t>
            </a:r>
            <a:endParaRPr b="1"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latin typeface="Roboto Slab"/>
                <a:ea typeface="Roboto Slab"/>
                <a:cs typeface="Roboto Slab"/>
                <a:sym typeface="Roboto Slab"/>
              </a:rPr>
              <a:t>decides, launches, judges, repairs</a:t>
            </a:r>
            <a:endParaRPr sz="950"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52" name="Google Shape;152;p8"/>
          <p:cNvGrpSpPr/>
          <p:nvPr/>
        </p:nvGrpSpPr>
        <p:grpSpPr>
          <a:xfrm>
            <a:off x="573024" y="2811780"/>
            <a:ext cx="5462124" cy="617100"/>
            <a:chOff x="573024" y="2811780"/>
            <a:chExt cx="5462124" cy="617100"/>
          </a:xfrm>
        </p:grpSpPr>
        <p:sp>
          <p:nvSpPr>
            <p:cNvPr id="153" name="Google Shape;153;p8"/>
            <p:cNvSpPr/>
            <p:nvPr/>
          </p:nvSpPr>
          <p:spPr>
            <a:xfrm>
              <a:off x="573024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Strands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706880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Pydantic AI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2840736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MAF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3974592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Agno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5108448" y="2811780"/>
              <a:ext cx="926700" cy="6171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Mastra</a:t>
              </a:r>
              <a:endParaRPr b="1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sp>
        <p:nvSpPr>
          <p:cNvPr id="158" name="Google Shape;158;p8"/>
          <p:cNvSpPr/>
          <p:nvPr/>
        </p:nvSpPr>
        <p:spPr>
          <a:xfrm>
            <a:off x="1962912" y="4800600"/>
            <a:ext cx="2682300" cy="548700"/>
          </a:xfrm>
          <a:prstGeom prst="roundRect">
            <a:avLst>
              <a:gd fmla="val 16667" name="adj"/>
            </a:avLst>
          </a:prstGeom>
          <a:solidFill>
            <a:srgbClr val="00BFFF">
              <a:alpha val="34900"/>
            </a:srgbClr>
          </a:solidFill>
          <a:ln cap="flat" cmpd="sng" w="19050">
            <a:solidFill>
              <a:srgbClr val="00B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Browser QA agent</a:t>
            </a:r>
            <a:endParaRPr b="1" sz="1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plays each game in real Chrome via Playwright</a:t>
            </a:r>
            <a:endParaRPr sz="95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3535680" y="4354830"/>
            <a:ext cx="2438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opens each game to judge</a:t>
            </a:r>
            <a:endParaRPr sz="1000">
              <a:solidFill>
                <a:srgbClr val="FFD7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573024" y="5760720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Agent Architecture was driven by outcomes…</a:t>
            </a:r>
            <a:endParaRPr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61" name="Google Shape;161;p8"/>
          <p:cNvGrpSpPr/>
          <p:nvPr/>
        </p:nvGrpSpPr>
        <p:grpSpPr>
          <a:xfrm>
            <a:off x="1029970" y="2223337"/>
            <a:ext cx="4944170" cy="588533"/>
            <a:chOff x="1029970" y="2223337"/>
            <a:chExt cx="4944170" cy="588533"/>
          </a:xfrm>
        </p:grpSpPr>
        <p:sp>
          <p:nvSpPr>
            <p:cNvPr id="162" name="Google Shape;162;p8"/>
            <p:cNvSpPr txBox="1"/>
            <p:nvPr/>
          </p:nvSpPr>
          <p:spPr>
            <a:xfrm>
              <a:off x="3596640" y="2223337"/>
              <a:ext cx="2377500" cy="17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launches in parallel</a:t>
              </a:r>
              <a:endParaRPr sz="1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grpSp>
          <p:nvGrpSpPr>
            <p:cNvPr id="163" name="Google Shape;163;p8"/>
            <p:cNvGrpSpPr/>
            <p:nvPr/>
          </p:nvGrpSpPr>
          <p:grpSpPr>
            <a:xfrm>
              <a:off x="1029970" y="2263140"/>
              <a:ext cx="4541750" cy="548730"/>
              <a:chOff x="1029970" y="2263140"/>
              <a:chExt cx="4541750" cy="548730"/>
            </a:xfrm>
          </p:grpSpPr>
          <p:cxnSp>
            <p:nvCxnSpPr>
              <p:cNvPr id="164" name="Google Shape;164;p8"/>
              <p:cNvCxnSpPr/>
              <p:nvPr/>
            </p:nvCxnSpPr>
            <p:spPr>
              <a:xfrm>
                <a:off x="3297682" y="2263140"/>
                <a:ext cx="12600" cy="2400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8"/>
              <p:cNvCxnSpPr/>
              <p:nvPr/>
            </p:nvCxnSpPr>
            <p:spPr>
              <a:xfrm>
                <a:off x="1036320" y="2496820"/>
                <a:ext cx="4535400" cy="126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8"/>
              <p:cNvCxnSpPr/>
              <p:nvPr/>
            </p:nvCxnSpPr>
            <p:spPr>
              <a:xfrm>
                <a:off x="1029970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7" name="Google Shape;167;p8"/>
              <p:cNvCxnSpPr/>
              <p:nvPr/>
            </p:nvCxnSpPr>
            <p:spPr>
              <a:xfrm>
                <a:off x="2163826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8" name="Google Shape;168;p8"/>
              <p:cNvCxnSpPr/>
              <p:nvPr/>
            </p:nvCxnSpPr>
            <p:spPr>
              <a:xfrm>
                <a:off x="3297682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69" name="Google Shape;169;p8"/>
              <p:cNvCxnSpPr/>
              <p:nvPr/>
            </p:nvCxnSpPr>
            <p:spPr>
              <a:xfrm>
                <a:off x="4431538" y="2503170"/>
                <a:ext cx="12600" cy="308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D7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cxnSp>
        <p:nvCxnSpPr>
          <p:cNvPr id="170" name="Google Shape;170;p8"/>
          <p:cNvCxnSpPr/>
          <p:nvPr/>
        </p:nvCxnSpPr>
        <p:spPr>
          <a:xfrm>
            <a:off x="5565394" y="2503170"/>
            <a:ext cx="12600" cy="308700"/>
          </a:xfrm>
          <a:prstGeom prst="straightConnector1">
            <a:avLst/>
          </a:prstGeom>
          <a:noFill/>
          <a:ln cap="flat" cmpd="sng" w="19050">
            <a:solidFill>
              <a:srgbClr val="FFD7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71" name="Google Shape;171;p8"/>
          <p:cNvGrpSpPr/>
          <p:nvPr/>
        </p:nvGrpSpPr>
        <p:grpSpPr>
          <a:xfrm>
            <a:off x="573024" y="3429000"/>
            <a:ext cx="5462100" cy="754500"/>
            <a:chOff x="573024" y="3429000"/>
            <a:chExt cx="5462100" cy="754500"/>
          </a:xfrm>
        </p:grpSpPr>
        <p:sp>
          <p:nvSpPr>
            <p:cNvPr id="172" name="Google Shape;172;p8"/>
            <p:cNvSpPr/>
            <p:nvPr/>
          </p:nvSpPr>
          <p:spPr>
            <a:xfrm>
              <a:off x="573024" y="3771900"/>
              <a:ext cx="5462100" cy="411600"/>
            </a:xfrm>
            <a:prstGeom prst="rect">
              <a:avLst/>
            </a:prstGeom>
            <a:solidFill>
              <a:srgbClr val="FFD700">
                <a:alpha val="34900"/>
              </a:srgbClr>
            </a:solidFill>
            <a:ln cap="flat" cmpd="sng" w="19050">
              <a:solidFill>
                <a:srgbClr val="FFD7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Shared SQLite board</a:t>
              </a:r>
              <a:endParaRPr b="1"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one file, six processes, the only coordination channel</a:t>
              </a:r>
              <a:endParaRPr sz="9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1121664" y="3525012"/>
              <a:ext cx="10974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write</a:t>
              </a:r>
              <a:endParaRPr sz="10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cxnSp>
          <p:nvCxnSpPr>
            <p:cNvPr id="174" name="Google Shape;174;p8"/>
            <p:cNvCxnSpPr/>
            <p:nvPr/>
          </p:nvCxnSpPr>
          <p:spPr>
            <a:xfrm>
              <a:off x="1029970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2163826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3297682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431538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5565394" y="3429000"/>
              <a:ext cx="12600" cy="342900"/>
            </a:xfrm>
            <a:prstGeom prst="straightConnector1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79" name="Google Shape;179;p8"/>
          <p:cNvCxnSpPr/>
          <p:nvPr/>
        </p:nvCxnSpPr>
        <p:spPr>
          <a:xfrm>
            <a:off x="3297682" y="4183380"/>
            <a:ext cx="12600" cy="617100"/>
          </a:xfrm>
          <a:prstGeom prst="straightConnector1">
            <a:avLst/>
          </a:prstGeom>
          <a:noFill/>
          <a:ln cap="flat" cmpd="sng" w="22225">
            <a:solidFill>
              <a:srgbClr val="FFD7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0" name="Google Shape;180;p8"/>
          <p:cNvGrpSpPr/>
          <p:nvPr/>
        </p:nvGrpSpPr>
        <p:grpSpPr>
          <a:xfrm>
            <a:off x="237490" y="1982470"/>
            <a:ext cx="1725350" cy="3098700"/>
            <a:chOff x="237490" y="1982470"/>
            <a:chExt cx="1725350" cy="3098700"/>
          </a:xfrm>
        </p:grpSpPr>
        <p:sp>
          <p:nvSpPr>
            <p:cNvPr id="181" name="Google Shape;181;p8"/>
            <p:cNvSpPr txBox="1"/>
            <p:nvPr/>
          </p:nvSpPr>
          <p:spPr>
            <a:xfrm>
              <a:off x="341376" y="2084832"/>
              <a:ext cx="1524000" cy="16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outer loop</a:t>
              </a:r>
              <a:endParaRPr sz="1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cxnSp>
          <p:nvCxnSpPr>
            <p:cNvPr id="182" name="Google Shape;182;p8"/>
            <p:cNvCxnSpPr/>
            <p:nvPr/>
          </p:nvCxnSpPr>
          <p:spPr>
            <a:xfrm>
              <a:off x="243840" y="5068570"/>
              <a:ext cx="1719000" cy="12600"/>
            </a:xfrm>
            <a:prstGeom prst="straightConnector1">
              <a:avLst/>
            </a:prstGeom>
            <a:noFill/>
            <a:ln cap="flat" cmpd="sng" w="22225">
              <a:solidFill>
                <a:srgbClr val="FFD7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" name="Google Shape;183;p8"/>
            <p:cNvCxnSpPr/>
            <p:nvPr/>
          </p:nvCxnSpPr>
          <p:spPr>
            <a:xfrm>
              <a:off x="237490" y="1988820"/>
              <a:ext cx="12600" cy="3086100"/>
            </a:xfrm>
            <a:prstGeom prst="straightConnector1">
              <a:avLst/>
            </a:prstGeom>
            <a:noFill/>
            <a:ln cap="flat" cmpd="sng" w="22225">
              <a:solidFill>
                <a:srgbClr val="FFD7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4" name="Google Shape;184;p8"/>
            <p:cNvCxnSpPr/>
            <p:nvPr/>
          </p:nvCxnSpPr>
          <p:spPr>
            <a:xfrm>
              <a:off x="243840" y="1982470"/>
              <a:ext cx="1719000" cy="12600"/>
            </a:xfrm>
            <a:prstGeom prst="straightConnector1">
              <a:avLst/>
            </a:prstGeom>
            <a:noFill/>
            <a:ln cap="flat" cmpd="sng" w="22225">
              <a:solidFill>
                <a:srgbClr val="FFD7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5" name="Google Shape;185;p8"/>
          <p:cNvSpPr txBox="1"/>
          <p:nvPr/>
        </p:nvSpPr>
        <p:spPr>
          <a:xfrm>
            <a:off x="573024" y="6241438"/>
            <a:ext cx="5608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No need for A2A to communicate between our own Agents</a:t>
            </a:r>
            <a:endParaRPr>
              <a:solidFill>
                <a:srgbClr val="FF78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/>
        </p:nvSpPr>
        <p:spPr>
          <a:xfrm>
            <a:off x="573024" y="582930"/>
            <a:ext cx="87783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Make it your own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585216" y="1152144"/>
            <a:ext cx="7559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D700"/>
                </a:solidFill>
                <a:latin typeface="Montserrat"/>
                <a:ea typeface="Montserrat"/>
                <a:cs typeface="Montserrat"/>
                <a:sym typeface="Montserrat"/>
              </a:rPr>
              <a:t>Your end-of-week challenge</a:t>
            </a:r>
            <a:endParaRPr sz="1800">
              <a:solidFill>
                <a:srgbClr val="FFD7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93" name="Google Shape;193;p9"/>
          <p:cNvGrpSpPr/>
          <p:nvPr/>
        </p:nvGrpSpPr>
        <p:grpSpPr>
          <a:xfrm>
            <a:off x="896112" y="1851660"/>
            <a:ext cx="5504568" cy="617100"/>
            <a:chOff x="896112" y="1851660"/>
            <a:chExt cx="5504568" cy="617100"/>
          </a:xfrm>
        </p:grpSpPr>
        <p:sp>
          <p:nvSpPr>
            <p:cNvPr id="194" name="Google Shape;194;p9"/>
            <p:cNvSpPr txBox="1"/>
            <p:nvPr/>
          </p:nvSpPr>
          <p:spPr>
            <a:xfrm>
              <a:off x="1402080" y="185166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Reuse the team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keep the ADK orchestrator and the five framework workers on the shared board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5" name="Google Shape;195;p9" title="team_g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96112" y="192100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96;p9"/>
          <p:cNvGrpSpPr/>
          <p:nvPr/>
        </p:nvGrpSpPr>
        <p:grpSpPr>
          <a:xfrm>
            <a:off x="896112" y="2846070"/>
            <a:ext cx="5504568" cy="617100"/>
            <a:chOff x="896112" y="2846070"/>
            <a:chExt cx="5504568" cy="617100"/>
          </a:xfrm>
        </p:grpSpPr>
        <p:sp>
          <p:nvSpPr>
            <p:cNvPr id="197" name="Google Shape;197;p9"/>
            <p:cNvSpPr txBox="1"/>
            <p:nvPr/>
          </p:nvSpPr>
          <p:spPr>
            <a:xfrm>
              <a:off x="1402080" y="284607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Pick a domain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swap the language-tutor site for a new useful output you care about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198" name="Google Shape;198;p9" title="target_b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6112" y="291541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9"/>
          <p:cNvGrpSpPr/>
          <p:nvPr/>
        </p:nvGrpSpPr>
        <p:grpSpPr>
          <a:xfrm>
            <a:off x="896112" y="3840480"/>
            <a:ext cx="5504568" cy="617100"/>
            <a:chOff x="896112" y="3840480"/>
            <a:chExt cx="5504568" cy="617100"/>
          </a:xfrm>
        </p:grpSpPr>
        <p:sp>
          <p:nvSpPr>
            <p:cNvPr id="200" name="Google Shape;200;p9"/>
            <p:cNvSpPr txBox="1"/>
            <p:nvPr/>
          </p:nvSpPr>
          <p:spPr>
            <a:xfrm>
              <a:off x="1402080" y="384048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Specialise each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give every framework-agent a distinct role and a piece to build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1" name="Google Shape;201;p9" title="puzzle_b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96112" y="390982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202;p9"/>
          <p:cNvGrpSpPr/>
          <p:nvPr/>
        </p:nvGrpSpPr>
        <p:grpSpPr>
          <a:xfrm>
            <a:off x="896112" y="4834890"/>
            <a:ext cx="5504568" cy="617100"/>
            <a:chOff x="896112" y="4834890"/>
            <a:chExt cx="5504568" cy="617100"/>
          </a:xfrm>
        </p:grpSpPr>
        <p:sp>
          <p:nvSpPr>
            <p:cNvPr id="203" name="Google Shape;203;p9"/>
            <p:cNvSpPr txBox="1"/>
            <p:nvPr/>
          </p:nvSpPr>
          <p:spPr>
            <a:xfrm>
              <a:off x="1402080" y="4834890"/>
              <a:ext cx="4998600" cy="6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in parallel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seed tasks on the SQLite board and watch the workers build at once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04" name="Google Shape;204;p9" title="parallel_g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96112" y="4904232"/>
              <a:ext cx="341376" cy="3413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9"/>
          <p:cNvSpPr txBox="1"/>
          <p:nvPr/>
        </p:nvSpPr>
        <p:spPr>
          <a:xfrm>
            <a:off x="896100" y="5889813"/>
            <a:ext cx="544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…And give a broader, measurable objective and have the Orchestrator keep looping until achieved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257180" y="569595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257180" y="46196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257180" y="3543300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257180" y="31432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361950" y="575369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361950" y="46773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361950" y="3601045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361950" y="37207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47680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447675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4768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447675" y="50077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447680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44767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4768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44767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1562097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15621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562097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15621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562097" y="3857625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562100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562097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5621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2676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2676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2667000" y="493395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2667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2676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2676525" y="400766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2676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2676525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3819528" y="6010275"/>
            <a:ext cx="1002900" cy="61020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819525" y="6160311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819528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819525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819528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3819525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3819528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3819525" y="7786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953000" y="601027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953000" y="608411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953000" y="493395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953000" y="508398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953000" y="3857625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4953000" y="3931461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953000" y="62865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953000" y="70248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63" name="Google Shape;263;p10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LangGraph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</a:t>
            </a:r>
            <a:endParaRPr sz="1125"/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create_agent</a:t>
            </a:r>
            <a:endParaRPr sz="1125"/>
          </a:p>
        </p:txBody>
      </p:sp>
      <p:sp>
        <p:nvSpPr>
          <p:cNvPr id="267" name="Google Shape;267;p10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solidFill>
            <a:srgbClr val="00BE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Deep Agents</a:t>
            </a:r>
            <a:endParaRPr sz="1125"/>
          </a:p>
        </p:txBody>
      </p:sp>
      <p:sp>
        <p:nvSpPr>
          <p:cNvPr id="269" name="Google Shape;269;p10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10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72" name="Google Shape;272;p10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Google ADK and A2A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Strands and Pydantic AI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MAF and</a:t>
              </a:r>
              <a:endParaRPr sz="1125"/>
            </a:p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Agno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solidFill>
              <a:srgbClr val="00BFFF"/>
            </a:solidFill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/>
                <a:t>Mastra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solidFill>
              <a:srgbClr val="FFD700"/>
            </a:solidFill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/>
                <a:t>Loop</a:t>
              </a:r>
              <a:endParaRPr b="0" i="0" sz="1800" u="none" cap="none" strike="noStrike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4572000" y="0"/>
            <a:ext cx="26091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 txBox="1"/>
          <p:nvPr/>
        </p:nvSpPr>
        <p:spPr>
          <a:xfrm>
            <a:off x="4730496" y="260604"/>
            <a:ext cx="2451000" cy="6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83%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91" name="Google Shape;291;p11" title="w5d5_outr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