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12192000"/>
  <p:embeddedFontLst>
    <p:embeddedFont>
      <p:font typeface="Roboto Slab"/>
      <p:regular r:id="rId11"/>
      <p:bold r:id="rId12"/>
    </p:embeddedFont>
    <p:embeddedFont>
      <p:font typeface="Montserrat SemiBold"/>
      <p:regular r:id="rId13"/>
      <p:bold r:id="rId14"/>
      <p:italic r:id="rId15"/>
      <p:boldItalic r:id="rId16"/>
    </p:embeddedFont>
    <p:embeddedFont>
      <p:font typeface="Montserrat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11" Type="http://schemas.openxmlformats.org/officeDocument/2006/relationships/font" Target="fonts/RobotoSlab-regular.fntdata"/><Relationship Id="rId10" Type="http://schemas.openxmlformats.org/officeDocument/2006/relationships/slide" Target="slides/slide6.xml"/><Relationship Id="rId13" Type="http://schemas.openxmlformats.org/officeDocument/2006/relationships/font" Target="fonts/MontserratSemiBold-regular.fntdata"/><Relationship Id="rId12" Type="http://schemas.openxmlformats.org/officeDocument/2006/relationships/font" Target="fonts/RobotoSlab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SemiBold-italic.fntdata"/><Relationship Id="rId14" Type="http://schemas.openxmlformats.org/officeDocument/2006/relationships/font" Target="fonts/MontserratSemiBold-bold.fntdata"/><Relationship Id="rId17" Type="http://schemas.openxmlformats.org/officeDocument/2006/relationships/font" Target="fonts/Montserrat-regular.fntdata"/><Relationship Id="rId16" Type="http://schemas.openxmlformats.org/officeDocument/2006/relationships/font" Target="fonts/MontserratSemiBold-boldItalic.fntdata"/><Relationship Id="rId5" Type="http://schemas.openxmlformats.org/officeDocument/2006/relationships/slide" Target="slides/slide1.xml"/><Relationship Id="rId19" Type="http://schemas.openxmlformats.org/officeDocument/2006/relationships/font" Target="fonts/Montserrat-italic.fntdata"/><Relationship Id="rId6" Type="http://schemas.openxmlformats.org/officeDocument/2006/relationships/slide" Target="slides/slide2.xml"/><Relationship Id="rId18" Type="http://schemas.openxmlformats.org/officeDocument/2006/relationships/font" Target="fonts/Montserrat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dfa2d7eac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dfa2d7eac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dfa2d7eacf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fa2d7eacf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3dfa2d7eacf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dfa2d7eacf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FFD700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4725775" y="258325"/>
            <a:ext cx="2363100" cy="6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2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4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8" name="Google Shape;1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257174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257174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257174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257174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257174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4767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47674" y="278130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47674" y="493395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47674" y="3857625"/>
            <a:ext cx="1002979" cy="610231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4767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562101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562101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562101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562101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562101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267652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2676524" y="278130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Tools, memory,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searches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2676524" y="493395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2676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2676524" y="3857625"/>
            <a:ext cx="1002979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267652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381952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3819524" y="278130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3819524" y="4933950"/>
            <a:ext cx="1002979" cy="610230"/>
          </a:xfrm>
          <a:prstGeom prst="rect">
            <a:avLst/>
          </a:prstGeom>
          <a:solidFill>
            <a:srgbClr val="FFD700">
              <a:alpha val="34902"/>
            </a:srgbClr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3819524" y="3857625"/>
            <a:ext cx="1002979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381952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953000" y="60102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953000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953000" y="49339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953000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953000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" name="Google Shape;84;p4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85" name="Google Shape;85;p4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/>
          <p:nvPr/>
        </p:nvSpPr>
        <p:spPr>
          <a:xfrm>
            <a:off x="571500" y="58616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Essential use-case: Deep 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3" name="Google Shape;10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285875"/>
            <a:ext cx="597217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5"/>
          <p:cNvSpPr/>
          <p:nvPr/>
        </p:nvSpPr>
        <p:spPr>
          <a:xfrm>
            <a:off x="657225" y="5669756"/>
            <a:ext cx="589478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3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Using </a:t>
            </a:r>
            <a:r>
              <a:rPr b="1" i="0" lang="en-US" sz="153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Tools</a:t>
            </a:r>
            <a:r>
              <a:rPr b="0" i="0" lang="en-US" sz="153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b="1" i="0" lang="en-US" sz="153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Structured Outputs</a:t>
            </a:r>
            <a:r>
              <a:rPr b="0" i="0" lang="en-US" sz="153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and </a:t>
            </a:r>
            <a:r>
              <a:rPr b="1" i="0" lang="en-US" sz="153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Hosted 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5" title="18_W2D5_S03_Landscape_902f242cb738-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285875"/>
            <a:ext cx="6031050" cy="402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750" y="247650"/>
            <a:ext cx="6229350" cy="622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6" title="17_W2D3_S05_Square_aa10a43caba6-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750" y="247650"/>
            <a:ext cx="6229350" cy="622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/>
          <p:nvPr/>
        </p:nvSpPr>
        <p:spPr>
          <a:xfrm>
            <a:off x="257174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257174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257174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257174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257174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447674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447674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447674" y="493395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447674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447674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1562097" y="6010275"/>
            <a:ext cx="1002982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1562097" y="2781300"/>
            <a:ext cx="1002982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562097" y="493395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1562097" y="3857625"/>
            <a:ext cx="1002982" cy="610231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1562097" y="628650"/>
            <a:ext cx="1002982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2676528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2676528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Tools, memory,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searches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2667000" y="493395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2667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2676528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2676528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3819528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3819528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3819528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3819528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3819528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4953000" y="60102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4953000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4953000" y="4933950"/>
            <a:ext cx="1002976" cy="610230"/>
          </a:xfrm>
          <a:prstGeom prst="rect">
            <a:avLst/>
          </a:prstGeom>
          <a:solidFill>
            <a:srgbClr val="FFD700">
              <a:alpha val="34902"/>
            </a:srgbClr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4953000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4953000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8" name="Google Shape;178;p7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179" name="Google Shape;179;p7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7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7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7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7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7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7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7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7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7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7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7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FFD700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p8"/>
          <p:cNvSpPr txBox="1"/>
          <p:nvPr/>
        </p:nvSpPr>
        <p:spPr>
          <a:xfrm>
            <a:off x="4725775" y="258325"/>
            <a:ext cx="2363100" cy="59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30</a:t>
            </a: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%</a:t>
            </a:r>
            <a:endParaRPr sz="65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98" name="Google Shape;19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7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