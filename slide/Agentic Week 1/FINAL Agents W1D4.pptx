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Roboto Slab"/>
      <p:regular r:id="rId20"/>
      <p:bold r:id="rId21"/>
    </p:embeddedFon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MontserratSemiBold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dd7a85531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g3dd7a85531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dd7a85531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d7a855319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d7a855319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d7a855319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d7a855319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dd7a855319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d7a855319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d7a855319_2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dd7a855319_2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d7a855319_2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d7a855319_2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dd7a855319_2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d7a855319_2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d7a855319_2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dd7a855319_2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d7a855319_2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d7a855319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dd7a855319_2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d7a855319_2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d7a855319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dd7a855319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dd7a855319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78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4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" name="Google Shape;1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257175" y="569595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257175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257175" y="4619625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57175" y="354330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257175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47675" y="6010276"/>
            <a:ext cx="1002978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47675" y="278130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47675" y="4933950"/>
            <a:ext cx="1002978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47675" y="3857625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47675" y="62865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562099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562099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562099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562099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562099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676526" y="6010276"/>
            <a:ext cx="1002976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676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676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676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676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819526" y="6010276"/>
            <a:ext cx="1002976" cy="610229"/>
          </a:xfrm>
          <a:prstGeom prst="rect">
            <a:avLst/>
          </a:prstGeom>
          <a:solidFill>
            <a:srgbClr val="FF7800">
              <a:alpha val="34902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819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819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819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819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953000" y="6010276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953000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953000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5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6" name="Google Shape;86;p5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6566550" y="6941682"/>
            <a:ext cx="15537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6"/>
          <p:cNvGrpSpPr/>
          <p:nvPr/>
        </p:nvGrpSpPr>
        <p:grpSpPr>
          <a:xfrm>
            <a:off x="1828025" y="1483188"/>
            <a:ext cx="2008200" cy="3891600"/>
            <a:chOff x="2077742" y="1511888"/>
            <a:chExt cx="2008200" cy="3891600"/>
          </a:xfrm>
        </p:grpSpPr>
        <p:sp>
          <p:nvSpPr>
            <p:cNvPr id="105" name="Google Shape;105;p6"/>
            <p:cNvSpPr/>
            <p:nvPr/>
          </p:nvSpPr>
          <p:spPr>
            <a:xfrm>
              <a:off x="2153950" y="1511888"/>
              <a:ext cx="1839600" cy="38916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 txBox="1"/>
            <p:nvPr/>
          </p:nvSpPr>
          <p:spPr>
            <a:xfrm>
              <a:off x="2077742" y="1664275"/>
              <a:ext cx="2008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Products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107" name="Google Shape;107;p6"/>
            <p:cNvSpPr txBox="1"/>
            <p:nvPr/>
          </p:nvSpPr>
          <p:spPr>
            <a:xfrm>
              <a:off x="2153950" y="2082263"/>
              <a:ext cx="1839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Non-technical people can</a:t>
              </a:r>
              <a:b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</a:t>
              </a:r>
              <a:r>
                <a:rPr lang="en-US"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AI Agents</a:t>
              </a:r>
              <a:endParaRPr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2284300" y="4166063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OpenClaw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2282300" y="3485938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Cowork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228230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Code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2283350" y="4846188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Design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2" name="Google Shape;112;p6"/>
          <p:cNvGrpSpPr/>
          <p:nvPr/>
        </p:nvGrpSpPr>
        <p:grpSpPr>
          <a:xfrm>
            <a:off x="-52233" y="1483188"/>
            <a:ext cx="2008200" cy="3891600"/>
            <a:chOff x="100167" y="1520900"/>
            <a:chExt cx="2008200" cy="3891600"/>
          </a:xfrm>
        </p:grpSpPr>
        <p:grpSp>
          <p:nvGrpSpPr>
            <p:cNvPr id="113" name="Google Shape;113;p6"/>
            <p:cNvGrpSpPr/>
            <p:nvPr/>
          </p:nvGrpSpPr>
          <p:grpSpPr>
            <a:xfrm>
              <a:off x="100167" y="1520900"/>
              <a:ext cx="2008200" cy="3891600"/>
              <a:chOff x="100167" y="1520900"/>
              <a:chExt cx="2008200" cy="3891600"/>
            </a:xfrm>
          </p:grpSpPr>
          <p:sp>
            <p:nvSpPr>
              <p:cNvPr id="114" name="Google Shape;114;p6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6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Builders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16" name="Google Shape;116;p6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Non-technical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build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306725" y="4175075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OpenAI Agent Builder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>
                <a:off x="304725" y="3494950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ElevenLabs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>
                <a:off x="304725" y="2843525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n8n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20" name="Google Shape;120;p6"/>
            <p:cNvSpPr/>
            <p:nvPr/>
          </p:nvSpPr>
          <p:spPr>
            <a:xfrm>
              <a:off x="327425" y="4846188"/>
              <a:ext cx="15537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CrewAI Studio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1" name="Google Shape;121;p6"/>
          <p:cNvGrpSpPr/>
          <p:nvPr/>
        </p:nvGrpSpPr>
        <p:grpSpPr>
          <a:xfrm>
            <a:off x="3708283" y="1483188"/>
            <a:ext cx="2008200" cy="3891600"/>
            <a:chOff x="4099842" y="1483188"/>
            <a:chExt cx="2008200" cy="3891600"/>
          </a:xfrm>
        </p:grpSpPr>
        <p:grpSp>
          <p:nvGrpSpPr>
            <p:cNvPr id="122" name="Google Shape;122;p6"/>
            <p:cNvGrpSpPr/>
            <p:nvPr/>
          </p:nvGrpSpPr>
          <p:grpSpPr>
            <a:xfrm>
              <a:off x="4099842" y="1483188"/>
              <a:ext cx="2008200" cy="3891600"/>
              <a:chOff x="100167" y="1520900"/>
              <a:chExt cx="2008200" cy="3891600"/>
            </a:xfrm>
          </p:grpSpPr>
          <p:sp>
            <p:nvSpPr>
              <p:cNvPr id="123" name="Google Shape;123;p6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6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Runtimes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25" name="Google Shape;125;p6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execute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320275" y="4844713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Vertex AI Agent Engine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7" name="Google Shape;127;p6"/>
              <p:cNvSpPr/>
              <p:nvPr/>
            </p:nvSpPr>
            <p:spPr>
              <a:xfrm>
                <a:off x="318275" y="4164588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Claude Managed Agents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318275" y="3513163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AWS Bedrock AgentCore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29" name="Google Shape;129;p6"/>
            <p:cNvSpPr/>
            <p:nvPr/>
          </p:nvSpPr>
          <p:spPr>
            <a:xfrm>
              <a:off x="432605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AWS Lambda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0" name="Google Shape;130;p6"/>
          <p:cNvGrpSpPr/>
          <p:nvPr/>
        </p:nvGrpSpPr>
        <p:grpSpPr>
          <a:xfrm>
            <a:off x="5588542" y="1483188"/>
            <a:ext cx="2008200" cy="3891600"/>
            <a:chOff x="6121942" y="1483188"/>
            <a:chExt cx="2008200" cy="3891600"/>
          </a:xfrm>
        </p:grpSpPr>
        <p:sp>
          <p:nvSpPr>
            <p:cNvPr id="131" name="Google Shape;131;p6"/>
            <p:cNvSpPr/>
            <p:nvPr/>
          </p:nvSpPr>
          <p:spPr>
            <a:xfrm>
              <a:off x="6566550" y="41603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LangGraph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" name="Google Shape;132;p6"/>
            <p:cNvGrpSpPr/>
            <p:nvPr/>
          </p:nvGrpSpPr>
          <p:grpSpPr>
            <a:xfrm>
              <a:off x="6121942" y="1483188"/>
              <a:ext cx="2008200" cy="3891600"/>
              <a:chOff x="100167" y="1520900"/>
              <a:chExt cx="2008200" cy="3891600"/>
            </a:xfrm>
          </p:grpSpPr>
          <p:sp>
            <p:nvSpPr>
              <p:cNvPr id="133" name="Google Shape;133;p6"/>
              <p:cNvSpPr/>
              <p:nvPr/>
            </p:nvSpPr>
            <p:spPr>
              <a:xfrm>
                <a:off x="176375" y="1520900"/>
                <a:ext cx="1839600" cy="3891600"/>
              </a:xfrm>
              <a:prstGeom prst="rect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6"/>
              <p:cNvSpPr txBox="1"/>
              <p:nvPr/>
            </p:nvSpPr>
            <p:spPr>
              <a:xfrm>
                <a:off x="100167" y="1673288"/>
                <a:ext cx="20082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Frameworks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35" name="Google Shape;135;p6"/>
              <p:cNvSpPr txBox="1"/>
              <p:nvPr/>
            </p:nvSpPr>
            <p:spPr>
              <a:xfrm>
                <a:off x="176375" y="2091275"/>
                <a:ext cx="1839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Technical people can</a:t>
                </a:r>
                <a:b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</a:br>
                <a:r>
                  <a:rPr b="1"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develop</a:t>
                </a:r>
                <a:r>
                  <a:rPr lang="en-US" sz="9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AI Agents</a:t>
                </a:r>
                <a:endParaRPr sz="9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320275" y="4844713"/>
                <a:ext cx="15537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Google ADK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318275" y="4164588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LangGraph / LangChain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318275" y="3513163"/>
                <a:ext cx="1555800" cy="479100"/>
              </a:xfrm>
              <a:prstGeom prst="rect">
                <a:avLst/>
              </a:prstGeom>
              <a:solidFill>
                <a:srgbClr val="00BFFF">
                  <a:alpha val="34900"/>
                </a:srgbClr>
              </a:solidFill>
              <a:ln cap="flat" cmpd="sng" w="9525">
                <a:solidFill>
                  <a:srgbClr val="209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CrewAI</a:t>
                </a:r>
                <a:endParaRPr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39" name="Google Shape;139;p6"/>
            <p:cNvSpPr/>
            <p:nvPr/>
          </p:nvSpPr>
          <p:spPr>
            <a:xfrm>
              <a:off x="6348150" y="2834513"/>
              <a:ext cx="1555800" cy="479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9525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OpenAI Agents SDK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0" name="Google Shape;140;p6"/>
          <p:cNvSpPr/>
          <p:nvPr/>
        </p:nvSpPr>
        <p:spPr>
          <a:xfrm>
            <a:off x="327425" y="306925"/>
            <a:ext cx="7037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Landscape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27425" y="1003851"/>
            <a:ext cx="6072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Different types of offering related to AI Agents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87000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Builder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08392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Coder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96417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Engineer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Production Track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844425" y="5600575"/>
            <a:ext cx="1496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Engineer</a:t>
            </a:r>
            <a:b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lang="en-US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Agentic Track</a:t>
            </a:r>
            <a:endParaRPr b="1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71500" y="1401817"/>
            <a:ext cx="52818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Helper code that makes it easier to create Agents based on LLM calls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62000" y="2423543"/>
            <a:ext cx="6072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Orchestration 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- chaining together LLM calls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62000" y="3128393"/>
            <a:ext cx="5905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</a:t>
            </a: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equipping an LLM with abilities, including with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62000" y="4195193"/>
            <a:ext cx="5320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Constructing LLM </a:t>
            </a:r>
            <a:r>
              <a:rPr b="1" lang="en-US" sz="18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inputs and interpreting outputs - 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including a technique called ‘Structured Outputs’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71500" y="5601575"/>
            <a:ext cx="58275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</a:rPr>
              <a:t>This allows you to easily code an ‘Agent Loop’ -</a:t>
            </a:r>
            <a:br>
              <a:rPr lang="en-US" sz="2150">
                <a:solidFill>
                  <a:srgbClr val="FFFFFF"/>
                </a:solidFill>
              </a:rPr>
            </a:br>
            <a:r>
              <a:rPr lang="en-US" sz="2150">
                <a:solidFill>
                  <a:srgbClr val="FFFFFF"/>
                </a:solidFill>
              </a:rPr>
              <a:t>an LLM in a loop with tools to achieve a goal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14375" y="40576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714375" y="266700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714375" y="12763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8"/>
          <p:cNvGrpSpPr/>
          <p:nvPr/>
        </p:nvGrpSpPr>
        <p:grpSpPr>
          <a:xfrm>
            <a:off x="1200150" y="4178038"/>
            <a:ext cx="3991500" cy="801000"/>
            <a:chOff x="1200150" y="4178038"/>
            <a:chExt cx="3991500" cy="801000"/>
          </a:xfrm>
        </p:grpSpPr>
        <p:sp>
          <p:nvSpPr>
            <p:cNvPr id="167" name="Google Shape;167;p8"/>
            <p:cNvSpPr/>
            <p:nvPr/>
          </p:nvSpPr>
          <p:spPr>
            <a:xfrm>
              <a:off x="1200150" y="4178038"/>
              <a:ext cx="3991500" cy="8010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2435181" y="4488439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</a:rPr>
                <a:t>No framework</a:t>
              </a:r>
              <a:endPara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8"/>
          <p:cNvGrpSpPr/>
          <p:nvPr/>
        </p:nvGrpSpPr>
        <p:grpSpPr>
          <a:xfrm>
            <a:off x="1200150" y="2915093"/>
            <a:ext cx="1185000" cy="798300"/>
            <a:chOff x="1200150" y="2915093"/>
            <a:chExt cx="1185000" cy="798300"/>
          </a:xfrm>
        </p:grpSpPr>
        <p:sp>
          <p:nvSpPr>
            <p:cNvPr id="170" name="Google Shape;170;p8"/>
            <p:cNvSpPr/>
            <p:nvPr/>
          </p:nvSpPr>
          <p:spPr>
            <a:xfrm>
              <a:off x="1200150" y="2915093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1392062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OpenAI Agents SDK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8"/>
          <p:cNvGrpSpPr/>
          <p:nvPr/>
        </p:nvGrpSpPr>
        <p:grpSpPr>
          <a:xfrm>
            <a:off x="1200150" y="1524000"/>
            <a:ext cx="1839600" cy="801000"/>
            <a:chOff x="1200150" y="1524000"/>
            <a:chExt cx="1839600" cy="801000"/>
          </a:xfrm>
        </p:grpSpPr>
        <p:sp>
          <p:nvSpPr>
            <p:cNvPr id="173" name="Google Shape;173;p8"/>
            <p:cNvSpPr/>
            <p:nvPr/>
          </p:nvSpPr>
          <p:spPr>
            <a:xfrm>
              <a:off x="1200150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13430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CrewAI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8"/>
          <p:cNvGrpSpPr/>
          <p:nvPr/>
        </p:nvGrpSpPr>
        <p:grpSpPr>
          <a:xfrm>
            <a:off x="3371849" y="1524000"/>
            <a:ext cx="1839600" cy="801000"/>
            <a:chOff x="3371849" y="1524000"/>
            <a:chExt cx="1839600" cy="801000"/>
          </a:xfrm>
        </p:grpSpPr>
        <p:sp>
          <p:nvSpPr>
            <p:cNvPr id="176" name="Google Shape;176;p8"/>
            <p:cNvSpPr/>
            <p:nvPr/>
          </p:nvSpPr>
          <p:spPr>
            <a:xfrm>
              <a:off x="3371849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35147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LangGraph / LangChain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8"/>
          <p:cNvSpPr/>
          <p:nvPr/>
        </p:nvSpPr>
        <p:spPr>
          <a:xfrm>
            <a:off x="360100" y="5554392"/>
            <a:ext cx="52818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Many more! By the end, I will tell you how to pick the right one for your project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8"/>
          <p:cNvGrpSpPr/>
          <p:nvPr/>
        </p:nvGrpSpPr>
        <p:grpSpPr>
          <a:xfrm>
            <a:off x="2635050" y="2912250"/>
            <a:ext cx="1185000" cy="798300"/>
            <a:chOff x="2635050" y="2912250"/>
            <a:chExt cx="1185000" cy="798300"/>
          </a:xfrm>
        </p:grpSpPr>
        <p:sp>
          <p:nvSpPr>
            <p:cNvPr id="180" name="Google Shape;180;p8"/>
            <p:cNvSpPr/>
            <p:nvPr/>
          </p:nvSpPr>
          <p:spPr>
            <a:xfrm>
              <a:off x="26350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28111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Google</a:t>
              </a:r>
              <a:br>
                <a:rPr lang="en-US" sz="1550">
                  <a:solidFill>
                    <a:srgbClr val="FFFFFF"/>
                  </a:solidFill>
                </a:rPr>
              </a:br>
              <a:r>
                <a:rPr lang="en-US" sz="1550">
                  <a:solidFill>
                    <a:srgbClr val="FFFFFF"/>
                  </a:solidFill>
                </a:rPr>
                <a:t>ADK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8"/>
          <p:cNvGrpSpPr/>
          <p:nvPr/>
        </p:nvGrpSpPr>
        <p:grpSpPr>
          <a:xfrm>
            <a:off x="4006650" y="2912250"/>
            <a:ext cx="1185000" cy="798300"/>
            <a:chOff x="4006650" y="2912250"/>
            <a:chExt cx="1185000" cy="798300"/>
          </a:xfrm>
        </p:grpSpPr>
        <p:sp>
          <p:nvSpPr>
            <p:cNvPr id="183" name="Google Shape;183;p8"/>
            <p:cNvSpPr/>
            <p:nvPr/>
          </p:nvSpPr>
          <p:spPr>
            <a:xfrm>
              <a:off x="40066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41827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AWS Strands Agents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"Tools" give LLMs </a:t>
            </a: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abilities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62000" y="1675284"/>
            <a:ext cx="6072783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he power to carry out actions like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or </a:t>
            </a:r>
            <a:r>
              <a:rPr b="1"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62000" y="2761124"/>
            <a:ext cx="4954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Sounds </a:t>
            </a:r>
            <a:r>
              <a:rPr b="1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spooky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, right? OpenAI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can reach into my computer? A large language </a:t>
            </a:r>
            <a:r>
              <a:rPr lang="en-US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model generates tokens -what makes it suddenly decide to run code on my computer?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62000" y="5144154"/>
            <a:ext cx="41238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reality is a bit </a:t>
            </a:r>
            <a:r>
              <a:rPr b="1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mundane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-1193979e.png"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912414"/>
            <a:ext cx="38100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476250" y="399827"/>
            <a:ext cx="11334750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1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 in theory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76250" y="1008906"/>
            <a:ext cx="11334750" cy="287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4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An LLM Equiped with a tool seems magical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76250" y="1663850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" name="Google Shape;203;p10"/>
          <p:cNvCxnSpPr>
            <a:endCxn id="204" idx="2"/>
          </p:cNvCxnSpPr>
          <p:nvPr/>
        </p:nvCxnSpPr>
        <p:spPr>
          <a:xfrm>
            <a:off x="21817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00BF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4" name="Google Shape;204;p10"/>
          <p:cNvSpPr/>
          <p:nvPr/>
        </p:nvSpPr>
        <p:spPr>
          <a:xfrm>
            <a:off x="2613400" y="1672025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750550" y="1672025"/>
            <a:ext cx="1705500" cy="17055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750562" y="3752875"/>
            <a:ext cx="1705500" cy="17055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4132899" y="5449025"/>
            <a:ext cx="30000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Search the internet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Edit a Google Sheet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08" name="Google Shape;208;p10"/>
          <p:cNvCxnSpPr>
            <a:stCxn id="204" idx="6"/>
            <a:endCxn id="205" idx="2"/>
          </p:cNvCxnSpPr>
          <p:nvPr/>
        </p:nvCxnSpPr>
        <p:spPr>
          <a:xfrm>
            <a:off x="43189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FFD7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09" name="Google Shape;209;p10"/>
          <p:cNvCxnSpPr>
            <a:stCxn id="206" idx="0"/>
            <a:endCxn id="205" idx="4"/>
          </p:cNvCxnSpPr>
          <p:nvPr/>
        </p:nvCxnSpPr>
        <p:spPr>
          <a:xfrm rot="10800000">
            <a:off x="5603312" y="3377575"/>
            <a:ext cx="0" cy="3753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-1193979e.png" id="215" name="Google Shape;2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912414"/>
            <a:ext cx="38100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1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Tool Calling - in </a:t>
            </a: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practice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76250" y="1008906"/>
            <a:ext cx="1133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4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reality is more mundane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76250" y="1663850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9" name="Google Shape;219;p11"/>
          <p:cNvCxnSpPr>
            <a:endCxn id="220" idx="2"/>
          </p:cNvCxnSpPr>
          <p:nvPr/>
        </p:nvCxnSpPr>
        <p:spPr>
          <a:xfrm>
            <a:off x="21817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00BF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20" name="Google Shape;220;p11"/>
          <p:cNvSpPr/>
          <p:nvPr/>
        </p:nvSpPr>
        <p:spPr>
          <a:xfrm>
            <a:off x="2613400" y="1672025"/>
            <a:ext cx="1705500" cy="1705500"/>
          </a:xfrm>
          <a:prstGeom prst="ellipse">
            <a:avLst/>
          </a:prstGeom>
          <a:solidFill>
            <a:srgbClr val="75C5EA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750550" y="1672025"/>
            <a:ext cx="1705500" cy="17055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2668595" y="3752875"/>
            <a:ext cx="1705500" cy="17055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38800" lIns="3875" spcFirstLastPara="1" rIns="3875" wrap="square" tIns="3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2050932" y="5449025"/>
            <a:ext cx="30000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Search the internet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Query a database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Edit a Google Sheet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Look up stock prices</a:t>
            </a:r>
            <a:endParaRPr sz="15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24" name="Google Shape;224;p11"/>
          <p:cNvCxnSpPr>
            <a:stCxn id="220" idx="6"/>
            <a:endCxn id="221" idx="2"/>
          </p:cNvCxnSpPr>
          <p:nvPr/>
        </p:nvCxnSpPr>
        <p:spPr>
          <a:xfrm>
            <a:off x="4318900" y="2524775"/>
            <a:ext cx="431700" cy="0"/>
          </a:xfrm>
          <a:prstGeom prst="straightConnector1">
            <a:avLst/>
          </a:prstGeom>
          <a:noFill/>
          <a:ln cap="flat" cmpd="sng" w="28575">
            <a:solidFill>
              <a:srgbClr val="FFD7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25" name="Google Shape;225;p11"/>
          <p:cNvCxnSpPr>
            <a:stCxn id="222" idx="0"/>
            <a:endCxn id="221" idx="4"/>
          </p:cNvCxnSpPr>
          <p:nvPr/>
        </p:nvCxnSpPr>
        <p:spPr>
          <a:xfrm flipH="1" rot="10800000">
            <a:off x="3521345" y="3377575"/>
            <a:ext cx="2082000" cy="3753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/>
          <p:nvPr/>
        </p:nvSpPr>
        <p:spPr>
          <a:xfrm>
            <a:off x="409575" y="2813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Behold Tool use.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676275"/>
            <a:ext cx="7345940" cy="630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Loop Feels Like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62925" y="1564811"/>
            <a:ext cx="1776600" cy="175140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3177225" y="1564811"/>
            <a:ext cx="1776600" cy="1751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3180375" y="3717086"/>
            <a:ext cx="1776600" cy="17514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br>
              <a:rPr b="1" lang="en-US" sz="1293"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Search the internet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Query the database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Run some code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13"/>
          <p:cNvSpPr/>
          <p:nvPr/>
        </p:nvSpPr>
        <p:spPr>
          <a:xfrm rot="2485420">
            <a:off x="2556724" y="1671300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D700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13"/>
          <p:cNvSpPr/>
          <p:nvPr/>
        </p:nvSpPr>
        <p:spPr>
          <a:xfrm rot="-8314580">
            <a:off x="2535274" y="2656875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BFFF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4" name="Google Shape;244;p13"/>
          <p:cNvCxnSpPr>
            <a:endCxn id="241" idx="0"/>
          </p:cNvCxnSpPr>
          <p:nvPr/>
        </p:nvCxnSpPr>
        <p:spPr>
          <a:xfrm>
            <a:off x="4065375" y="3316286"/>
            <a:ext cx="3300" cy="4008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/>
          <p:nvPr/>
        </p:nvSpPr>
        <p:spPr>
          <a:xfrm>
            <a:off x="476250" y="399827"/>
            <a:ext cx="1133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Agent Loop Is Actually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662925" y="1564811"/>
            <a:ext cx="1776600" cy="175140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3177225" y="1564811"/>
            <a:ext cx="1776600" cy="1751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62925" y="3717011"/>
            <a:ext cx="1776600" cy="17514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txBody>
          <a:bodyPr anchorCtr="0" anchor="ctr" bIns="29100" lIns="2900" spcFirstLastPara="1" rIns="2900" wrap="square" tIns="29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br>
              <a:rPr b="1" lang="en-US" sz="1293"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Search the internet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Query the database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ontserrat"/>
                <a:ea typeface="Montserrat"/>
                <a:cs typeface="Montserrat"/>
                <a:sym typeface="Montserrat"/>
              </a:rPr>
              <a:t>• Run some code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14"/>
          <p:cNvSpPr/>
          <p:nvPr/>
        </p:nvSpPr>
        <p:spPr>
          <a:xfrm rot="2485420">
            <a:off x="2556724" y="1671300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D700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14"/>
          <p:cNvSpPr/>
          <p:nvPr/>
        </p:nvSpPr>
        <p:spPr>
          <a:xfrm rot="-8314580">
            <a:off x="2535274" y="2656875"/>
            <a:ext cx="503309" cy="47971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BFFF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14"/>
          <p:cNvCxnSpPr>
            <a:endCxn id="253" idx="0"/>
          </p:cNvCxnSpPr>
          <p:nvPr/>
        </p:nvCxnSpPr>
        <p:spPr>
          <a:xfrm>
            <a:off x="1547925" y="3316211"/>
            <a:ext cx="3300" cy="400800"/>
          </a:xfrm>
          <a:prstGeom prst="straightConnector1">
            <a:avLst/>
          </a:prstGeom>
          <a:noFill/>
          <a:ln cap="flat" cmpd="sng" w="28575">
            <a:solidFill>
              <a:srgbClr val="FF78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5" title="11_W1D4_S12_Square_aa10a43caba6-1_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50" y="152400"/>
            <a:ext cx="65532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Summary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571500" y="1401817"/>
            <a:ext cx="52818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678150" y="1890543"/>
            <a:ext cx="6072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Agentic AI involves building a harness around LLMs, crafting the inputs and interpreting the outputs, in a loop, so that they can ‘</a:t>
            </a:r>
            <a:r>
              <a:rPr b="1"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use tools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’ and ‘</a:t>
            </a:r>
            <a:r>
              <a:rPr b="1"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be autonomous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’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678150" y="3368351"/>
            <a:ext cx="63699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 are </a:t>
            </a:r>
            <a:r>
              <a:rPr b="1" lang="en-US" sz="18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helper code</a:t>
            </a: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 that make it faster to implement these techniques, but they’re not required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678150" y="4428373"/>
            <a:ext cx="53202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 the end of this course, you will be able to deliver significant commercial value by building </a:t>
            </a:r>
            <a:r>
              <a:rPr b="1" lang="en-US" sz="18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AI Agents</a:t>
            </a:r>
            <a:endParaRPr b="1" i="0" sz="1800" u="none" cap="none" strike="noStrike">
              <a:solidFill>
                <a:srgbClr val="00B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257169" y="5695950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257169" y="2466975"/>
            <a:ext cx="5936936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257169" y="4619625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257169" y="3543300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257169" y="314325"/>
            <a:ext cx="5936936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447669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447669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447669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447669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447669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1562103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1562103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562103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1562103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1562103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2676522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2676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2676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2676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2676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3819522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3819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3819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3819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3819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4953000" y="6010276"/>
            <a:ext cx="1002980" cy="610229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4953000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4953000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4953000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4953000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p1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339" name="Google Shape;339;p1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78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1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58" name="Google Shape;3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