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12192000"/>
  <p:embeddedFontLst>
    <p:embeddedFont>
      <p:font typeface="Roboto Slab"/>
      <p:regular r:id="rId11"/>
      <p:bold r:id="rId12"/>
    </p:embeddedFont>
    <p:embeddedFont>
      <p:font typeface="Montserrat SemiBold"/>
      <p:regular r:id="rId13"/>
      <p:bold r:id="rId14"/>
      <p:italic r:id="rId15"/>
      <p:boldItalic r:id="rId16"/>
    </p:embeddedFont>
    <p:embeddedFont>
      <p:font typeface="Montserrat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11" Type="http://schemas.openxmlformats.org/officeDocument/2006/relationships/font" Target="fonts/RobotoSlab-regular.fntdata"/><Relationship Id="rId10" Type="http://schemas.openxmlformats.org/officeDocument/2006/relationships/slide" Target="slides/slide6.xml"/><Relationship Id="rId13" Type="http://schemas.openxmlformats.org/officeDocument/2006/relationships/font" Target="fonts/MontserratSemiBold-regular.fntdata"/><Relationship Id="rId12" Type="http://schemas.openxmlformats.org/officeDocument/2006/relationships/font" Target="fonts/RobotoSlab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SemiBold-italic.fntdata"/><Relationship Id="rId14" Type="http://schemas.openxmlformats.org/officeDocument/2006/relationships/font" Target="fonts/MontserratSemiBold-bold.fntdata"/><Relationship Id="rId17" Type="http://schemas.openxmlformats.org/officeDocument/2006/relationships/font" Target="fonts/Montserrat-regular.fntdata"/><Relationship Id="rId16" Type="http://schemas.openxmlformats.org/officeDocument/2006/relationships/font" Target="fonts/MontserratSemiBold-boldItalic.fntdata"/><Relationship Id="rId5" Type="http://schemas.openxmlformats.org/officeDocument/2006/relationships/slide" Target="slides/slide1.xml"/><Relationship Id="rId19" Type="http://schemas.openxmlformats.org/officeDocument/2006/relationships/font" Target="fonts/Montserrat-italic.fntdata"/><Relationship Id="rId6" Type="http://schemas.openxmlformats.org/officeDocument/2006/relationships/slide" Target="slides/slide2.xml"/><Relationship Id="rId18" Type="http://schemas.openxmlformats.org/officeDocument/2006/relationships/font" Target="fonts/Montserrat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e0e37a4ff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e0e37a4ff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e0e37a4ff1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e0e37a4ff1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3e0e37a4ff1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e0e37a4ff1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FFD700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4725775" y="258325"/>
            <a:ext cx="2363100" cy="6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3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4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8" name="Google Shape;1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1999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257174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257174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257174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257174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257174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4767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4767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47674" y="49339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47674" y="3857625"/>
            <a:ext cx="1002979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4767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562101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562101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562101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562101" y="3857625"/>
            <a:ext cx="1002976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562101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2676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267652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Tools, memory,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searches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2676524" y="49339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2676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2676524" y="3857625"/>
            <a:ext cx="1002979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267652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3819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381952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3819524" y="4933950"/>
            <a:ext cx="1002979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3819524" y="3857625"/>
            <a:ext cx="1002979" cy="610231"/>
          </a:xfrm>
          <a:prstGeom prst="rect">
            <a:avLst/>
          </a:prstGeom>
          <a:solidFill>
            <a:srgbClr val="FFD700">
              <a:alpha val="34902"/>
            </a:srgbClr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381952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953000" y="60102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953000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953000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953000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953000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" name="Google Shape;84;p4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85" name="Google Shape;85;p4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>
            <a:off x="571500" y="58616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With apologies for the repetition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3" name="Google Shape;103;p5"/>
          <p:cNvGrpSpPr/>
          <p:nvPr/>
        </p:nvGrpSpPr>
        <p:grpSpPr>
          <a:xfrm>
            <a:off x="652462" y="1900833"/>
            <a:ext cx="4428828" cy="502816"/>
            <a:chOff x="652462" y="1900833"/>
            <a:chExt cx="4428828" cy="502816"/>
          </a:xfrm>
        </p:grpSpPr>
        <p:sp>
          <p:nvSpPr>
            <p:cNvPr id="104" name="Google Shape;104;p5"/>
            <p:cNvSpPr/>
            <p:nvPr/>
          </p:nvSpPr>
          <p:spPr>
            <a:xfrm>
              <a:off x="1247775" y="1916088"/>
              <a:ext cx="3833515" cy="4875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Create the project with:</a:t>
              </a:r>
              <a:b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crewai create crew my_project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4d743662.png" id="105" name="Google Shape;105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52462" y="1900833"/>
              <a:ext cx="171450" cy="4476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6" name="Google Shape;106;p5"/>
          <p:cNvGrpSpPr/>
          <p:nvPr/>
        </p:nvGrpSpPr>
        <p:grpSpPr>
          <a:xfrm>
            <a:off x="615256" y="2767310"/>
            <a:ext cx="4599161" cy="522164"/>
            <a:chOff x="615256" y="2767310"/>
            <a:chExt cx="4599161" cy="522164"/>
          </a:xfrm>
        </p:grpSpPr>
        <p:sp>
          <p:nvSpPr>
            <p:cNvPr id="107" name="Google Shape;107;p5"/>
            <p:cNvSpPr/>
            <p:nvPr/>
          </p:nvSpPr>
          <p:spPr>
            <a:xfrm>
              <a:off x="1247775" y="2801913"/>
              <a:ext cx="3966642" cy="4875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Fill in the config yaml files to define the</a:t>
              </a:r>
              <a:b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1" i="0" lang="en-US" sz="135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Agents</a:t>
              </a: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and </a:t>
              </a:r>
              <a:r>
                <a:rPr b="1" i="0" lang="en-US" sz="1350" u="none" cap="none" strike="noStrike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Tasks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53849f9e.png" id="108" name="Google Shape;108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256" y="2767310"/>
              <a:ext cx="314325" cy="4476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9" name="Google Shape;109;p5"/>
          <p:cNvGrpSpPr/>
          <p:nvPr/>
        </p:nvGrpSpPr>
        <p:grpSpPr>
          <a:xfrm>
            <a:off x="622696" y="3648671"/>
            <a:ext cx="5018268" cy="488528"/>
            <a:chOff x="622696" y="3648671"/>
            <a:chExt cx="5018268" cy="488528"/>
          </a:xfrm>
        </p:grpSpPr>
        <p:sp>
          <p:nvSpPr>
            <p:cNvPr id="110" name="Google Shape;110;p5"/>
            <p:cNvSpPr/>
            <p:nvPr/>
          </p:nvSpPr>
          <p:spPr>
            <a:xfrm>
              <a:off x="1247775" y="3649638"/>
              <a:ext cx="4393189" cy="4875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Complete the crew.py module to create the</a:t>
              </a:r>
              <a:b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1" i="0" lang="en-US" sz="135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Agents</a:t>
              </a: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, </a:t>
              </a:r>
              <a:r>
                <a:rPr b="1" i="0" lang="en-US" sz="1350" u="none" cap="none" strike="noStrike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Tasks</a:t>
              </a: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and </a:t>
              </a:r>
              <a:r>
                <a:rPr b="1" i="0" lang="en-US" sz="1350" u="none" cap="none" strike="noStrike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Crew</a:t>
              </a: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, referencing the config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45ee6fde.png" id="111" name="Google Shape;111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2696" y="3648671"/>
              <a:ext cx="304800" cy="4476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2" name="Google Shape;112;p5"/>
          <p:cNvGrpSpPr/>
          <p:nvPr/>
        </p:nvGrpSpPr>
        <p:grpSpPr>
          <a:xfrm>
            <a:off x="600374" y="4522589"/>
            <a:ext cx="4950097" cy="447675"/>
            <a:chOff x="600374" y="4522589"/>
            <a:chExt cx="4950097" cy="447675"/>
          </a:xfrm>
        </p:grpSpPr>
        <p:sp>
          <p:nvSpPr>
            <p:cNvPr id="113" name="Google Shape;113;p5"/>
            <p:cNvSpPr/>
            <p:nvPr/>
          </p:nvSpPr>
          <p:spPr>
            <a:xfrm>
              <a:off x="1247775" y="4611663"/>
              <a:ext cx="4302696" cy="243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Update main.py to set any inputs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576e8a62.png" id="114" name="Google Shape;114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00374" y="4522589"/>
              <a:ext cx="352425" cy="4476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5" name="Google Shape;115;p5"/>
          <p:cNvGrpSpPr/>
          <p:nvPr/>
        </p:nvGrpSpPr>
        <p:grpSpPr>
          <a:xfrm>
            <a:off x="626316" y="5373663"/>
            <a:ext cx="4924155" cy="487561"/>
            <a:chOff x="626316" y="5373663"/>
            <a:chExt cx="4924155" cy="487561"/>
          </a:xfrm>
        </p:grpSpPr>
        <p:sp>
          <p:nvSpPr>
            <p:cNvPr id="116" name="Google Shape;116;p5"/>
            <p:cNvSpPr/>
            <p:nvPr/>
          </p:nvSpPr>
          <p:spPr>
            <a:xfrm>
              <a:off x="1247775" y="5373663"/>
              <a:ext cx="4302696" cy="4875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Run with:</a:t>
              </a:r>
              <a:b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crewai run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480547de.png" id="117" name="Google Shape;117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26316" y="5396507"/>
              <a:ext cx="304800" cy="4476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/>
          <p:nvPr/>
        </p:nvSpPr>
        <p:spPr>
          <a:xfrm>
            <a:off x="571500" y="58616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Giving coding skills to an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590550" y="1944663"/>
            <a:ext cx="4885468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It's </a:t>
            </a:r>
            <a:r>
              <a:rPr b="1" i="0" lang="en-US" sz="135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hard</a:t>
            </a: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and it's </a:t>
            </a:r>
            <a:r>
              <a:rPr b="1" i="0" lang="en-US" sz="135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complex</a:t>
            </a: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, but you can have an Agent</a:t>
            </a:r>
            <a:b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in Crew that has the ability to write code, execute it</a:t>
            </a:r>
            <a:b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in a Docker container, and investigate the results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590550" y="3049563"/>
            <a:ext cx="3966642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Except it's not.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666750" y="3438525"/>
            <a:ext cx="3716237" cy="1295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Agent(</a:t>
            </a:r>
            <a:br>
              <a:rPr b="1" i="0" lang="en-US" sz="12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1" i="0" lang="en-US" sz="12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  allow_code_execution=</a:t>
            </a:r>
            <a:r>
              <a:rPr b="1" i="0" lang="en-US" sz="1200" u="none" cap="none" strike="noStrike">
                <a:solidFill>
                  <a:srgbClr val="2AA198"/>
                </a:solidFill>
                <a:latin typeface="Courier"/>
                <a:ea typeface="Courier"/>
                <a:cs typeface="Courier"/>
                <a:sym typeface="Courier"/>
              </a:rPr>
              <a:t>True</a:t>
            </a:r>
            <a:r>
              <a:rPr b="1" i="0" lang="en-US" sz="12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,</a:t>
            </a:r>
            <a:br>
              <a:rPr b="1" i="0" lang="en-US" sz="12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1" i="0" lang="en-US" sz="12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)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/>
          <p:nvPr/>
        </p:nvSpPr>
        <p:spPr>
          <a:xfrm>
            <a:off x="257174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257174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257174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257174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257174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447674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447674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447674" y="493395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447674" y="3857625"/>
            <a:ext cx="1002976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447674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1562097" y="6010275"/>
            <a:ext cx="1002982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1562097" y="2781300"/>
            <a:ext cx="1002982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1562097" y="493395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1562097" y="3857625"/>
            <a:ext cx="1002982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1562097" y="628650"/>
            <a:ext cx="1002982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2676528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2676528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Tools, memory,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searches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2667000" y="493395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2667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2676528" y="3857625"/>
            <a:ext cx="1002976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2676528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3819528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3819528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3819528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3819528" y="3857625"/>
            <a:ext cx="1002976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3819528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4953000" y="60102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4953000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4953000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4953000" y="3857625"/>
            <a:ext cx="1002976" cy="610231"/>
          </a:xfrm>
          <a:prstGeom prst="rect">
            <a:avLst/>
          </a:prstGeom>
          <a:solidFill>
            <a:srgbClr val="FFD700">
              <a:alpha val="34902"/>
            </a:srgbClr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4953000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2" name="Google Shape;192;p7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193" name="Google Shape;193;p7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7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7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7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7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7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7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7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7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7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7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7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FFD700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p8"/>
          <p:cNvSpPr txBox="1"/>
          <p:nvPr/>
        </p:nvSpPr>
        <p:spPr>
          <a:xfrm>
            <a:off x="4725775" y="258325"/>
            <a:ext cx="2363100" cy="59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47%</a:t>
            </a:r>
            <a:endParaRPr sz="65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12" name="Google Shape;212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7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