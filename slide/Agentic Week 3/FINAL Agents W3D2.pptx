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12192000"/>
  <p:embeddedFontLst>
    <p:embeddedFont>
      <p:font typeface="Roboto Slab"/>
      <p:regular r:id="rId12"/>
      <p:bold r:id="rId13"/>
    </p:embeddedFont>
    <p:embeddedFont>
      <p:font typeface="Montserrat SemiBold"/>
      <p:regular r:id="rId14"/>
      <p:bold r:id="rId15"/>
      <p:italic r:id="rId16"/>
      <p:boldItalic r:id="rId17"/>
    </p:embeddedFont>
    <p:embeddedFont>
      <p:font typeface="Montserra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font" Target="fonts/Montserrat-boldItalic.fntdata"/><Relationship Id="rId13" Type="http://schemas.openxmlformats.org/officeDocument/2006/relationships/font" Target="fonts/RobotoSlab-bold.fntdata"/><Relationship Id="rId12" Type="http://schemas.openxmlformats.org/officeDocument/2006/relationships/font" Target="fonts/RobotoSlab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SemiBold-bold.fntdata"/><Relationship Id="rId14" Type="http://schemas.openxmlformats.org/officeDocument/2006/relationships/font" Target="fonts/MontserratSemiBold-regular.fntdata"/><Relationship Id="rId17" Type="http://schemas.openxmlformats.org/officeDocument/2006/relationships/font" Target="fonts/MontserratSemiBold-boldItalic.fntdata"/><Relationship Id="rId16" Type="http://schemas.openxmlformats.org/officeDocument/2006/relationships/font" Target="fonts/MontserratSemiBold-italic.fntdata"/><Relationship Id="rId5" Type="http://schemas.openxmlformats.org/officeDocument/2006/relationships/slide" Target="slides/slide1.xml"/><Relationship Id="rId19" Type="http://schemas.openxmlformats.org/officeDocument/2006/relationships/font" Target="fonts/Montserrat-bold.fntdata"/><Relationship Id="rId6" Type="http://schemas.openxmlformats.org/officeDocument/2006/relationships/slide" Target="slides/slide2.xml"/><Relationship Id="rId18" Type="http://schemas.openxmlformats.org/officeDocument/2006/relationships/font" Target="fonts/Montserrat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9ab7d6a81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9ab7d6a81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g39ab7d6a817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9ab7d6a817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g39ab7d6a817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9ab7d6a817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3.png"/><Relationship Id="rId7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0" y="0"/>
            <a:ext cx="2609700" cy="68580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4725775" y="258325"/>
            <a:ext cx="2363100" cy="6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1"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3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2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8" name="Google Shape;18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1999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257174" y="56959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257174" y="246697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257174" y="46196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257174" y="354330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257174" y="3143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361950" y="252472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361950" y="3720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4767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47674" y="278130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47675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47674" y="493395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47674" y="3857625"/>
            <a:ext cx="1002979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47674" y="62865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4767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562101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562101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15621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562101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562101" y="3857625"/>
            <a:ext cx="1002976" cy="610231"/>
          </a:xfrm>
          <a:prstGeom prst="rect">
            <a:avLst/>
          </a:prstGeom>
          <a:solidFill>
            <a:srgbClr val="00BFFF">
              <a:alpha val="34902"/>
            </a:srgbClr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1562101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15621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267652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2676524" y="278130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2676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Tools, memory,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web searches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2676524" y="493395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2676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2676524" y="3857625"/>
            <a:ext cx="1002979" cy="610231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2676524" y="62865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267652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381952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3819524" y="278130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3819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3819524" y="4933950"/>
            <a:ext cx="1002979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3819524" y="3857625"/>
            <a:ext cx="1002979" cy="610231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3819524" y="62865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3819525" y="7786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4953000" y="6010275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4953000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49530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improvements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4953000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4953000" y="3857625"/>
            <a:ext cx="1002976" cy="610231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953000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49530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" name="Google Shape;84;p4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85" name="Google Shape;85;p4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4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4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4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Google ADK and A2A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AWS Strands Agents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Other Python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JS/TS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/>
          <p:nvPr/>
        </p:nvSpPr>
        <p:spPr>
          <a:xfrm>
            <a:off x="571500" y="586160"/>
            <a:ext cx="9064898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Recap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3" name="Google Shape;103;p5"/>
          <p:cNvGrpSpPr/>
          <p:nvPr/>
        </p:nvGrpSpPr>
        <p:grpSpPr>
          <a:xfrm>
            <a:off x="536130" y="1430536"/>
            <a:ext cx="3980454" cy="1296963"/>
            <a:chOff x="536130" y="1430536"/>
            <a:chExt cx="3980454" cy="1296963"/>
          </a:xfrm>
        </p:grpSpPr>
        <p:sp>
          <p:nvSpPr>
            <p:cNvPr id="104" name="Google Shape;104;p5"/>
            <p:cNvSpPr/>
            <p:nvPr/>
          </p:nvSpPr>
          <p:spPr>
            <a:xfrm>
              <a:off x="536130" y="2239938"/>
              <a:ext cx="3980454" cy="4875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50" u="none" cap="none" strike="noStrike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</a:t>
              </a: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: an autonomous unit, with an LLM, a</a:t>
              </a:r>
              <a:b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</a:b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role, a goal, a backstory, memory, tools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61f8eba2.png" id="105" name="Google Shape;105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089844" y="1430536"/>
              <a:ext cx="647700" cy="6381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6" name="Google Shape;106;p5"/>
          <p:cNvGrpSpPr/>
          <p:nvPr/>
        </p:nvGrpSpPr>
        <p:grpSpPr>
          <a:xfrm>
            <a:off x="428719" y="3067943"/>
            <a:ext cx="4195055" cy="1250231"/>
            <a:chOff x="428719" y="3067943"/>
            <a:chExt cx="4195055" cy="1250231"/>
          </a:xfrm>
        </p:grpSpPr>
        <p:sp>
          <p:nvSpPr>
            <p:cNvPr id="107" name="Google Shape;107;p5"/>
            <p:cNvSpPr/>
            <p:nvPr/>
          </p:nvSpPr>
          <p:spPr>
            <a:xfrm>
              <a:off x="428719" y="3830613"/>
              <a:ext cx="4195055" cy="4875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50" u="none" cap="none" strike="noStrike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Task</a:t>
              </a: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: a specific assignment to be carried out,</a:t>
              </a:r>
              <a:b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</a:b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with a description, expected output, agent 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-599bdf1e.png" id="108" name="Google Shape;108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074961" y="3067943"/>
              <a:ext cx="676275" cy="5619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9" name="Google Shape;109;p5"/>
          <p:cNvGrpSpPr/>
          <p:nvPr/>
        </p:nvGrpSpPr>
        <p:grpSpPr>
          <a:xfrm>
            <a:off x="354653" y="4695527"/>
            <a:ext cx="4336340" cy="1542827"/>
            <a:chOff x="354653" y="4695527"/>
            <a:chExt cx="4336340" cy="1542827"/>
          </a:xfrm>
        </p:grpSpPr>
        <p:sp>
          <p:nvSpPr>
            <p:cNvPr id="110" name="Google Shape;110;p5"/>
            <p:cNvSpPr/>
            <p:nvPr/>
          </p:nvSpPr>
          <p:spPr>
            <a:xfrm>
              <a:off x="354653" y="5507013"/>
              <a:ext cx="4336340" cy="7313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50" u="none" cap="none" strike="noStrike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Crew</a:t>
              </a: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: a team of </a:t>
              </a:r>
              <a:r>
                <a:rPr b="1" i="0" lang="en-US" sz="1350" u="none" cap="none" strike="noStrike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Agents</a:t>
              </a: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and </a:t>
              </a:r>
              <a:r>
                <a:rPr b="1" i="0" lang="en-US" sz="1350" u="none" cap="none" strike="noStrike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Tasks</a:t>
              </a: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; either:</a:t>
              </a:r>
              <a:b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</a:b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Sequential: run tasks in order they are defined</a:t>
              </a:r>
              <a:b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</a:b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Hierarchical: use a Manager LLM to assign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-1bf8f25e.png" id="111" name="Google Shape;111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119610" y="4695527"/>
              <a:ext cx="581025" cy="609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/>
          <p:nvPr/>
        </p:nvSpPr>
        <p:spPr>
          <a:xfrm>
            <a:off x="571500" y="586160"/>
            <a:ext cx="9064898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Five Steps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8" name="Google Shape;118;p6"/>
          <p:cNvGrpSpPr/>
          <p:nvPr/>
        </p:nvGrpSpPr>
        <p:grpSpPr>
          <a:xfrm>
            <a:off x="652465" y="1900833"/>
            <a:ext cx="4428825" cy="502816"/>
            <a:chOff x="652465" y="1900833"/>
            <a:chExt cx="4428825" cy="502816"/>
          </a:xfrm>
        </p:grpSpPr>
        <p:sp>
          <p:nvSpPr>
            <p:cNvPr id="119" name="Google Shape;119;p6"/>
            <p:cNvSpPr/>
            <p:nvPr/>
          </p:nvSpPr>
          <p:spPr>
            <a:xfrm>
              <a:off x="1247775" y="1916088"/>
              <a:ext cx="3833515" cy="4875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Create the project with:</a:t>
              </a:r>
              <a:b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</a:b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crewai create crew my_project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4d743662.png" id="120" name="Google Shape;120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52465" y="1900833"/>
              <a:ext cx="171450" cy="4476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1" name="Google Shape;121;p6"/>
          <p:cNvGrpSpPr/>
          <p:nvPr/>
        </p:nvGrpSpPr>
        <p:grpSpPr>
          <a:xfrm>
            <a:off x="615253" y="2767310"/>
            <a:ext cx="4599164" cy="522164"/>
            <a:chOff x="615253" y="2767310"/>
            <a:chExt cx="4599164" cy="522164"/>
          </a:xfrm>
        </p:grpSpPr>
        <p:sp>
          <p:nvSpPr>
            <p:cNvPr id="122" name="Google Shape;122;p6"/>
            <p:cNvSpPr/>
            <p:nvPr/>
          </p:nvSpPr>
          <p:spPr>
            <a:xfrm>
              <a:off x="1247775" y="2801913"/>
              <a:ext cx="3966642" cy="4875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Fill in the config yaml files to define the</a:t>
              </a:r>
              <a:b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</a:br>
              <a:r>
                <a:rPr b="1" i="0" lang="en-US" sz="1350" u="none" cap="none" strike="noStrike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Agents</a:t>
              </a: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and </a:t>
              </a:r>
              <a:r>
                <a:rPr b="1" i="0" lang="en-US" sz="1350" u="none" cap="none" strike="noStrike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Tasks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-53849f9e.png" id="123" name="Google Shape;123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253" y="2767310"/>
              <a:ext cx="314325" cy="4476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4" name="Google Shape;124;p6"/>
          <p:cNvGrpSpPr/>
          <p:nvPr/>
        </p:nvGrpSpPr>
        <p:grpSpPr>
          <a:xfrm>
            <a:off x="622699" y="3648671"/>
            <a:ext cx="5018261" cy="488528"/>
            <a:chOff x="622699" y="3648671"/>
            <a:chExt cx="5018261" cy="488528"/>
          </a:xfrm>
        </p:grpSpPr>
        <p:sp>
          <p:nvSpPr>
            <p:cNvPr id="125" name="Google Shape;125;p6"/>
            <p:cNvSpPr/>
            <p:nvPr/>
          </p:nvSpPr>
          <p:spPr>
            <a:xfrm>
              <a:off x="1247775" y="3649638"/>
              <a:ext cx="4393185" cy="4875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Complete the crew.py module to create the</a:t>
              </a:r>
              <a:b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</a:br>
              <a:r>
                <a:rPr b="1" i="0" lang="en-US" sz="1350" u="none" cap="none" strike="noStrike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Agents</a:t>
              </a: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, </a:t>
              </a:r>
              <a:r>
                <a:rPr b="1" i="0" lang="en-US" sz="1350" u="none" cap="none" strike="noStrike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Tasks</a:t>
              </a: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and </a:t>
              </a:r>
              <a:r>
                <a:rPr b="1" i="0" lang="en-US" sz="1350" u="none" cap="none" strike="noStrike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Crew</a:t>
              </a: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, referencing the config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-45ee6fde.png" id="126" name="Google Shape;126;p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22699" y="3648671"/>
              <a:ext cx="304800" cy="4476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7" name="Google Shape;127;p6"/>
          <p:cNvGrpSpPr/>
          <p:nvPr/>
        </p:nvGrpSpPr>
        <p:grpSpPr>
          <a:xfrm>
            <a:off x="600374" y="4522589"/>
            <a:ext cx="4950001" cy="447675"/>
            <a:chOff x="600374" y="4522589"/>
            <a:chExt cx="4950001" cy="447675"/>
          </a:xfrm>
        </p:grpSpPr>
        <p:sp>
          <p:nvSpPr>
            <p:cNvPr id="128" name="Google Shape;128;p6"/>
            <p:cNvSpPr/>
            <p:nvPr/>
          </p:nvSpPr>
          <p:spPr>
            <a:xfrm>
              <a:off x="1247775" y="4611663"/>
              <a:ext cx="4302600" cy="24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Update main.py to set any </a:t>
              </a:r>
              <a:r>
                <a:rPr lang="en-US" sz="13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inputs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576e8a62.png" id="129" name="Google Shape;129;p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00374" y="4522589"/>
              <a:ext cx="352425" cy="4476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0" name="Google Shape;130;p6"/>
          <p:cNvGrpSpPr/>
          <p:nvPr/>
        </p:nvGrpSpPr>
        <p:grpSpPr>
          <a:xfrm>
            <a:off x="626313" y="5373663"/>
            <a:ext cx="4924158" cy="487561"/>
            <a:chOff x="626313" y="5373663"/>
            <a:chExt cx="4924158" cy="487561"/>
          </a:xfrm>
        </p:grpSpPr>
        <p:sp>
          <p:nvSpPr>
            <p:cNvPr id="131" name="Google Shape;131;p6"/>
            <p:cNvSpPr/>
            <p:nvPr/>
          </p:nvSpPr>
          <p:spPr>
            <a:xfrm>
              <a:off x="1247775" y="5373663"/>
              <a:ext cx="4302696" cy="4875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Run with:</a:t>
              </a:r>
              <a:b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</a:b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crewai run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-480547de.png" id="132" name="Google Shape;132;p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26313" y="5396507"/>
              <a:ext cx="304800" cy="4476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/>
          <p:nvPr/>
        </p:nvSpPr>
        <p:spPr>
          <a:xfrm>
            <a:off x="571500" y="586160"/>
            <a:ext cx="9064898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Going deeper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348d9622.png" id="139" name="Google Shape;13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4767" y="2332437"/>
            <a:ext cx="504825" cy="542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7"/>
          <p:cNvSpPr/>
          <p:nvPr/>
        </p:nvSpPr>
        <p:spPr>
          <a:xfrm>
            <a:off x="1724025" y="2254002"/>
            <a:ext cx="3842559" cy="595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Tools</a:t>
            </a:r>
            <a:br>
              <a:rPr b="0" i="0" lang="en-US" sz="16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6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Equiping agents with capabilities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-6bac1b9e.png" id="141" name="Google Shape;14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3053" y="4204047"/>
            <a:ext cx="25717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7"/>
          <p:cNvSpPr/>
          <p:nvPr/>
        </p:nvSpPr>
        <p:spPr>
          <a:xfrm>
            <a:off x="1724025" y="4216152"/>
            <a:ext cx="4758278" cy="595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Context</a:t>
            </a:r>
            <a:br>
              <a:rPr b="0" i="0" lang="en-US" sz="16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6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Information passed from 1 task to another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/>
          <p:nvPr/>
        </p:nvSpPr>
        <p:spPr>
          <a:xfrm>
            <a:off x="257174" y="56959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257174" y="246697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257174" y="46196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257174" y="354330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257174" y="3143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361950" y="252472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361950" y="3720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447674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447674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447675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447674" y="4933950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447674" y="3857625"/>
            <a:ext cx="1002976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447674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44767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1562097" y="6010275"/>
            <a:ext cx="1002982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1562097" y="2781300"/>
            <a:ext cx="1002982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15621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1562097" y="4933950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1562097" y="3857625"/>
            <a:ext cx="1002982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1562097" y="628650"/>
            <a:ext cx="1002982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15621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2676528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2676528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2676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Tools, memory,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web searches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2667000" y="4933950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2667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2676528" y="3857625"/>
            <a:ext cx="1002976" cy="610231"/>
          </a:xfrm>
          <a:prstGeom prst="rect">
            <a:avLst/>
          </a:prstGeom>
          <a:solidFill>
            <a:srgbClr val="FFD700">
              <a:alpha val="34902"/>
            </a:srgbClr>
          </a:solidFill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2676528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267652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3819528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3819528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3819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3819528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3819528" y="3857625"/>
            <a:ext cx="1002976" cy="610231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3819528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3819525" y="7786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4953000" y="6010275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4953000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"/>
          <p:cNvSpPr/>
          <p:nvPr/>
        </p:nvSpPr>
        <p:spPr>
          <a:xfrm>
            <a:off x="49530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improvements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4953000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4953000" y="3857625"/>
            <a:ext cx="1002976" cy="610231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4953000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49530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8" name="Google Shape;208;p8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209" name="Google Shape;209;p8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8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8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8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Google ADK and A2A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8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8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AWS Strands Agents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8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8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Other Python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8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8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JS/TS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8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8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"/>
          <p:cNvSpPr/>
          <p:nvPr/>
        </p:nvSpPr>
        <p:spPr>
          <a:xfrm>
            <a:off x="4572000" y="0"/>
            <a:ext cx="2609700" cy="68580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7" name="Google Shape;227;p9"/>
          <p:cNvSpPr txBox="1"/>
          <p:nvPr/>
        </p:nvSpPr>
        <p:spPr>
          <a:xfrm>
            <a:off x="4725775" y="258325"/>
            <a:ext cx="2363100" cy="59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1"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65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40</a:t>
            </a:r>
            <a:r>
              <a:rPr lang="en-US" sz="65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%</a:t>
            </a:r>
            <a:endParaRPr sz="65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228" name="Google Shape;228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7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