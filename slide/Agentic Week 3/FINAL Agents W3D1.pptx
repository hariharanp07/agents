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Roboto Slab"/>
      <p:regular r:id="rId20"/>
      <p:bold r:id="rId21"/>
    </p:embeddedFon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MontserratSemiBold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e20b14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e20b14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e20b148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e20b148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fe20b148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fe20b1486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fe20b1486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dfe20b1486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fe20b1486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fe20b1486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fe20b1486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fe20b1486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fe20b1486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dfe20b148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dfe20b1486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readme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07" name="Google Shape;107;p5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10" name="Google Shape;110;p5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5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13" name="Google Shape;113;p5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16" name="Google Shape;116;p5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5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19" name="Google Shape;119;p5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5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22" name="Google Shape;122;p5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Frameworks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14375" y="40576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14375" y="266700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714375" y="1276350"/>
            <a:ext cx="5306100" cy="116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1200150" y="4178038"/>
            <a:ext cx="3991500" cy="801000"/>
            <a:chOff x="1200150" y="4178038"/>
            <a:chExt cx="3991500" cy="801000"/>
          </a:xfrm>
        </p:grpSpPr>
        <p:sp>
          <p:nvSpPr>
            <p:cNvPr id="134" name="Google Shape;134;p6"/>
            <p:cNvSpPr/>
            <p:nvPr/>
          </p:nvSpPr>
          <p:spPr>
            <a:xfrm>
              <a:off x="1200150" y="4178038"/>
              <a:ext cx="3991500" cy="8010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435181" y="4488439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</a:rPr>
                <a:t>No framework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6"/>
          <p:cNvGrpSpPr/>
          <p:nvPr/>
        </p:nvGrpSpPr>
        <p:grpSpPr>
          <a:xfrm>
            <a:off x="1200150" y="2915093"/>
            <a:ext cx="1185000" cy="798300"/>
            <a:chOff x="1200150" y="2915093"/>
            <a:chExt cx="1185000" cy="798300"/>
          </a:xfrm>
        </p:grpSpPr>
        <p:sp>
          <p:nvSpPr>
            <p:cNvPr id="137" name="Google Shape;137;p6"/>
            <p:cNvSpPr/>
            <p:nvPr/>
          </p:nvSpPr>
          <p:spPr>
            <a:xfrm>
              <a:off x="1200150" y="2915093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392062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OpenAI Agents SDK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6"/>
          <p:cNvGrpSpPr/>
          <p:nvPr/>
        </p:nvGrpSpPr>
        <p:grpSpPr>
          <a:xfrm>
            <a:off x="1200150" y="1524000"/>
            <a:ext cx="1839600" cy="801000"/>
            <a:chOff x="1200150" y="1524000"/>
            <a:chExt cx="1839600" cy="801000"/>
          </a:xfrm>
        </p:grpSpPr>
        <p:sp>
          <p:nvSpPr>
            <p:cNvPr id="140" name="Google Shape;140;p6"/>
            <p:cNvSpPr/>
            <p:nvPr/>
          </p:nvSpPr>
          <p:spPr>
            <a:xfrm>
              <a:off x="1200150" y="1524000"/>
              <a:ext cx="1839600" cy="801000"/>
            </a:xfrm>
            <a:prstGeom prst="rect">
              <a:avLst/>
            </a:prstGeom>
            <a:solidFill>
              <a:srgbClr val="FF780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1343025" y="1828682"/>
              <a:ext cx="1553700" cy="199800"/>
            </a:xfrm>
            <a:prstGeom prst="rect">
              <a:avLst/>
            </a:prstGeom>
            <a:solidFill>
              <a:srgbClr val="FF78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CrewAI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6"/>
          <p:cNvGrpSpPr/>
          <p:nvPr/>
        </p:nvGrpSpPr>
        <p:grpSpPr>
          <a:xfrm>
            <a:off x="3371849" y="1524000"/>
            <a:ext cx="1839600" cy="801000"/>
            <a:chOff x="3371849" y="1524000"/>
            <a:chExt cx="1839600" cy="801000"/>
          </a:xfrm>
        </p:grpSpPr>
        <p:sp>
          <p:nvSpPr>
            <p:cNvPr id="143" name="Google Shape;143;p6"/>
            <p:cNvSpPr/>
            <p:nvPr/>
          </p:nvSpPr>
          <p:spPr>
            <a:xfrm>
              <a:off x="3371849" y="1524000"/>
              <a:ext cx="1839600" cy="801000"/>
            </a:xfrm>
            <a:prstGeom prst="rect">
              <a:avLst/>
            </a:prstGeom>
            <a:solidFill>
              <a:srgbClr val="FF78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514725" y="1828682"/>
              <a:ext cx="1553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FFFFFF"/>
                  </a:solidFill>
                </a:rPr>
                <a:t>LangGraph / LangChain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6"/>
          <p:cNvGrpSpPr/>
          <p:nvPr/>
        </p:nvGrpSpPr>
        <p:grpSpPr>
          <a:xfrm>
            <a:off x="2635050" y="2912250"/>
            <a:ext cx="1185000" cy="798300"/>
            <a:chOff x="2635050" y="2912250"/>
            <a:chExt cx="1185000" cy="798300"/>
          </a:xfrm>
        </p:grpSpPr>
        <p:sp>
          <p:nvSpPr>
            <p:cNvPr id="146" name="Google Shape;146;p6"/>
            <p:cNvSpPr/>
            <p:nvPr/>
          </p:nvSpPr>
          <p:spPr>
            <a:xfrm>
              <a:off x="26350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8111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Google</a:t>
              </a:r>
              <a:br>
                <a:rPr lang="en-US" sz="1550">
                  <a:solidFill>
                    <a:srgbClr val="FFFFFF"/>
                  </a:solidFill>
                </a:rPr>
              </a:br>
              <a:r>
                <a:rPr lang="en-US" sz="1550">
                  <a:solidFill>
                    <a:srgbClr val="FFFFFF"/>
                  </a:solidFill>
                </a:rPr>
                <a:t>ADK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6"/>
          <p:cNvGrpSpPr/>
          <p:nvPr/>
        </p:nvGrpSpPr>
        <p:grpSpPr>
          <a:xfrm>
            <a:off x="4006650" y="2912250"/>
            <a:ext cx="1185000" cy="798300"/>
            <a:chOff x="4006650" y="2912250"/>
            <a:chExt cx="1185000" cy="798300"/>
          </a:xfrm>
        </p:grpSpPr>
        <p:sp>
          <p:nvSpPr>
            <p:cNvPr id="149" name="Google Shape;149;p6"/>
            <p:cNvSpPr/>
            <p:nvPr/>
          </p:nvSpPr>
          <p:spPr>
            <a:xfrm>
              <a:off x="4006650" y="2912250"/>
              <a:ext cx="1185000" cy="7983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4182731" y="3203648"/>
              <a:ext cx="809700" cy="1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>
                  <a:solidFill>
                    <a:srgbClr val="FFFFFF"/>
                  </a:solidFill>
                </a:rPr>
                <a:t>AWS Strands Agents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has several offerings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7"/>
          <p:cNvGrpSpPr/>
          <p:nvPr/>
        </p:nvGrpSpPr>
        <p:grpSpPr>
          <a:xfrm>
            <a:off x="895350" y="3376017"/>
            <a:ext cx="3833400" cy="919164"/>
            <a:chOff x="895350" y="3376017"/>
            <a:chExt cx="3833400" cy="919164"/>
          </a:xfrm>
        </p:grpSpPr>
        <p:sp>
          <p:nvSpPr>
            <p:cNvPr id="158" name="Google Shape;158;p7"/>
            <p:cNvSpPr/>
            <p:nvPr/>
          </p:nvSpPr>
          <p:spPr>
            <a:xfrm>
              <a:off x="895350" y="3376017"/>
              <a:ext cx="3833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BFFF"/>
                  </a:solidFill>
                  <a:latin typeface="Arial"/>
                  <a:ea typeface="Arial"/>
                  <a:cs typeface="Arial"/>
                  <a:sym typeface="Arial"/>
                </a:rPr>
                <a:t>CrewAI UI Studio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95350" y="3742581"/>
              <a:ext cx="3833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no-code / low-code product for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creating multi-agent solutions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7"/>
          <p:cNvGrpSpPr/>
          <p:nvPr/>
        </p:nvGrpSpPr>
        <p:grpSpPr>
          <a:xfrm>
            <a:off x="895350" y="4952622"/>
            <a:ext cx="4878600" cy="971334"/>
            <a:chOff x="895350" y="4952622"/>
            <a:chExt cx="4878600" cy="971334"/>
          </a:xfrm>
        </p:grpSpPr>
        <p:sp>
          <p:nvSpPr>
            <p:cNvPr id="161" name="Google Shape;161;p7"/>
            <p:cNvSpPr/>
            <p:nvPr/>
          </p:nvSpPr>
          <p:spPr>
            <a:xfrm>
              <a:off x="895350" y="4952622"/>
              <a:ext cx="48786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7800"/>
                  </a:solidFill>
                  <a:latin typeface="Arial"/>
                  <a:ea typeface="Arial"/>
                  <a:cs typeface="Arial"/>
                  <a:sym typeface="Arial"/>
                </a:rPr>
                <a:t>CrewAI open-source framework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895350" y="5371356"/>
              <a:ext cx="3833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"Orchestrate high performing AI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 with ease and scale"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895350" y="1747242"/>
            <a:ext cx="3951900" cy="919164"/>
            <a:chOff x="895350" y="1747242"/>
            <a:chExt cx="3951900" cy="919164"/>
          </a:xfrm>
        </p:grpSpPr>
        <p:sp>
          <p:nvSpPr>
            <p:cNvPr id="164" name="Google Shape;164;p7"/>
            <p:cNvSpPr/>
            <p:nvPr/>
          </p:nvSpPr>
          <p:spPr>
            <a:xfrm>
              <a:off x="895350" y="1747242"/>
              <a:ext cx="3833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>
                  <a:solidFill>
                    <a:srgbClr val="FFD700"/>
                  </a:solidFill>
                </a:rPr>
                <a:t>CrewAI AMP / Enterprise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0">
                <a:solidFill>
                  <a:srgbClr val="FFD700"/>
                </a:solidFill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895350" y="2113806"/>
              <a:ext cx="3951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 multi-agent platform for deploying,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running and monitoring Agentic AI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has several offerings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6046" y="4731022"/>
            <a:ext cx="4405200" cy="1577400"/>
          </a:xfrm>
          <a:prstGeom prst="rect">
            <a:avLst/>
          </a:prstGeom>
          <a:noFill/>
          <a:ln cap="flat" cmpd="sng" w="508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95350" y="1747242"/>
            <a:ext cx="3833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250">
                <a:solidFill>
                  <a:srgbClr val="FFD700"/>
                </a:solidFill>
              </a:rPr>
              <a:t>CrewAI AMP / Enterprise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FFD700"/>
              </a:solidFill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95350" y="2113806"/>
            <a:ext cx="3951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 multi-agent platform for deploying,</a:t>
            </a:r>
            <a:b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running and monitoring Agentic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95350" y="3376017"/>
            <a:ext cx="3833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BFFF"/>
                </a:solidFill>
                <a:latin typeface="Arial"/>
                <a:ea typeface="Arial"/>
                <a:cs typeface="Arial"/>
                <a:sym typeface="Arial"/>
              </a:rPr>
              <a:t>CrewAI UI 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95350" y="3742581"/>
            <a:ext cx="3833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 no-code / low-code product for</a:t>
            </a:r>
            <a:b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creating multi-agent solutions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95350" y="4952622"/>
            <a:ext cx="4878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CrewAI open-source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95350" y="5371356"/>
            <a:ext cx="3833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"Orchestrate high performing AI</a:t>
            </a:r>
            <a:b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agents with ease and scale"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framework comes in two flavors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9"/>
          <p:cNvGrpSpPr/>
          <p:nvPr/>
        </p:nvGrpSpPr>
        <p:grpSpPr>
          <a:xfrm>
            <a:off x="895350" y="4357092"/>
            <a:ext cx="4534800" cy="1890846"/>
            <a:chOff x="895350" y="4357092"/>
            <a:chExt cx="4534800" cy="1890846"/>
          </a:xfrm>
        </p:grpSpPr>
        <p:sp>
          <p:nvSpPr>
            <p:cNvPr id="186" name="Google Shape;186;p9"/>
            <p:cNvSpPr/>
            <p:nvPr/>
          </p:nvSpPr>
          <p:spPr>
            <a:xfrm>
              <a:off x="895350" y="4357092"/>
              <a:ext cx="38334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BFFF"/>
                  </a:solidFill>
                  <a:latin typeface="Arial"/>
                  <a:ea typeface="Arial"/>
                  <a:cs typeface="Arial"/>
                  <a:sym typeface="Arial"/>
                </a:rPr>
                <a:t>CrewAI Flows: the backbo</a:t>
              </a:r>
              <a:r>
                <a:rPr lang="en-US" sz="2250">
                  <a:solidFill>
                    <a:srgbClr val="00BFFF"/>
                  </a:solidFill>
                </a:rPr>
                <a:t>ne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895350" y="4723656"/>
              <a:ext cx="3997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Structured automations by dividing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complex tasks into precise workflows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895350" y="5516538"/>
              <a:ext cx="45348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Think of a Flow as the “manager” or the “process definition” of your application. It defines the steps, the logic, and how data moves through your system.</a:t>
              </a:r>
              <a:endParaRPr i="1" sz="18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895350" y="1804401"/>
            <a:ext cx="4082400" cy="1859560"/>
            <a:chOff x="895350" y="1804401"/>
            <a:chExt cx="4082400" cy="1859560"/>
          </a:xfrm>
        </p:grpSpPr>
        <p:sp>
          <p:nvSpPr>
            <p:cNvPr id="190" name="Google Shape;190;p9"/>
            <p:cNvSpPr/>
            <p:nvPr/>
          </p:nvSpPr>
          <p:spPr>
            <a:xfrm>
              <a:off x="895350" y="1804401"/>
              <a:ext cx="40824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D700"/>
                  </a:solidFill>
                  <a:latin typeface="Arial"/>
                  <a:ea typeface="Arial"/>
                  <a:cs typeface="Arial"/>
                  <a:sym typeface="Arial"/>
                </a:rPr>
                <a:t>CrewAI Crews: the intelligence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895350" y="2170956"/>
              <a:ext cx="3917846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Autonomous solutions with AI teams</a:t>
              </a:r>
              <a:b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53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of Agents with different roles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895350" y="2932561"/>
              <a:ext cx="40824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Crews are the “teams” that do the heavy lifting. You can trigger a Crew to tackle a complex problem requiring creativity and collaboration.</a:t>
              </a:r>
              <a:endParaRPr b="0" i="1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Core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57225" y="1744638"/>
            <a:ext cx="3980451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: an autonomous unit, with an LLM, a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role, a goal, a backstory, memory,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57225" y="2568550"/>
            <a:ext cx="4195058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Task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: a specific assignment to be carried out,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with a description, expected output, 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57225" y="3392463"/>
            <a:ext cx="43363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Crew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: a team of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Tasks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; either: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Sequential: run tasks in order they are defined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Hierarchical: use a Manager LLM to assign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57225" y="4878363"/>
            <a:ext cx="4302696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Lightweight, but somewhat more opinionated</a:t>
            </a:r>
            <a:b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than OpenAI Agents SDK - more terminology,</a:t>
            </a:r>
            <a:b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1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marginally more prescriptive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57225" y="5971513"/>
            <a:ext cx="43026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..and with an ability to get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much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more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prescriptive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0"/>
          <p:cNvCxnSpPr/>
          <p:nvPr/>
        </p:nvCxnSpPr>
        <p:spPr>
          <a:xfrm>
            <a:off x="657225" y="4495800"/>
            <a:ext cx="3871405" cy="0"/>
          </a:xfrm>
          <a:prstGeom prst="straightConnector1">
            <a:avLst/>
          </a:prstGeom>
          <a:noFill/>
          <a:ln cap="flat" cmpd="sng" w="381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YAML Configuration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57225" y="1401750"/>
            <a:ext cx="5565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Agents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Tasks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can be created by code,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setting the backstory, description, expected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output, etc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57225" y="2303450"/>
            <a:ext cx="5193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Or you can define each in a YAML file that's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provided when you create the 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project: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71500" y="3022550"/>
            <a:ext cx="5787300" cy="2438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researcher: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role: &gt;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Senior Financial Researcher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goal: &gt;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Research companies, news and potential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backstory: &gt;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You're a seasoned financial researcher with a talent for finding the most relevant information.</a:t>
            </a:r>
            <a:b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llm: openai/gpt-</a:t>
            </a:r>
            <a:r>
              <a:rPr b="1" lang="en-US" sz="1200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5.4-mini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71500" y="5743575"/>
            <a:ext cx="5787300" cy="609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agent = Agent(config=self.agents_config[</a:t>
            </a:r>
            <a:r>
              <a:rPr b="1" i="0" lang="en-US" sz="12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'researcher'</a:t>
            </a:r>
            <a:r>
              <a:rPr b="1" i="0" lang="en-US" sz="12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])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71500" y="1306488"/>
            <a:ext cx="485901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It all comes together with a </a:t>
            </a: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Crew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definition: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66725" y="1719300"/>
            <a:ext cx="5436600" cy="4939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c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lass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B58900"/>
                </a:solidFill>
                <a:latin typeface="Courier"/>
                <a:ea typeface="Courier"/>
                <a:cs typeface="Courier"/>
                <a:sym typeface="Courier"/>
              </a:rPr>
              <a:t>MyCrew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():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  <a:t>    @agent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my_agent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(self) -&gt; Agent: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Agent(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config=self.agents_config[</a:t>
            </a:r>
            <a:r>
              <a:rPr b="1" i="0" lang="en-US" sz="11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'my_agent'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])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  <a:t>    @task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my_task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(self) -&gt; Task: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Task(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config=self.tasks_config[</a:t>
            </a:r>
            <a:r>
              <a:rPr b="1" i="0" lang="en-US" sz="1100" u="none" cap="none" strike="noStrike">
                <a:solidFill>
                  <a:srgbClr val="2AA198"/>
                </a:solidFill>
                <a:latin typeface="Courier"/>
                <a:ea typeface="Courier"/>
                <a:cs typeface="Courier"/>
                <a:sym typeface="Courier"/>
              </a:rPr>
              <a:t>'my_task'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])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CB4B16"/>
                </a:solidFill>
                <a:latin typeface="Courier"/>
                <a:ea typeface="Courier"/>
                <a:cs typeface="Courier"/>
                <a:sym typeface="Courier"/>
              </a:rPr>
              <a:t>    @crew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def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n-US" sz="1100" u="none" cap="none" strike="noStrike">
                <a:solidFill>
                  <a:srgbClr val="268BD2"/>
                </a:solidFill>
                <a:latin typeface="Courier"/>
                <a:ea typeface="Courier"/>
                <a:cs typeface="Courier"/>
                <a:sym typeface="Courier"/>
              </a:rPr>
              <a:t>crew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(self) -&gt; Crew: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b="1" i="0" lang="en-US" sz="1100" u="none" cap="none" strike="noStrike">
                <a:solidFill>
                  <a:srgbClr val="859900"/>
                </a:solidFill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Crew(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agents=self.agents,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tasks=self.tasks,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    process=Process.sequential</a:t>
            </a:r>
            <a:b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b="1" i="0" lang="en-US" sz="1100" u="none" cap="none" strike="noStrike">
                <a:solidFill>
                  <a:srgbClr val="657B83"/>
                </a:solidFill>
                <a:latin typeface="Courier"/>
                <a:ea typeface="Courier"/>
                <a:cs typeface="Courier"/>
                <a:sym typeface="Courier"/>
              </a:rPr>
              <a:t>        )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Using other providers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57225" y="1401751"/>
            <a:ext cx="5565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uses the simple </a:t>
            </a:r>
            <a:r>
              <a:rPr b="1" i="0" lang="en-US" sz="16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LiteLLM</a:t>
            </a:r>
            <a: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under the hood to</a:t>
            </a:r>
            <a:b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interface with almost any LLM; set keys in .env file.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57225" y="2477049"/>
            <a:ext cx="53088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See Guide 9 in the Guides folder for more</a:t>
            </a:r>
            <a:endParaRPr b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57225" y="3307038"/>
            <a:ext cx="53088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Subtle gotchas: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Slab"/>
              <a:buAutoNum type="arabicPeriod"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Google key must be </a:t>
            </a:r>
            <a:r>
              <a:rPr b="1" lang="en-US"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GEMINI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_API_KEY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Slab"/>
              <a:buAutoNum type="arabicPeriod"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Sometimes crewai creates a new .env file that can override course .env file. If so, delete the new one.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0200" lvl="0" marL="45720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Slab"/>
              <a:buAutoNum type="arabicPeriod"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calls </a:t>
            </a:r>
            <a:r>
              <a:rPr lang="en-US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load_dotenv()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not </a:t>
            </a:r>
            <a:r>
              <a:rPr lang="en-US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load_dotenv(override=True)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that means system level env variables take priority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Getting set 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4"/>
          <p:cNvGrpSpPr/>
          <p:nvPr/>
        </p:nvGrpSpPr>
        <p:grpSpPr>
          <a:xfrm>
            <a:off x="495300" y="1525675"/>
            <a:ext cx="5731800" cy="1032851"/>
            <a:chOff x="495300" y="1525675"/>
            <a:chExt cx="5731800" cy="1032851"/>
          </a:xfrm>
        </p:grpSpPr>
        <p:sp>
          <p:nvSpPr>
            <p:cNvPr id="239" name="Google Shape;239;p14"/>
            <p:cNvSpPr/>
            <p:nvPr/>
          </p:nvSpPr>
          <p:spPr>
            <a:xfrm>
              <a:off x="495300" y="2012226"/>
              <a:ext cx="5565900" cy="5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Review 3_crewai/</a:t>
              </a:r>
              <a:r>
                <a:rPr lang="en-US" sz="1600" u="sng">
                  <a:solidFill>
                    <a:schemeClr val="hlink"/>
                  </a:solidFill>
                  <a:latin typeface="Roboto Slab"/>
                  <a:ea typeface="Roboto Slab"/>
                  <a:cs typeface="Roboto Slab"/>
                  <a:sym typeface="Roboto Slab"/>
                  <a:hlinkClick r:id="rId3"/>
                </a:rPr>
                <a:t>README.md</a:t>
              </a: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for more</a:t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Windows users: be sure to have installed the MS Build Tools per initial setup instructions otherwise you’ll get a complex error involving chroma</a:t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95300" y="1525675"/>
              <a:ext cx="57318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600">
                  <a:solidFill>
                    <a:srgbClr val="00BFFF"/>
                  </a:solidFill>
                  <a:highlight>
                    <a:srgbClr val="181818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uv tool install crewai==1.14.4</a:t>
              </a:r>
              <a:endParaRPr b="1" sz="1600">
                <a:solidFill>
                  <a:srgbClr val="00BFFF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241" name="Google Shape;241;p14"/>
          <p:cNvGrpSpPr/>
          <p:nvPr/>
        </p:nvGrpSpPr>
        <p:grpSpPr>
          <a:xfrm>
            <a:off x="495300" y="3585703"/>
            <a:ext cx="5731800" cy="646581"/>
            <a:chOff x="495300" y="3585703"/>
            <a:chExt cx="5731800" cy="646581"/>
          </a:xfrm>
        </p:grpSpPr>
        <p:sp>
          <p:nvSpPr>
            <p:cNvPr id="242" name="Google Shape;242;p14"/>
            <p:cNvSpPr/>
            <p:nvPr/>
          </p:nvSpPr>
          <p:spPr>
            <a:xfrm>
              <a:off x="495300" y="3585703"/>
              <a:ext cx="5565900" cy="5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 equip your Coding Agent with knowledge to help you: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5300" y="3988383"/>
              <a:ext cx="57318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en-US" sz="1600">
                  <a:solidFill>
                    <a:srgbClr val="FFD700"/>
                  </a:solidFill>
                  <a:highlight>
                    <a:srgbClr val="181818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npx skills add crewaiinc/skills</a:t>
              </a:r>
              <a:endParaRPr b="1" sz="1600">
                <a:solidFill>
                  <a:srgbClr val="FFD700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t/>
              </a:r>
              <a:endParaRPr b="1" sz="1600">
                <a:solidFill>
                  <a:srgbClr val="E394DC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sp>
        <p:nvSpPr>
          <p:cNvPr id="244" name="Google Shape;244;p14"/>
          <p:cNvSpPr/>
          <p:nvPr/>
        </p:nvSpPr>
        <p:spPr>
          <a:xfrm>
            <a:off x="495300" y="4690153"/>
            <a:ext cx="5565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How I recommend we work together: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agents/3_crewai/reference/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will contain all my projects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agents/3_crewai/coursework/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for your implementations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Roboto Slab"/>
                <a:ea typeface="Roboto Slab"/>
                <a:cs typeface="Roboto Slab"/>
                <a:sym typeface="Roboto Slab"/>
              </a:rPr>
              <a:t>agents/3_crewai/community_contributions/</a:t>
            </a: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for PRs</a:t>
            </a:r>
            <a:endParaRPr sz="16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CrewAI projects are UV projects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90550" y="1516038"/>
            <a:ext cx="52434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Create a new project with: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666750" y="2811438"/>
            <a:ext cx="45054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This creates an entire directory structure: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my_crew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src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my_crew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config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    agents.yaml</a:t>
            </a:r>
            <a:br>
              <a:rPr b="0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    tasks.yaml</a:t>
            </a:r>
            <a:br>
              <a:rPr b="0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crew.py</a:t>
            </a:r>
            <a:b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            main.py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81028" y="1885950"/>
            <a:ext cx="5325300" cy="609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7800"/>
                </a:solidFill>
                <a:latin typeface="Courier"/>
                <a:ea typeface="Courier"/>
                <a:cs typeface="Courier"/>
                <a:sym typeface="Courier"/>
              </a:rPr>
              <a:t>crewai create crew </a:t>
            </a:r>
            <a:r>
              <a:rPr b="1" lang="en-US" sz="2000">
                <a:solidFill>
                  <a:srgbClr val="FF7800"/>
                </a:solidFill>
                <a:latin typeface="Courier"/>
                <a:ea typeface="Courier"/>
                <a:cs typeface="Courier"/>
                <a:sym typeface="Courier"/>
              </a:rPr>
              <a:t>[project_name]</a:t>
            </a:r>
            <a:endParaRPr b="1" i="0" sz="2600" u="none" cap="none" strike="noStrike">
              <a:solidFill>
                <a:srgbClr val="FF78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15"/>
          <p:cNvGrpSpPr/>
          <p:nvPr/>
        </p:nvGrpSpPr>
        <p:grpSpPr>
          <a:xfrm>
            <a:off x="657222" y="5554638"/>
            <a:ext cx="5325300" cy="931887"/>
            <a:chOff x="657222" y="5554638"/>
            <a:chExt cx="5325300" cy="931887"/>
          </a:xfrm>
        </p:grpSpPr>
        <p:sp>
          <p:nvSpPr>
            <p:cNvPr id="255" name="Google Shape;255;p15"/>
            <p:cNvSpPr/>
            <p:nvPr/>
          </p:nvSpPr>
          <p:spPr>
            <a:xfrm>
              <a:off x="657225" y="5554638"/>
              <a:ext cx="45054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57222" y="5876925"/>
              <a:ext cx="5325300" cy="6096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11A9E2"/>
                  </a:solidFill>
                  <a:latin typeface="Courier"/>
                  <a:ea typeface="Courier"/>
                  <a:cs typeface="Courier"/>
                  <a:sym typeface="Courier"/>
                </a:rPr>
                <a:t>crewai run</a:t>
              </a:r>
              <a:endParaRPr b="1" i="0" sz="2000" u="none" cap="none" strike="noStrike">
                <a:solidFill>
                  <a:srgbClr val="11A9E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/>
          <p:nvPr/>
        </p:nvSpPr>
        <p:spPr>
          <a:xfrm>
            <a:off x="257180" y="5695950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257180" y="2466975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257180" y="4619625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257180" y="3543300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257180" y="314325"/>
            <a:ext cx="5936914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2676528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2676528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266700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2676528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2676528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819515" y="6010275"/>
            <a:ext cx="1002995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819515" y="2781300"/>
            <a:ext cx="1002995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3819515" y="4933950"/>
            <a:ext cx="1002995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3819515" y="3857625"/>
            <a:ext cx="1002995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3819515" y="628650"/>
            <a:ext cx="1002995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953000" y="6010275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4953000" y="278130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4953000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4953000" y="3857625"/>
            <a:ext cx="100296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953000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16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323" name="Google Shape;323;p16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42" name="Google Shape;3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